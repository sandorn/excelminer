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1382" r:id="rId3"/>
    <p:sldId id="1383" r:id="rId5"/>
    <p:sldId id="1384" r:id="rId6"/>
    <p:sldId id="1385" r:id="rId7"/>
    <p:sldId id="1386" r:id="rId8"/>
    <p:sldId id="1387" r:id="rId9"/>
    <p:sldId id="1388" r:id="rId10"/>
    <p:sldId id="1389" r:id="rId11"/>
    <p:sldId id="1390" r:id="rId12"/>
    <p:sldId id="1391" r:id="rId13"/>
    <p:sldId id="1392" r:id="rId14"/>
    <p:sldId id="1393" r:id="rId15"/>
    <p:sldId id="1394" r:id="rId16"/>
    <p:sldId id="1395" r:id="rId17"/>
    <p:sldId id="1396" r:id="rId18"/>
    <p:sldId id="1397" r:id="rId19"/>
    <p:sldId id="1398" r:id="rId20"/>
    <p:sldId id="1399" r:id="rId21"/>
    <p:sldId id="1400" r:id="rId22"/>
    <p:sldId id="1401" r:id="rId23"/>
    <p:sldId id="1402" r:id="rId24"/>
    <p:sldId id="1403" r:id="rId25"/>
    <p:sldId id="1404" r:id="rId26"/>
    <p:sldId id="1405" r:id="rId27"/>
    <p:sldId id="1406" r:id="rId28"/>
    <p:sldId id="1407" r:id="rId29"/>
  </p:sldIdLst>
  <p:sldSz cx="12192000" cy="6858000"/>
  <p:notesSz cx="6858000" cy="9144000"/>
  <p:custDataLst>
    <p:tags r:id="rId35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FF734E"/>
          </p15:clr>
        </p15:guide>
        <p15:guide id="2" pos="3824" userDrawn="1">
          <p15:clr>
            <a:srgbClr val="FF734E"/>
          </p15:clr>
        </p15:guide>
        <p15:guide id="3" pos="7226" userDrawn="1">
          <p15:clr>
            <a:srgbClr val="FF734E"/>
          </p15:clr>
        </p15:guide>
        <p15:guide id="4" pos="440" userDrawn="1">
          <p15:clr>
            <a:srgbClr val="FF734E"/>
          </p15:clr>
        </p15:guide>
      </p15:sldGuideLst>
    </p:ext>
    <p:ext uri="{9B23C45E-6A9E-2F80-7F98-0CE583877B2C}">
      <wppc:sldGuideLockLst xmlns:wppc="http://www.wps.cn/officeDocument/PresentationCustomData">
        <wppc:guide id="1"/>
        <wppc:guide id="2"/>
        <wppc:guide id="3"/>
        <wppc:guide id="4"/>
      </wppc:sldGuideLock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, Stanley CN ." initials="SSC." lastIdx="0" clrIdx="0"/>
  <p:cmAuthor id="2" name="孔 融" initials="孔" lastIdx="0" clrIdx="1"/>
  <p:cmAuthor id="3" name="作者" initials="A" lastIdx="0" clrIdx="2"/>
  <p:cmAuthor id="4" name="未知用户1" initials="未知用户1" lastIdx="0" clrIdx="3"/>
  <p:cmAuthor id="5" name="li shi" initials="ls" lastIdx="0" clrIdx="4"/>
  <p:cmAuthor id="6" name="Windows 用户" initials="W用" lastIdx="0" clrIdx="5"/>
  <p:cmAuthor id="7" name="李鸣镝" initials="李鸣镝" lastIdx="0" clrIdx="6"/>
  <p:cmAuthor id="8" name="东东 东东" initials="东东" lastIdx="0" clrIdx="7"/>
  <p:cmAuthor id="9" name="峰 高" initials="峰" lastIdx="0" clrIdx="8"/>
  <p:cmAuthor id="10" name="yang" initials="y" lastIdx="0" clrIdx="9"/>
  <p:cmAuthor id="11" name=" " initials=" " lastIdx="0" clrIdx="11"/>
  <p:cmAuthor id="12" name="shirley李" initials="s" lastIdx="0" clrIdx="12"/>
  <p:cmAuthor id="13" name="jolin" initials="j" lastIdx="0" clrIdx="13"/>
  <p:cmAuthor id="14" name="李 静怡" initials="李" lastIdx="0" clrIdx="14"/>
  <p:cmAuthor id="15" name="admin" initials="a" lastIdx="0" clrIdx="16"/>
  <p:cmAuthor id="16" name="孙 伟" initials="孙" lastIdx="0" clrIdx="17"/>
  <p:cmAuthor id="17" name="panwenfei" initials="p" lastIdx="0" clrIdx="18"/>
  <p:cmAuthor id="18" name="伊娃" initials="伊" lastIdx="0" clrIdx="19"/>
  <p:cmAuthor id="19" name="Lenovo" initials="L" lastIdx="0" clrIdx="20"/>
  <p:cmAuthor id="20" name="zhang" initials="z" lastIdx="0" clrIdx="21"/>
  <p:cmAuthor id="21" name="hp" initials="h" lastIdx="0" clrIdx="22"/>
  <p:cmAuthor id="22" name="Sunac" initials="S" lastIdx="0" clrIdx="23"/>
  <p:cmAuthor id="23" name="qianxy12" initials="q" lastIdx="0" clrIdx="24"/>
  <p:cmAuthor id="24" name="12523" initials="1" lastIdx="0" clrIdx="25"/>
  <p:cmAuthor id="25" name="嗯嗯" initials="嗯" lastIdx="0" clrIdx="26"/>
  <p:cmAuthor id="26" name="柠乐" initials="柠" lastIdx="0" clrIdx="27"/>
  <p:cmAuthor id="27" name="晓辉 李" initials="晓辉" lastIdx="0" clrIdx="28"/>
  <p:cmAuthor id="28" name="陈先生" initials="陈" lastIdx="0" clrIdx="29"/>
  <p:cmAuthor id="29" name="彭 娟" initials="彭" lastIdx="0" clrIdx="30"/>
  <p:cmAuthor id="30" name="Tangyimin" initials="T" lastIdx="0" clrIdx="31"/>
  <p:cmAuthor id="31" name="ni momo" initials="nm" lastIdx="0" clrIdx="32"/>
  <p:cmAuthor id="32" name="天城阳" initials="天" lastIdx="0" clrIdx="33"/>
  <p:cmAuthor id="33" name="王 秋月" initials="王" lastIdx="0" clrIdx="34"/>
  <p:cmAuthor id="34" name="Y" initials="Y" lastIdx="0" clrIdx="35"/>
  <p:cmAuthor id="35" name="玫麟 李" initials="玫麟" lastIdx="0" clrIdx="36"/>
  <p:cmAuthor id="36" name="预订" initials="预" lastIdx="0" clrIdx="37"/>
  <p:cmAuthor id="37" name="vivi" initials="v" lastIdx="0" clrIdx="38"/>
  <p:cmAuthor id="38" name="ChillLynn" initials="C" lastIdx="0" clrIdx="39"/>
  <p:cmAuthor id="39" name="xiao'dan" initials="x" lastIdx="0" clrIdx="41"/>
  <p:cmAuthor id="40" name="luya" initials="l" lastIdx="0" clrIdx="42"/>
  <p:cmAuthor id="41" name="w" initials="w" lastIdx="0" clrIdx="43"/>
  <p:cmAuthor id="42" name="feifeiyao" initials="f" lastIdx="0" clrIdx="44"/>
  <p:cmAuthor id="43" name="HWANMEI" initials="H" lastIdx="0" clrIdx="45"/>
  <p:cmAuthor id="44" name="MAC" initials="M" lastIdx="0" clrIdx="46"/>
  <p:cmAuthor id="45" name="Zzfjyw" initials="Z" lastIdx="0" clrIdx="48"/>
  <p:cmAuthor id="48" name="预订中心" initials="预" lastIdx="0" clrIdx="47"/>
  <p:cmAuthor id="49" name="PPTer_Tang" initials="z" lastIdx="0" clrIdx="48"/>
  <p:cmAuthor id="50" name="Tyler" initials="authorId_218072911" lastIdx="1" clrIdx="49"/>
  <p:cmAuthor id="51" name="Han, Yinan" initials="HY" lastIdx="0" clrIdx="50"/>
  <p:cmAuthor id="52" name="Zhiyan.Wu" initials="Z" lastIdx="0" clrIdx="51"/>
  <p:cmAuthor id="53" name="张逸晨" initials="张" lastIdx="0" clrIdx="52"/>
  <p:cmAuthor id="54" name="qdrenyx" initials="q" lastIdx="0" clrIdx="53"/>
  <p:cmAuthor id="55" name="liwenjie" initials="l" lastIdx="0" clrIdx="54"/>
  <p:cmAuthor id="56" name="li kunjie" initials="l" lastIdx="0" clrIdx="55"/>
  <p:cmAuthor id="57" name="clic" initials="c" lastIdx="0" clrIdx="56"/>
  <p:cmAuthor id="58" name="ASUS" initials="A" lastIdx="0" clrIdx="57"/>
  <p:cmAuthor id="59" name="viola_yang" initials="v" lastIdx="0" clrIdx="58"/>
  <p:cmAuthor id="60" name="wangweenie" initials="w" lastIdx="0" clrIdx="59"/>
  <p:cmAuthor id="61" name="chivas d" initials="c" lastIdx="0" clrIdx="60"/>
  <p:cmAuthor id="62" name="谢 小小" initials="谢" lastIdx="0" clrIdx="61"/>
  <p:cmAuthor id="63" name="微软用户" initials="微" lastIdx="0" clrIdx="62"/>
  <p:cmAuthor id="64" name="win11" initials="w" lastIdx="0" clrIdx="63"/>
  <p:cmAuthor id="65" name="kingsoft" initials="k" lastIdx="0" clrIdx="64"/>
  <p:cmAuthor id="66" name="张蓝茜" initials="张" lastIdx="0" clrIdx="65"/>
  <p:cmAuthor id="67" name="未知用户5" initials="未" lastIdx="0" clrIdx="66"/>
  <p:cmAuthor id="68" name="未知用户4" initials="未" lastIdx="0" clrIdx="67"/>
  <p:cmAuthor id="69" name="Admin" initials="A" lastIdx="0" clrIdx="68"/>
  <p:cmAuthor id="70" name="朱光耀" initials="朱" lastIdx="0" clrIdx="69"/>
  <p:cmAuthor id="71" name="Picc" initials="P" lastIdx="0" clrIdx="70"/>
  <p:cmAuthor id="72" name="CommUser" initials="C" lastIdx="0" clrIdx="71"/>
  <p:cmAuthor id="73" name="孙现民" initials="孙" lastIdx="0" clrIdx="72"/>
  <p:cmAuthor id="74" name="董苗苗" initials="董" lastIdx="0" clrIdx="73"/>
  <p:cmAuthor id="75" name="lenovo" initials="l" lastIdx="0" clrIdx="74"/>
  <p:cmAuthor id="76" name="王 平坚" initials="王" lastIdx="0" clrIdx="75"/>
  <p:cmAuthor id="77" name="ansen emma" initials="a" lastIdx="0" clrIdx="76"/>
  <p:cmAuthor id="78" name="WHTP" initials="W" lastIdx="0" clrIdx="77"/>
  <p:cmAuthor id="79" name="郭成报" initials="郭" lastIdx="0" clrIdx="78"/>
  <p:cmAuthor id="80" name="韦三省" initials="韦" lastIdx="0" clrIdx="79"/>
  <p:cmAuthor id="81" name="未知用户6" initials="未" lastIdx="0" clrIdx="80"/>
  <p:cmAuthor id="82" name="余潇迎" initials="余" lastIdx="0" clrIdx="81"/>
  <p:cmAuthor id="83" name="陈 橙橙" initials="陈" lastIdx="0" clrIdx="82"/>
  <p:cmAuthor id="84" name="HP" initials="H" lastIdx="0" clrIdx="83"/>
  <p:cmAuthor id="85" name="User" initials="U" lastIdx="0" clrIdx="84"/>
  <p:cmAuthor id="86" name="启浩" initials="启" lastIdx="0" clrIdx="85"/>
  <p:cmAuthor id="87" name="袨?嗴?傤?" initials="袨" lastIdx="0" clrIdx="86"/>
  <p:cmAuthor id="88" name="李旭兰" initials="李" lastIdx="0" clrIdx="87"/>
  <p:cmAuthor id="89" name="AutoBVT" initials="A" lastIdx="0" clrIdx="88"/>
  <p:cmAuthor id="90" name="季玉洁" initials="季" lastIdx="0" clrIdx="89"/>
  <p:cmAuthor id="91" name="??" initials="?" lastIdx="0" clrIdx="90"/>
  <p:cmAuthor id="92" name="catlaohu" initials="c" lastIdx="0" clrIdx="91"/>
  <p:cmAuthor id="93" name="ZYM" initials="Z" lastIdx="0" clrIdx="92"/>
  <p:cmAuthor id="94" name="hy-tkyl" initials="h" lastIdx="0" clrIdx="93"/>
  <p:cmAuthor id="95" name="吕 阔" initials="吕" lastIdx="0" clrIdx="94"/>
  <p:cmAuthor id="96" name="yiwei zhu" initials="y" lastIdx="0" clrIdx="95"/>
  <p:cmAuthor id="97" name="吕震" initials="吕" lastIdx="0" clrIdx="96"/>
  <p:cmAuthor id="98" name="吴岩" initials="吴" lastIdx="0" clrIdx="97"/>
  <p:cmAuthor id="99" name="宋昆" initials="宋" lastIdx="0" clrIdx="98"/>
  <p:cmAuthor id="100" name="xiong" initials="x" lastIdx="0" clrIdx="99"/>
  <p:cmAuthor id="101" name="庞宝国" initials="庞" lastIdx="0" clrIdx="100"/>
  <p:cmAuthor id="102" name="Sandra" initials="S" lastIdx="0" clrIdx="101"/>
  <p:cmAuthor id="103" name="崔冶鸣（内蒙古英才管培生）" initials="崔" lastIdx="0" clrIdx="102"/>
  <p:cmAuthor id="104" name="HaoshuaiWu" initials="H" lastIdx="0" clrIdx="103"/>
  <p:cmAuthor id="105" name="万户网络" initials="万" lastIdx="0" clrIdx="104"/>
  <p:cmAuthor id="106" name="未知用户12" initials="未知用户12" lastIdx="0" clrIdx="105"/>
  <p:cmAuthor id="107" name="孙璐璐" initials="孙" lastIdx="0" clrIdx="106"/>
  <p:cmAuthor id="108" name="朴鹏-lhq" initials="朴鹏" lastIdx="0" clrIdx="107"/>
  <p:cmAuthor id="109" name="1003776019@qq.com" initials="1" lastIdx="0" clrIdx="108"/>
  <p:cmAuthor id="110" name="Jinyi" initials="J" lastIdx="0" clrIdx="109"/>
  <p:cmAuthor id="111" name="PC" initials="P" lastIdx="0" clrIdx="110"/>
  <p:cmAuthor id="112" name="wangcz2" initials="w" lastIdx="0" clrIdx="111"/>
  <p:cmAuthor id="113" name="江涛 李" initials="江" lastIdx="0" clrIdx="112"/>
  <p:cmAuthor id="114" name="minty minty" initials="m" lastIdx="0" clrIdx="113"/>
  <p:cmAuthor id="115" name="杨国" initials="杨" lastIdx="0" clrIdx="114"/>
  <p:cmAuthor id="116" name="卫天一" initials="卫" lastIdx="0" clrIdx="115"/>
  <p:cmAuthor id="117" name="刘承刚" initials="刘" lastIdx="0" clrIdx="116"/>
  <p:cmAuthor id="118" name="史璐瑶" initials="史璐瑶" lastIdx="0" clrIdx="117"/>
  <p:cmAuthor id="119" name="刘盛潮" initials="刘" lastIdx="0" clrIdx="118"/>
  <p:cmAuthor id="120" name="1 mac" initials="1" lastIdx="0" clrIdx="119"/>
  <p:cmAuthor id="121" name="Q Q" initials="Q" lastIdx="0" clrIdx="120"/>
  <p:cmAuthor id="122" name="柳 先涛" initials="柳" lastIdx="0" clrIdx="121"/>
  <p:cmAuthor id="123" name="未知用户14" initials="未" lastIdx="0" clrIdx="122"/>
  <p:cmAuthor id="124" name="Sky123.Org" initials="S" lastIdx="0" clrIdx="123"/>
  <p:cmAuthor id="125" name="zhouyiming" initials="z" lastIdx="0" clrIdx="124"/>
  <p:cmAuthor id="126" name="User_2" initials="U" lastIdx="0" clrIdx="125"/>
  <p:cmAuthor id="127" name="王丹（法律）" initials="王" lastIdx="0" clrIdx="126"/>
  <p:cmAuthor id="128" name="徐 宁" initials="徐" lastIdx="0" clrIdx="127"/>
  <p:cmAuthor id="129" name="QBOSSCHEN" initials="Q" lastIdx="0" clrIdx="128"/>
  <p:cmAuthor id="130" name="Calvin G" initials="C" lastIdx="0" clrIdx="129"/>
  <p:cmAuthor id="131" name="张莹" initials="张" lastIdx="0" clrIdx="130"/>
  <p:cmAuthor id="132" name="MC SYSTEM" initials="M" lastIdx="0" clrIdx="131"/>
  <p:cmAuthor id="133" name="spring_ren" initials="s" lastIdx="0" clrIdx="132"/>
  <p:cmAuthor id="134" name="李璐---寿险总公司营销管理部" initials="李" lastIdx="0" clrIdx="133"/>
  <p:cmAuthor id="135" name="xuqing" initials="x" lastIdx="0" clrIdx="134"/>
  <p:cmAuthor id="136" name="王顶" initials="王" lastIdx="0" clrIdx="135"/>
  <p:cmAuthor id="137" name="回校" initials="回" lastIdx="0" clrIdx="136"/>
  <p:cmAuthor id="138" name="sxp" initials="s" lastIdx="0" clrIdx="137"/>
  <p:cmAuthor id="139" name="未知用户9" initials="未" lastIdx="0" clrIdx="138"/>
  <p:cmAuthor id="140" name="yangdi" initials="y" lastIdx="0" clrIdx="139"/>
  <p:cmAuthor id="141" name="Microsoft Office 用户" initials="M" lastIdx="0" clrIdx="140"/>
  <p:cmAuthor id="142" name="daiyi06" initials="d" lastIdx="0" clrIdx="141"/>
  <p:cmAuthor id="143" name="董晔" initials="董" lastIdx="0" clrIdx="142"/>
  <p:cmAuthor id="144" name="pangyt" initials="p" lastIdx="0" clrIdx="143"/>
  <p:cmAuthor id="145" name="449030419@qq.com" initials="4" lastIdx="0" clrIdx="144"/>
  <p:cmAuthor id="146" name="史其淼" initials="史" lastIdx="0" clrIdx="145"/>
  <p:cmAuthor id="147" name="tkyan" initials="t" lastIdx="0" clrIdx="146"/>
  <p:cmAuthor id="148" name="jxgy15" initials="j" lastIdx="0" clrIdx="147"/>
  <p:cmAuthor id="149" name="朱粒" initials="朱" lastIdx="0" clrIdx="148"/>
  <p:cmAuthor id="150" name="lgp" initials="l" lastIdx="0" clrIdx="149"/>
  <p:cmAuthor id="151" name="王航" initials="王" lastIdx="0" clrIdx="150"/>
  <p:cmAuthor id="152" name="姜文静" initials="姜" lastIdx="0" clrIdx="151"/>
  <p:cmAuthor id="153" name="陈依依" initials="陈" lastIdx="0" clrIdx="152"/>
  <p:cmAuthor id="154" name="实习生_严政宇" initials="实" lastIdx="0" clrIdx="153"/>
  <p:cmAuthor id="155" name="Lenovo User" initials="L" lastIdx="0" clrIdx="154"/>
  <p:cmAuthor id="156" name="袁缘" initials="袁" lastIdx="0" clrIdx="155"/>
  <p:cmAuthor id="157" name="肖 雷" initials="肖" lastIdx="0" clrIdx="156"/>
  <p:cmAuthor id="158" name="邓蓉榕" initials="邓" lastIdx="0" clrIdx="157"/>
  <p:cmAuthor id="159" name="user" initials="u" lastIdx="0" clrIdx="158"/>
  <p:cmAuthor id="160" name="benbenonroad zhao" initials="b" lastIdx="0" clrIdx="159"/>
  <p:cmAuthor id="161" name="Dell" initials="D" lastIdx="0" clrIdx="160"/>
  <p:cmAuthor id="162" name="田海兰" initials="田" lastIdx="0" clrIdx="161"/>
  <p:cmAuthor id="163" name="柯 少鹏" initials="柯" lastIdx="0" clrIdx="162"/>
  <p:cmAuthor id="164" name="松 李" initials="松" lastIdx="0" clrIdx="163"/>
  <p:cmAuthor id="165" name="CHEN LONG" initials="C" lastIdx="0" clrIdx="164"/>
  <p:cmAuthor id="166" name="彬 罗" initials="彬" lastIdx="0" clrIdx="165"/>
  <p:cmAuthor id="167" name="Bonan Qi" initials="B" lastIdx="0" clrIdx="166"/>
  <p:cmAuthor id="168" name="罗彬" initials="罗" lastIdx="0" clrIdx="167"/>
  <p:cmAuthor id="169" name="严之" initials="严" lastIdx="0" clrIdx="168"/>
  <p:cmAuthor id="170" name="梁潇-lhq" initials="梁" lastIdx="0" clrIdx="169"/>
  <p:cmAuthor id="171" name="未知用户21" initials="未" lastIdx="0" clrIdx="170"/>
  <p:cmAuthor id="172" name="86139" initials="8" lastIdx="0" clrIdx="171"/>
  <p:cmAuthor id="173" name="未知用户23" initials="未" lastIdx="0" clrIdx="172"/>
  <p:cmAuthor id="174" name="ozg106" initials="o" lastIdx="0" clrIdx="173"/>
  <p:cmAuthor id="175" name="冰箱" initials="冰" lastIdx="0" clrIdx="174"/>
  <p:cmAuthor id="176" name="huangxiaowu" initials="h" lastIdx="0" clrIdx="175"/>
  <p:cmAuthor id="177" name="Isabella" initials="I" lastIdx="0" clrIdx="176"/>
  <p:cmAuthor id="178" name="KK Yoda" initials="K" lastIdx="0" clrIdx="177"/>
  <p:cmAuthor id="179" name="哒哒 熊猫" initials="哒" lastIdx="0" clrIdx="178"/>
  <p:cmAuthor id="180" name="G" initials="G" lastIdx="0" clrIdx="179"/>
  <p:cmAuthor id="181" name="caoyq0624" initials="c" lastIdx="0" clrIdx="180"/>
  <p:cmAuthor id="182" name="未知用户86" initials="未" lastIdx="0" clrIdx="181"/>
  <p:cmAuthor id="183" name="百里 长青" initials="百" lastIdx="0" clrIdx="182"/>
  <p:cmAuthor id="184" name="熘?" initials="熘" lastIdx="0" clrIdx="183"/>
  <p:cmAuthor id="185" name="谷雨" initials="谷" lastIdx="0" clrIdx="184"/>
  <p:cmAuthor id="186" name="中星 叶" initials="中" lastIdx="0" clrIdx="185"/>
  <p:cmAuthor id="187" name="倚海听风" initials="倚" lastIdx="0" clrIdx="186"/>
  <p:cmAuthor id="188" name="孟轩君" initials="孟" lastIdx="0" clrIdx="187"/>
  <p:cmAuthor id="189" name="古二蛋" initials="古" lastIdx="0" clrIdx="188"/>
  <p:cmAuthor id="190" name="马琛琛" initials="马" lastIdx="0" clrIdx="189"/>
  <p:cmAuthor id="191" name="甘源" initials="甘" lastIdx="0" clrIdx="190"/>
  <p:cmAuthor id="192" name="闫秀丽" initials="闫" lastIdx="0" clrIdx="191"/>
  <p:cmAuthor id="193" name="qatr130" initials="q" lastIdx="0" clrIdx="192"/>
  <p:cmAuthor id="194" name="橙子" initials="橙" lastIdx="0" clrIdx="193"/>
  <p:cmAuthor id="195" name="加 林" initials="加" lastIdx="0" clrIdx="194"/>
  <p:cmAuthor id="196" name="过 去" initials="过" lastIdx="0" clrIdx="195"/>
  <p:cmAuthor id="197" name="USER" initials="U" lastIdx="0" clrIdx="196"/>
  <p:cmAuthor id="198" name="张静_QZZvv2Aj" initials="authorId_625078060" lastIdx="0" clrIdx="197"/>
  <p:cmAuthor id="199" name="张婧玉" initials="张婧玉" lastIdx="0" clrIdx="198"/>
  <p:cmAuthor id="200" name="喰?" initials="喰" lastIdx="0" clrIdx="199"/>
  <p:cmAuthor id="201" name="未知用户18" initials="未" lastIdx="0" clrIdx="200"/>
  <p:cmAuthor id="202" name="Tracy Chen" initials="T" lastIdx="0" clrIdx="201"/>
  <p:cmAuthor id="203" name="林 声洋" initials="林" lastIdx="0" clrIdx="202"/>
  <p:cmAuthor id="204" name="TaiKang" initials="T" lastIdx="0" clrIdx="203"/>
  <p:cmAuthor id="205" name="刘浩" initials="刘" lastIdx="0" clrIdx="204"/>
  <p:cmAuthor id="206" name="未知用户19" initials="未" lastIdx="0" clrIdx="205"/>
  <p:cmAuthor id="207" name="Vivian Liu" initials="V" lastIdx="0" clrIdx="206"/>
  <p:cmAuthor id="208" name="未知用户20" initials="未" lastIdx="0" clrIdx="207"/>
  <p:cmAuthor id="209" name="吕永朋" initials="吕" lastIdx="0" clrIdx="208"/>
  <p:cmAuthor id="210" name="沛斯 钟" initials="沛" lastIdx="0" clrIdx="209"/>
  <p:cmAuthor id="211" name="姜伟齐" initials="姜" lastIdx="0" clrIdx="210"/>
  <p:cmAuthor id="212" name="未知用户27" initials="未" lastIdx="0" clrIdx="211"/>
  <p:cmAuthor id="213" name="未知用户28" initials="未" lastIdx="0" clrIdx="212"/>
  <p:cmAuthor id="214" name="未知用户26" initials="未" lastIdx="0" clrIdx="213"/>
  <p:cmAuthor id="215" name="未知用户15" initials="未" lastIdx="0" clrIdx="214"/>
  <p:cmAuthor id="216" name="547716734@qq.com" initials="5" lastIdx="0" clrIdx="215"/>
  <p:cmAuthor id="217" name="shuaibing" initials="s" lastIdx="0" clrIdx="216"/>
  <p:cmAuthor id="218" name="未知用户10" initials="未" lastIdx="0" clrIdx="217"/>
  <p:cmAuthor id="219" name="未知用户17" initials="未" lastIdx="0" clrIdx="218"/>
  <p:cmAuthor id="220" name="彭凯" initials="彭" lastIdx="0" clrIdx="219"/>
  <p:cmAuthor id="221" name="91huhang" initials="9" lastIdx="0" clrIdx="220"/>
  <p:cmAuthor id="222" name="杨姗" initials="杨" lastIdx="0" clrIdx="221"/>
  <p:cmAuthor id="223" name="Ms" initials="M" lastIdx="0" clrIdx="222"/>
  <p:cmAuthor id="224" name="CodonMedical" initials="C" lastIdx="0" clrIdx="223"/>
  <p:cmAuthor id="225" name="廖爽亚" initials="廖" lastIdx="0" clrIdx="224"/>
  <p:cmAuthor id="226" name="ydx2003new@163.com" initials="y" lastIdx="0" clrIdx="225"/>
  <p:cmAuthor id="227" name="Meredith Kalish" initials="M" lastIdx="0" clrIdx="226"/>
  <p:cmAuthor id="228" name="gongxuan" initials="g" lastIdx="0" clrIdx="227"/>
  <p:cmAuthor id="229" name="袁 玥挺" initials="袁" lastIdx="0" clrIdx="228"/>
  <p:cmAuthor id="230" name="zhuqy3" initials="z" lastIdx="0" clrIdx="229"/>
  <p:cmAuthor id="231" name="Windows User" initials="W" lastIdx="0" clrIdx="230"/>
  <p:cmAuthor id="232" name="f n" initials="fn" lastIdx="0" clrIdx="231"/>
  <p:cmAuthor id="233" name="蔡静敏" initials="CJM" lastIdx="0" clrIdx="232"/>
  <p:cmAuthor id="234" name="YZB" initials="Y" lastIdx="0" clrIdx="233"/>
  <p:cmAuthor id="235" name="sunlj002" initials="s" lastIdx="0" clrIdx="234"/>
  <p:cmAuthor id="236" name="未知用户85" initials="未" lastIdx="0" clrIdx="235"/>
  <p:cmAuthor id="237" name="Windows" initials="W" lastIdx="0" clrIdx="236"/>
  <p:cmAuthor id="238" name="YANGS-PC" initials="Y" lastIdx="0" clrIdx="237"/>
  <p:cmAuthor id="239" name="localadmin" initials="l" lastIdx="0" clrIdx="238"/>
  <p:cmAuthor id="240" name="郭书含" initials="郭" lastIdx="0" clrIdx="239"/>
  <p:cmAuthor id="241" name="sivaram" initials="s" lastIdx="0" clrIdx="240"/>
  <p:cmAuthor id="242" name="пользователь Microsoft Office" initials="п" lastIdx="0" clrIdx="241"/>
  <p:cmAuthor id="243" name="刘淼" initials="刘" lastIdx="0" clrIdx="242"/>
  <p:cmAuthor id="244" name="Office 365" initials="O" lastIdx="0" clrIdx="243"/>
  <p:cmAuthor id="245" name="1716266060@qq.com" initials="1" lastIdx="0" clrIdx="244"/>
  <p:cmAuthor id="246" name="程学春 cxc" initials="程" lastIdx="0" clrIdx="245"/>
  <p:cmAuthor id="247" name="chenli8" initials="c" lastIdx="0" clrIdx="246"/>
  <p:cmAuthor id="248" name="448097321@qq.com" initials="4" lastIdx="0" clrIdx="247"/>
  <p:cmAuthor id="249" name="zhumin1" initials="z" lastIdx="0" clrIdx="248"/>
  <p:cmAuthor id="250" name="FS" initials="F" lastIdx="0" clrIdx="249"/>
  <p:cmAuthor id="251" name="Temp" initials="T" lastIdx="0" clrIdx="250"/>
  <p:cmAuthor id="252" name="刘岸亮" initials="刘" lastIdx="0" clrIdx="251"/>
  <p:cmAuthor id="253" name="雍中婧" initials="雍" lastIdx="0" clrIdx="252"/>
  <p:cmAuthor id="254" name="任斐" initials="任" lastIdx="0" clrIdx="253"/>
  <p:cmAuthor id="255" name="tpxiao" initials="t" lastIdx="0" clrIdx="254"/>
  <p:cmAuthor id="256" name="lin lin" initials="l" lastIdx="0" clrIdx="255"/>
  <p:cmAuthor id="257" name="李 昊" initials="李" lastIdx="0" clrIdx="256"/>
  <p:cmAuthor id="258" name="zhoujw08" initials="z" lastIdx="0" clrIdx="257"/>
  <p:cmAuthor id="259" name="时方赛" initials="时" lastIdx="0" clrIdx="258"/>
  <p:cmAuthor id="260" name="deeplm" initials="d" lastIdx="0" clrIdx="259"/>
  <p:cmAuthor id="261" name="lenovo0" initials="l" lastIdx="0" clrIdx="260"/>
  <p:cmAuthor id="262" name="zhangbw18" initials="z" lastIdx="0" clrIdx="261"/>
  <p:cmAuthor id="263" name="wangll132" initials="w" lastIdx="0" clrIdx="262"/>
  <p:cmAuthor id="264" name="未知用户35" initials="未" lastIdx="0" clrIdx="263"/>
  <p:cmAuthor id="265" name="林桦桦" initials="林" lastIdx="0" clrIdx="264"/>
  <p:cmAuthor id="266" name="ZhangYu" initials="Z" lastIdx="0" clrIdx="265"/>
  <p:cmAuthor id="267" name="瞿 梅" initials="瞿" lastIdx="0" clrIdx="266"/>
  <p:cmAuthor id="268" name="SHMILY" initials="S" lastIdx="0" clrIdx="267"/>
  <p:cmAuthor id="269" name="NINGMEI" initials="N" lastIdx="0" clrIdx="268"/>
  <p:cmAuthor id="270" name="刘云飞" initials="刘" lastIdx="0" clrIdx="269"/>
  <p:cmAuthor id="271" name="刘 林山" initials="刘" lastIdx="0" clrIdx="270"/>
  <p:cmAuthor id="272" name="Yoda KK" initials="Y" lastIdx="0" clrIdx="271"/>
  <p:cmAuthor id="273" name="abc" initials="a" lastIdx="0" clrIdx="272"/>
  <p:cmAuthor id="274" name="chenbing02" initials="c" lastIdx="0" clrIdx="273"/>
  <p:cmAuthor id="275" name="李 斌" initials="李" lastIdx="0" clrIdx="274"/>
  <p:cmAuthor id="276" name="王雅静" initials="王" lastIdx="0" clrIdx="275"/>
  <p:cmAuthor id="277" name="陈静雯" initials="陈" lastIdx="0" clrIdx="276"/>
  <p:cmAuthor id="278" name="韩冰" initials="韩" lastIdx="0" clrIdx="277"/>
  <p:cmAuthor id="279" name="acer" initials="a" lastIdx="0" clrIdx="278"/>
  <p:cmAuthor id="280" name="冯敏" initials="冯" lastIdx="0" clrIdx="279"/>
  <p:cmAuthor id="281" name="pc" initials="p" lastIdx="0" clrIdx="280"/>
  <p:cmAuthor id="282" name="贾彬彬" initials="贾" lastIdx="0" clrIdx="281"/>
  <p:cmAuthor id="283" name="未知用户46" initials="未" lastIdx="0" clrIdx="282"/>
  <p:cmAuthor id="284" name="未知用户47" initials="未" lastIdx="0" clrIdx="283"/>
  <p:cmAuthor id="285" name="未知用户32" initials="未" lastIdx="0" clrIdx="284"/>
  <p:cmAuthor id="286" name="未知用户25" initials="未" lastIdx="0" clrIdx="285"/>
  <p:cmAuthor id="287" name="未知用户48" initials="未" lastIdx="0" clrIdx="286"/>
  <p:cmAuthor id="288" name="未知用户29" initials="未" lastIdx="0" clrIdx="287"/>
  <p:cmAuthor id="289" name="未知用户30" initials="未" lastIdx="0" clrIdx="288"/>
  <p:cmAuthor id="290" name="未知用户31" initials="未" lastIdx="0" clrIdx="289"/>
  <p:cmAuthor id="291" name="未知用户41" initials="未" lastIdx="0" clrIdx="290"/>
  <p:cmAuthor id="292" name="未知用户43" initials="未" lastIdx="0" clrIdx="291"/>
  <p:cmAuthor id="293" name="未知用户44" initials="未" lastIdx="0" clrIdx="292"/>
  <p:cmAuthor id="294" name="未知用户45" initials="未" lastIdx="0" clrIdx="293"/>
  <p:cmAuthor id="295" name="sun frank" initials="s" lastIdx="0" clrIdx="294"/>
  <p:cmAuthor id="296" name="zhao wei" initials="z" lastIdx="0" clrIdx="295"/>
  <p:cmAuthor id="297" name="徐 伟钦" initials="徐" lastIdx="0" clrIdx="296"/>
  <p:cmAuthor id="298" name="李昕玫" initials="李" lastIdx="0" clrIdx="297"/>
  <p:cmAuthor id="299" name="lianxing liao" initials="l" lastIdx="0" clrIdx="298"/>
  <p:cmAuthor id="300" name="未知用户" initials="未" lastIdx="0" clrIdx="299"/>
  <p:cmAuthor id="301" name="yangysh" initials="y" lastIdx="0" clrIdx="300"/>
  <p:cmAuthor id="302" name="ZZC" initials="Z" lastIdx="0" clrIdx="301"/>
  <p:cmAuthor id="303" name="李晨曦" initials="李" lastIdx="0" clrIdx="302"/>
  <p:cmAuthor id="304" name="yaoxiaojun" initials="y" lastIdx="0" clrIdx="303"/>
  <p:cmAuthor id="305" name="sdlife" initials="s" lastIdx="0" clrIdx="304"/>
  <p:cmAuthor id="306" name="朱雪松" initials="朱" lastIdx="0" clrIdx="305"/>
  <p:cmAuthor id="307" name="肖婧" initials="肖" lastIdx="0" clrIdx="306"/>
  <p:cmAuthor id="308" name="Vagun Vagun" initials="V" lastIdx="0" clrIdx="307"/>
  <p:cmAuthor id="309" name="李秋静" initials="李" lastIdx="0" clrIdx="308"/>
  <p:cmAuthor id="310" name="陈林" initials="陈" lastIdx="0" clrIdx="309"/>
  <p:cmAuthor id="311" name="Author" initials="A" lastIdx="0" clrIdx="310"/>
  <p:cmAuthor id="312" name="张梦莞" initials="张" lastIdx="0" clrIdx="311"/>
  <p:cmAuthor id="313" name="程诗媛" initials="程" lastIdx="0" clrIdx="312"/>
  <p:cmAuthor id="314" name="未知用户33" initials="未" lastIdx="0" clrIdx="313"/>
  <p:cmAuthor id="315" name="apple" initials="a" lastIdx="0" clrIdx="314"/>
  <p:cmAuthor id="316" name="翟宏帅" initials="翟" lastIdx="0" clrIdx="315"/>
  <p:cmAuthor id="317" name="zhang ju" initials="z" lastIdx="0" clrIdx="316"/>
  <p:cmAuthor id="318" name="lixun" initials="l" lastIdx="0" clrIdx="317"/>
  <p:cmAuthor id="319" name="志国 刘" initials="志" lastIdx="0" clrIdx="318"/>
  <p:cmAuthor id="320" name="未知用户36" initials="未" lastIdx="0" clrIdx="319"/>
  <p:cmAuthor id="321" name="未知用户148" initials="未" lastIdx="0" clrIdx="320"/>
  <p:cmAuthor id="322" name="未知用户163" initials="未" lastIdx="0" clrIdx="321"/>
  <p:cmAuthor id="323" name="未知用户151" initials="未" lastIdx="0" clrIdx="322"/>
  <p:cmAuthor id="324" name="未知用户152" initials="未" lastIdx="0" clrIdx="323"/>
  <p:cmAuthor id="325" name="未知用户164" initials="未" lastIdx="0" clrIdx="324"/>
  <p:cmAuthor id="326" name="未知用户153" initials="未" lastIdx="0" clrIdx="325"/>
  <p:cmAuthor id="327" name="未知用户154" initials="未" lastIdx="0" clrIdx="326"/>
  <p:cmAuthor id="328" name="未知用户155" initials="未" lastIdx="0" clrIdx="327"/>
  <p:cmAuthor id="329" name="未知用户156" initials="未" lastIdx="0" clrIdx="328"/>
  <p:cmAuthor id="330" name="未知用户157" initials="未" lastIdx="0" clrIdx="329"/>
  <p:cmAuthor id="331" name="未知用户158" initials="未" lastIdx="0" clrIdx="330"/>
  <p:cmAuthor id="332" name="未知用户159" initials="未" lastIdx="0" clrIdx="331"/>
  <p:cmAuthor id="333" name="未知用户160" initials="未" lastIdx="0" clrIdx="332"/>
  <p:cmAuthor id="334" name="未知用户161" initials="未" lastIdx="0" clrIdx="333"/>
  <p:cmAuthor id="335" name="未知用户162" initials="未" lastIdx="0" clrIdx="334"/>
  <p:cmAuthor id="336" name="未知用户149" initials="未" lastIdx="0" clrIdx="335"/>
  <p:cmAuthor id="337" name="未知用户146" initials="未" lastIdx="0" clrIdx="336"/>
  <p:cmAuthor id="338" name="未知用户147" initials="未" lastIdx="0" clrIdx="337"/>
  <p:cmAuthor id="339" name="刘仕俭" initials="刘" lastIdx="0" clrIdx="338"/>
  <p:cmAuthor id="340" name="Changing Zhuang" initials="C" lastIdx="0" clrIdx="339"/>
  <p:cmAuthor id="341" name="未知用户177" initials="未" lastIdx="0" clrIdx="340"/>
  <p:cmAuthor id="342" name="未知用户178" initials="未" lastIdx="0" clrIdx="341"/>
  <p:cmAuthor id="343" name="未知用户179" initials="未" lastIdx="0" clrIdx="342"/>
  <p:cmAuthor id="344" name="未知用户180" initials="未" lastIdx="0" clrIdx="343"/>
  <p:cmAuthor id="345" name="未知用户181" initials="未" lastIdx="0" clrIdx="344"/>
  <p:cmAuthor id="346" name="未知用户182" initials="未" lastIdx="0" clrIdx="345"/>
  <p:cmAuthor id="347" name="未知用户183" initials="未" lastIdx="0" clrIdx="346"/>
  <p:cmAuthor id="348" name="未知用户184" initials="未" lastIdx="0" clrIdx="347"/>
  <p:cmAuthor id="349" name="未知用户187" initials="未" lastIdx="0" clrIdx="348"/>
  <p:cmAuthor id="350" name="未知用户185" initials="未" lastIdx="0" clrIdx="349"/>
  <p:cmAuthor id="351" name="未知用户186" initials="未" lastIdx="0" clrIdx="350"/>
  <p:cmAuthor id="352" name="Yun-Ting Tseng" initials="Y" lastIdx="0" clrIdx="351"/>
  <p:cmAuthor id="353" name="Miss 豆" initials="M" lastIdx="0" clrIdx="352"/>
  <p:cmAuthor id="354" name="未知用户63" initials="未" lastIdx="0" clrIdx="353"/>
  <p:cmAuthor id="355" name="我" initials="我" lastIdx="0" clrIdx="354"/>
  <p:cmAuthor id="356" name="Smilyrwj" initials="S" lastIdx="0" clrIdx="355"/>
  <p:cmAuthor id="357" name="未知用户108" initials="未" lastIdx="0" clrIdx="356"/>
  <p:cmAuthor id="358" name="未知用户72" initials="未" lastIdx="0" clrIdx="357"/>
  <p:cmAuthor id="359" name="未知用户73" initials="未" lastIdx="0" clrIdx="358"/>
  <p:cmAuthor id="360" name="未知用户74" initials="未" lastIdx="0" clrIdx="359"/>
  <p:cmAuthor id="361" name="未知用户110" initials="未" lastIdx="0" clrIdx="360"/>
  <p:cmAuthor id="362" name="未知用户77" initials="未" lastIdx="0" clrIdx="361"/>
  <p:cmAuthor id="363" name="taowei" initials="t" lastIdx="0" clrIdx="362"/>
  <p:cmAuthor id="364" name="Dizzy" initials="D" lastIdx="0" clrIdx="363"/>
  <p:cmAuthor id="365" name="未知用户98" initials="未" lastIdx="0" clrIdx="364"/>
  <p:cmAuthor id="366" name="Yvonne Lin" initials="Y" lastIdx="0" clrIdx="365"/>
  <p:cmAuthor id="367" name="Gallivan, John-Paul {MDAO~Basel}" initials="G" lastIdx="0" clrIdx="366"/>
  <p:cmAuthor id="368" name="Helms, Hans-Joachim {MDBA~Basel}" initials="H" lastIdx="0" clrIdx="367"/>
  <p:cmAuthor id="369" name="Codon Medical" initials="C" lastIdx="0" clrIdx="368"/>
  <p:cmAuthor id="370" name="Petersen, Jenny {MDBD~South San Francisco}" initials="P" lastIdx="0" clrIdx="369"/>
  <p:cmAuthor id="371" name="刘风香" initials="刘" lastIdx="0" clrIdx="370"/>
  <p:cmAuthor id="372" name="feng wei" initials="f" lastIdx="0" clrIdx="371"/>
  <p:cmAuthor id="373" name="未知用户105" initials="未" lastIdx="0" clrIdx="372"/>
  <p:cmAuthor id="374" name="Mary Beattie" initials="M" lastIdx="0" clrIdx="373"/>
  <p:cmAuthor id="375" name="Melanie Smitt" initials="M" lastIdx="0" clrIdx="374"/>
  <p:cmAuthor id="376" name="Andrea Michels" initials="A" lastIdx="0" clrIdx="375"/>
  <p:cmAuthor id="377" name="Daniel Clyde (HI)" initials="D" lastIdx="0" clrIdx="376"/>
  <p:cmAuthor id="378" name="Fitzpatrick, Nicole {MGAO~Basel}" initials="F" lastIdx="0" clrIdx="377"/>
  <p:cmAuthor id="379" name="Kate Rijnen" initials="K" lastIdx="0" clrIdx="378"/>
  <p:cmAuthor id="380" name="Mark McGregor (HI)" initials="M" lastIdx="0" clrIdx="379"/>
  <p:cmAuthor id="381" name="Machackova, Zuzana {MDAO~Basel}" initials="M" lastIdx="0" clrIdx="380"/>
  <p:cmAuthor id="382" name="Franca, Ryan {MDAO~Basel}" initials="F" lastIdx="0" clrIdx="381"/>
  <p:cmAuthor id="383" name="Bart Baranowski (HI)" initials="B" lastIdx="0" clrIdx="382"/>
  <p:cmAuthor id="384" name="Helen Keyworth (HI)" initials="H" lastIdx="0" clrIdx="383"/>
  <p:cmAuthor id="385" name="Louise Adamson (HI)" initials="L" lastIdx="0" clrIdx="384"/>
  <p:cmAuthor id="386" name="Andrew Moss (HI)" initials="A" lastIdx="0" clrIdx="385"/>
  <p:cmAuthor id="387" name="David Morgan (HI)" initials="D" lastIdx="0" clrIdx="386"/>
  <p:cmAuthor id="388" name="Kate Sillitoe (HI)" initials="K" lastIdx="0" clrIdx="387"/>
  <p:cmAuthor id="389" name="hpguan" initials="h" lastIdx="0" clrIdx="388"/>
  <p:cmAuthor id="390" name="miaott" initials="m" lastIdx="0" clrIdx="389"/>
  <p:cmAuthor id="391" name="齐涛" initials="齐" lastIdx="0" clrIdx="390"/>
  <p:cmAuthor id="392" name="zhaoby01" initials="z" lastIdx="0" clrIdx="391"/>
  <p:cmAuthor id="393" name="Lydia" initials="L" lastIdx="0" clrIdx="392"/>
  <p:cmAuthor id="394" name="fengyuan03" initials="f" lastIdx="0" clrIdx="393"/>
  <p:cmAuthor id="395" name="xusha" initials="x" lastIdx="0" clrIdx="394"/>
  <p:cmAuthor id="396" name="李 东科" initials="李" lastIdx="0" clrIdx="395"/>
  <p:cmAuthor id="397" name="何富军" initials="何" lastIdx="0" clrIdx="396"/>
  <p:cmAuthor id="398" name="fafa" initials="f" lastIdx="0" clrIdx="397"/>
  <p:cmAuthor id="399" name="袁正海" initials="袁" lastIdx="0" clrIdx="398"/>
  <p:cmAuthor id="400" name="未知用户84" initials="未" lastIdx="0" clrIdx="399"/>
  <p:cmAuthor id="401" name="未知用户88" initials="未" lastIdx="0" clrIdx="400"/>
  <p:cmAuthor id="402" name="未知用户90" initials="未" lastIdx="0" clrIdx="401"/>
  <p:cmAuthor id="403" name="未知用户93" initials="未" lastIdx="0" clrIdx="402"/>
  <p:cmAuthor id="404" name="未知用户94" initials="未" lastIdx="0" clrIdx="403"/>
  <p:cmAuthor id="405" name="未知用户95" initials="未" lastIdx="0" clrIdx="404"/>
  <p:cmAuthor id="406" name="未知用户96" initials="未" lastIdx="0" clrIdx="405"/>
  <p:cmAuthor id="407" name="未知用户99" initials="未" lastIdx="0" clrIdx="406"/>
  <p:cmAuthor id="408" name="YUN Jiayue" initials="Y" lastIdx="0" clrIdx="407"/>
  <p:cmAuthor id="409" name="wenle369@sina.com" initials="w" lastIdx="0" clrIdx="408"/>
  <p:cmAuthor id="410" name="未知用户418" initials="未" lastIdx="0" clrIdx="409"/>
  <p:cmAuthor id="411" name="未知用户271" initials="未" lastIdx="0" clrIdx="410"/>
  <p:cmAuthor id="412" name="think" initials="t" lastIdx="0" clrIdx="411"/>
  <p:cmAuthor id="413" name="ChinaUser" initials="C" lastIdx="0" clrIdx="412"/>
  <p:cmAuthor id="414" name="未知用户75" initials="未" lastIdx="0" clrIdx="413"/>
  <p:cmAuthor id="415" name="未知用户76" initials="未" lastIdx="0" clrIdx="414"/>
  <p:cmAuthor id="416" name="linkplus" initials="l" lastIdx="0" clrIdx="415"/>
  <p:cmAuthor id="417" name="未知用户118" initials="未" lastIdx="0" clrIdx="416"/>
  <p:cmAuthor id="418" name="未知用户119" initials="未" lastIdx="0" clrIdx="417"/>
  <p:cmAuthor id="419" name="未知用户120" initials="未" lastIdx="0" clrIdx="418"/>
  <p:cmAuthor id="420" name="未知用户121" initials="未" lastIdx="0" clrIdx="419"/>
  <p:cmAuthor id="421" name="未知用户122" initials="未" lastIdx="0" clrIdx="420"/>
  <p:cmAuthor id="422" name="未知用户123" initials="未" lastIdx="0" clrIdx="421"/>
  <p:cmAuthor id="423" name="未知用户124" initials="未" lastIdx="0" clrIdx="422"/>
  <p:cmAuthor id="424" name="未知用户125" initials="未" lastIdx="0" clrIdx="423"/>
  <p:cmAuthor id="425" name="未知用户126" initials="未" lastIdx="0" clrIdx="424"/>
  <p:cmAuthor id="426" name="未知用户127" initials="未" lastIdx="0" clrIdx="425"/>
  <p:cmAuthor id="427" name="未知用户128" initials="未" lastIdx="0" clrIdx="426"/>
  <p:cmAuthor id="428" name="未知用户129" initials="未" lastIdx="0" clrIdx="427"/>
  <p:cmAuthor id="429" name="未知用户130" initials="未" lastIdx="0" clrIdx="428"/>
  <p:cmAuthor id="430" name="未知用户131" initials="未" lastIdx="0" clrIdx="429"/>
  <p:cmAuthor id="431" name="未知用户132" initials="未" lastIdx="0" clrIdx="430"/>
  <p:cmAuthor id="432" name="未知用户133" initials="未" lastIdx="0" clrIdx="431"/>
  <p:cmAuthor id="433" name="未知用户134" initials="未" lastIdx="0" clrIdx="432"/>
  <p:cmAuthor id="434" name="未知用户135" initials="未" lastIdx="0" clrIdx="433"/>
  <p:cmAuthor id="435" name="未知用户136" initials="未" lastIdx="0" clrIdx="434"/>
  <p:cmAuthor id="436" name="未知用户137" initials="未" lastIdx="0" clrIdx="435"/>
  <p:cmAuthor id="437" name="未知用户138" initials="未" lastIdx="0" clrIdx="436"/>
  <p:cmAuthor id="438" name="未知用户141" initials="未" lastIdx="0" clrIdx="437"/>
  <p:cmAuthor id="439" name="未知用户142" initials="未" lastIdx="0" clrIdx="438"/>
  <p:cmAuthor id="440" name="未知用户143" initials="未" lastIdx="0" clrIdx="439"/>
  <p:cmAuthor id="441" name="未知用户144" initials="未" lastIdx="0" clrIdx="440"/>
  <p:cmAuthor id="442" name="未知用户145" initials="未" lastIdx="0" clrIdx="441"/>
  <p:cmAuthor id="443" name="未知用户114" initials="未" lastIdx="0" clrIdx="442"/>
  <p:cmAuthor id="444" name="未知用户115" initials="未" lastIdx="0" clrIdx="443"/>
  <p:cmAuthor id="445" name="未知用户116" initials="未" lastIdx="0" clrIdx="444"/>
  <p:cmAuthor id="446" name="未知用户117" initials="未" lastIdx="0" clrIdx="445"/>
  <p:cmAuthor id="447" name="未知用户139" initials="未" lastIdx="0" clrIdx="446"/>
  <p:cmAuthor id="448" name="未知用户188" initials="未" lastIdx="0" clrIdx="447"/>
  <p:cmAuthor id="449" name="未知用户189" initials="未" lastIdx="0" clrIdx="448"/>
  <p:cmAuthor id="450" name="未知用户165" initials="未" lastIdx="0" clrIdx="449"/>
  <p:cmAuthor id="451" name="未知用户166" initials="未" lastIdx="0" clrIdx="450"/>
  <p:cmAuthor id="452" name="未知用户167" initials="未" lastIdx="0" clrIdx="451"/>
  <p:cmAuthor id="453" name="未知用户168" initials="未" lastIdx="0" clrIdx="452"/>
  <p:cmAuthor id="454" name="未知用户169" initials="未" lastIdx="0" clrIdx="453"/>
  <p:cmAuthor id="455" name="未知用户170" initials="未" lastIdx="0" clrIdx="454"/>
  <p:cmAuthor id="456" name="未知用户171" initials="未" lastIdx="0" clrIdx="455"/>
  <p:cmAuthor id="457" name="未知用户172" initials="未" lastIdx="0" clrIdx="456"/>
  <p:cmAuthor id="458" name="未知用户173" initials="未" lastIdx="0" clrIdx="457"/>
  <p:cmAuthor id="459" name="未知用户174" initials="未" lastIdx="0" clrIdx="458"/>
  <p:cmAuthor id="460" name="未知用户175" initials="未" lastIdx="0" clrIdx="459"/>
  <p:cmAuthor id="461" name="未知用户176" initials="未" lastIdx="0" clrIdx="460"/>
  <p:cmAuthor id="462" name="未知用户68" initials="未" lastIdx="0" clrIdx="461"/>
  <p:cmAuthor id="463" name="未知用户65" initials="未" lastIdx="0" clrIdx="462"/>
  <p:cmAuthor id="464" name="alen" initials="a" lastIdx="0" clrIdx="463"/>
  <p:cmAuthor id="465" name="用户查看" initials="用" lastIdx="0" clrIdx="464"/>
  <p:cmAuthor id="466" name="王 一鸣" initials="王" lastIdx="0" clrIdx="465"/>
  <p:cmAuthor id="467" name="Well Li" initials="W" lastIdx="0" clrIdx="466"/>
  <p:cmAuthor id="468" name="任俊宣" initials="任" lastIdx="0" clrIdx="467"/>
  <p:cmAuthor id="469" name="未知用户198" initials="未" lastIdx="0" clrIdx="468"/>
  <p:cmAuthor id="470" name="未知用户150" initials="未" lastIdx="0" clrIdx="469"/>
  <p:cmAuthor id="471" name="未知用户220" initials="未" lastIdx="0" clrIdx="470"/>
  <p:cmAuthor id="472" name="未知用户221" initials="未" lastIdx="0" clrIdx="471"/>
  <p:cmAuthor id="473" name="未知用户199" initials="未" lastIdx="0" clrIdx="472"/>
  <p:cmAuthor id="474" name="未知用户200" initials="未" lastIdx="0" clrIdx="473"/>
  <p:cmAuthor id="475" name="未知用户201" initials="未" lastIdx="0" clrIdx="474"/>
  <p:cmAuthor id="476" name="未知用户214" initials="未" lastIdx="0" clrIdx="475"/>
  <p:cmAuthor id="477" name="未知用户216" initials="未" lastIdx="0" clrIdx="476"/>
  <p:cmAuthor id="478" name="未知用户202" initials="未" lastIdx="0" clrIdx="477"/>
  <p:cmAuthor id="479" name="未知用户203" initials="未" lastIdx="0" clrIdx="478"/>
  <p:cmAuthor id="480" name="未知用户204" initials="未" lastIdx="0" clrIdx="479"/>
  <p:cmAuthor id="481" name="未知用户205" initials="未" lastIdx="0" clrIdx="480"/>
  <p:cmAuthor id="482" name="未知用户206" initials="未" lastIdx="0" clrIdx="481"/>
  <p:cmAuthor id="483" name="未知用户207" initials="未" lastIdx="0" clrIdx="482"/>
  <p:cmAuthor id="484" name="未知用户208" initials="未" lastIdx="0" clrIdx="483"/>
  <p:cmAuthor id="485" name="未知用户209" initials="未" lastIdx="0" clrIdx="484"/>
  <p:cmAuthor id="486" name="未知用户210" initials="未" lastIdx="0" clrIdx="485"/>
  <p:cmAuthor id="487" name="未知用户213" initials="未" lastIdx="0" clrIdx="486"/>
  <p:cmAuthor id="488" name="未知用户211" initials="未" lastIdx="0" clrIdx="487"/>
  <p:cmAuthor id="489" name="?定义" initials="?" lastIdx="0" clrIdx="488"/>
  <p:cmAuthor id="490" name="allan" initials="a" lastIdx="0" clrIdx="489"/>
  <p:cmAuthor id="491" name="he zhirui" initials="h" lastIdx="0" clrIdx="490"/>
  <p:cmAuthor id="492" name="tkadmin" initials="t" lastIdx="0" clrIdx="491"/>
  <p:cmAuthor id="493" name="mawei19" initials="m" lastIdx="0" clrIdx="492"/>
  <p:cmAuthor id="494" name="未知用户37" initials="未" lastIdx="0" clrIdx="493"/>
  <p:cmAuthor id="495" name="李红钢" initials="李" lastIdx="0" clrIdx="494"/>
  <p:cmAuthor id="496" name="McGlasson, Louise" initials="M" lastIdx="0" clrIdx="495"/>
  <p:cmAuthor id="497" name="Simona" initials="S" lastIdx="0" clrIdx="496"/>
  <p:cmAuthor id="498" name="daxx" initials="d" lastIdx="0" clrIdx="497"/>
  <p:cmAuthor id="499" name="Why" initials="W" lastIdx="0" clrIdx="498"/>
  <p:cmAuthor id="500" name="未知用户87" initials="未" lastIdx="0" clrIdx="499"/>
  <p:cmAuthor id="501" name="未定义" initials="未" lastIdx="0" clrIdx="500"/>
  <p:cmAuthor id="502" name="盛红" initials="盛" lastIdx="0" clrIdx="501"/>
  <p:cmAuthor id="503" name="未知用户103" initials="未" lastIdx="0" clrIdx="502"/>
  <p:cmAuthor id="504" name="范丽萍" initials="范" lastIdx="0" clrIdx="503"/>
  <p:cmAuthor id="505" name="86151" initials="8" lastIdx="0" clrIdx="504"/>
  <p:cmAuthor id="506" name="A" initials="A" lastIdx="0" clrIdx="505"/>
  <p:cmAuthor id="507" name="未知用户97" initials="未" lastIdx="0" clrIdx="506"/>
  <p:cmAuthor id="508" name="炸?" initials="炸" lastIdx="0" clrIdx="507"/>
  <p:cmAuthor id="509" name="未知用户101" initials="未" lastIdx="0" clrIdx="508"/>
  <p:cmAuthor id="510" name="fz" initials="f" lastIdx="0" clrIdx="509"/>
  <p:cmAuthor id="511" name="未知用户104" initials="未" lastIdx="0" clrIdx="510"/>
  <p:cmAuthor id="512" name="ROSIEANNA" initials="R" lastIdx="0" clrIdx="511"/>
  <p:cmAuthor id="513" name="吴 小丽" initials="吴" lastIdx="0" clrIdx="512"/>
  <p:cmAuthor id="514" name="xuhaoyu" initials="" lastIdx="0" clrIdx="513"/>
  <p:cmAuthor id="515" name="未知用户69" initials="未" lastIdx="0" clrIdx="514"/>
  <p:cmAuthor id="516" name="ThinkPad" initials="T" lastIdx="0" clrIdx="515"/>
  <p:cmAuthor id="517" name="吴杰" initials="吴" lastIdx="0" clrIdx="516"/>
  <p:cmAuthor id="518" name="姚灿" initials="姚" lastIdx="0" clrIdx="517"/>
  <p:cmAuthor id="519" name="郭敏娜(Minna Guo)" initials="郭" lastIdx="0" clrIdx="518"/>
  <p:cmAuthor id="520" name="Iris-T Liu" initials="I" lastIdx="0" clrIdx="519"/>
  <p:cmAuthor id="521" name="video" initials="v" lastIdx="0" clrIdx="520"/>
  <p:cmAuthor id="522" name="黄洁雯" initials="黄" lastIdx="0" clrIdx="521"/>
  <p:cmAuthor id="523" name="tianjuan555555@outlook.com" initials="t" lastIdx="0" clrIdx="522"/>
  <p:cmAuthor id="524" name="未知用户140" initials="未" lastIdx="0" clrIdx="523"/>
  <p:cmAuthor id="525" name="1716169290@qq.com" initials="1" lastIdx="0" clrIdx="524"/>
  <p:cmAuthor id="526" name="雕刻时光 1987" initials="雕" lastIdx="0" clrIdx="525"/>
  <p:cmAuthor id="527" name="未知用户67" initials="未" lastIdx="0" clrIdx="526"/>
  <p:cmAuthor id="528" name="zhaoling23" initials="" lastIdx="0" clrIdx="527"/>
  <p:cmAuthor id="529" name="王 金谦" initials="王" lastIdx="0" clrIdx="528"/>
  <p:cmAuthor id="530" name="15631" initials="1" lastIdx="0" clrIdx="529"/>
  <p:cmAuthor id="531" name="未知用户197" initials="未" lastIdx="0" clrIdx="530"/>
  <p:cmAuthor id="532" name="何秀英" initials="何" lastIdx="0" clrIdx="531"/>
  <p:cmAuthor id="533" name="qiuzq02" initials="q" lastIdx="0" clrIdx="532"/>
  <p:cmAuthor id="534" name="朱明霞" initials="朱" lastIdx="0" clrIdx="533"/>
  <p:cmAuthor id="535" name="Thomas Zeng" initials="T" lastIdx="0" clrIdx="534"/>
  <p:cmAuthor id="536" name="xiaoxuan Zeng" initials="x" lastIdx="0" clrIdx="535"/>
  <p:cmAuthor id="537" name="未知用户190" initials="未" lastIdx="0" clrIdx="536"/>
  <p:cmAuthor id="538" name="未知用户191" initials="未" lastIdx="0" clrIdx="537"/>
  <p:cmAuthor id="539" name="tcymr" initials="t" lastIdx="0" clrIdx="538"/>
  <p:cmAuthor id="540" name="未知用户194" initials="未" lastIdx="0" clrIdx="539"/>
  <p:cmAuthor id="541" name="未知用户80" initials="未" lastIdx="0" clrIdx="540"/>
  <p:cmAuthor id="542" name="未知用户212" initials="未" lastIdx="0" clrIdx="541"/>
  <p:cmAuthor id="543" name="叶茂甫" initials="叶" lastIdx="0" clrIdx="542"/>
  <p:cmAuthor id="544" name="Maxsad" initials="M" lastIdx="0" clrIdx="543"/>
  <p:cmAuthor id="545" name="黄 兴贵" initials="黄" lastIdx="0" clrIdx="544"/>
  <p:cmAuthor id="546" name="BIAN Mengyan" initials="B" lastIdx="0" clrIdx="545"/>
  <p:cmAuthor id="547" name="1" initials="1" lastIdx="0" clrIdx="546"/>
  <p:cmAuthor id="548" name="王芳" initials="王" lastIdx="0" clrIdx="547"/>
  <p:cmAuthor id="549" name="1qchengnan" initials="1" lastIdx="0" clrIdx="548"/>
  <p:cmAuthor id="550" name="office2016mac05452" initials="o" lastIdx="0" clrIdx="549"/>
  <p:cmAuthor id="551" name="杨 贺春" initials="杨" lastIdx="0" clrIdx="550"/>
  <p:cmAuthor id="552" name="超乎想象" initials="超" lastIdx="0" clrIdx="551"/>
  <p:cmAuthor id="553" name="未知用户338" initials="未" lastIdx="0" clrIdx="552"/>
  <p:cmAuthor id="554" name="未知用户339" initials="未" lastIdx="0" clrIdx="553"/>
  <p:cmAuthor id="555" name="未知用户330" initials="未" lastIdx="0" clrIdx="554"/>
  <p:cmAuthor id="556" name="未知用户331" initials="未" lastIdx="0" clrIdx="555"/>
  <p:cmAuthor id="557" name="未知用户223" initials="未" lastIdx="0" clrIdx="556"/>
  <p:cmAuthor id="558" name="未知用户225" initials="未" lastIdx="0" clrIdx="557"/>
  <p:cmAuthor id="559" name="未知用户228" initials="未" lastIdx="0" clrIdx="558"/>
  <p:cmAuthor id="560" name="未知用户314" initials="未" lastIdx="0" clrIdx="559"/>
  <p:cmAuthor id="561" name="曾蓓/贝贝" initials="曾" lastIdx="0" clrIdx="560"/>
  <p:cmAuthor id="562" name="未知用户337" initials="未" lastIdx="0" clrIdx="561"/>
  <p:cmAuthor id="563" name="未知用户336" initials="未" lastIdx="0" clrIdx="562"/>
  <p:cmAuthor id="564" name="未知用户318" initials="未" lastIdx="0" clrIdx="563"/>
  <p:cmAuthor id="565" name="未知用户319" initials="未" lastIdx="0" clrIdx="564"/>
  <p:cmAuthor id="566" name="未知用户320" initials="未" lastIdx="0" clrIdx="565"/>
  <p:cmAuthor id="567" name="未知用户321" initials="未" lastIdx="0" clrIdx="566"/>
  <p:cmAuthor id="568" name="未知用户322" initials="未" lastIdx="0" clrIdx="567"/>
  <p:cmAuthor id="569" name="未知用户323" initials="未" lastIdx="0" clrIdx="568"/>
  <p:cmAuthor id="570" name="未知用户287" initials="未" lastIdx="0" clrIdx="569"/>
  <p:cmAuthor id="571" name="未知用户324" initials="未" lastIdx="0" clrIdx="570"/>
  <p:cmAuthor id="572" name="未知用户325" initials="未" lastIdx="0" clrIdx="571"/>
  <p:cmAuthor id="573" name="未知用户290" initials="未" lastIdx="0" clrIdx="572"/>
  <p:cmAuthor id="574" name="未知用户291" initials="未" lastIdx="0" clrIdx="573"/>
  <p:cmAuthor id="575" name="未知用户292" initials="未" lastIdx="0" clrIdx="574"/>
  <p:cmAuthor id="576" name="未知用户293" initials="未" lastIdx="0" clrIdx="575"/>
  <p:cmAuthor id="577" name="未知用户294" initials="未" lastIdx="0" clrIdx="576"/>
  <p:cmAuthor id="578" name="未知用户295" initials="未" lastIdx="0" clrIdx="577"/>
  <p:cmAuthor id="579" name="未知用户326" initials="未" lastIdx="0" clrIdx="578"/>
  <p:cmAuthor id="580" name="未知用户327" initials="未" lastIdx="0" clrIdx="579"/>
  <p:cmAuthor id="581" name="未知用户328" initials="未" lastIdx="0" clrIdx="580"/>
  <p:cmAuthor id="582" name="未知用户299" initials="未" lastIdx="0" clrIdx="581"/>
  <p:cmAuthor id="583" name="未知用户300" initials="未" lastIdx="0" clrIdx="582"/>
  <p:cmAuthor id="584" name="未知用户301" initials="未" lastIdx="0" clrIdx="583"/>
  <p:cmAuthor id="585" name="未知用户302" initials="未" lastIdx="0" clrIdx="584"/>
  <p:cmAuthor id="586" name="未知用户303" initials="未" lastIdx="0" clrIdx="585"/>
  <p:cmAuthor id="587" name="未知用户304" initials="未" lastIdx="0" clrIdx="586"/>
  <p:cmAuthor id="588" name="未知用户305" initials="未" lastIdx="0" clrIdx="587"/>
  <p:cmAuthor id="589" name="未知用户306" initials="未" lastIdx="0" clrIdx="588"/>
  <p:cmAuthor id="590" name="未知用户222" initials="未" lastIdx="0" clrIdx="589"/>
  <p:cmAuthor id="591" name="未知用户224" initials="未" lastIdx="0" clrIdx="590"/>
  <p:cmAuthor id="592" name="未知用户332" initials="未" lastIdx="0" clrIdx="591"/>
  <p:cmAuthor id="593" name="未知用户309" initials="未" lastIdx="0" clrIdx="592"/>
  <p:cmAuthor id="594" name="未知用户310" initials="未" lastIdx="0" clrIdx="593"/>
  <p:cmAuthor id="595" name="未知用户311" initials="未" lastIdx="0" clrIdx="594"/>
  <p:cmAuthor id="596" name="未知用户312" initials="未" lastIdx="0" clrIdx="595"/>
  <p:cmAuthor id="597" name="未知用户313" initials="未" lastIdx="0" clrIdx="596"/>
  <p:cmAuthor id="598" name="未知用户335" initials="未" lastIdx="0" clrIdx="597"/>
  <p:cmAuthor id="599" name="未知用户316" initials="未" lastIdx="0" clrIdx="598"/>
  <p:cmAuthor id="600" name="未知用户277" initials="未" lastIdx="0" clrIdx="599"/>
  <p:cmAuthor id="601" name="未知用户278" initials="未" lastIdx="0" clrIdx="600"/>
  <p:cmAuthor id="602" name="未知用户272" initials="未" lastIdx="0" clrIdx="601"/>
  <p:cmAuthor id="603" name="未知用户273" initials="未" lastIdx="0" clrIdx="602"/>
  <p:cmAuthor id="604" name="未知用户279" initials="未" lastIdx="0" clrIdx="603"/>
  <p:cmAuthor id="605" name="未知用户233" initials="未" lastIdx="0" clrIdx="604"/>
  <p:cmAuthor id="606" name="未知用户229" initials="未" lastIdx="0" clrIdx="605"/>
  <p:cmAuthor id="607" name="未知用户234" initials="未" lastIdx="0" clrIdx="606"/>
  <p:cmAuthor id="608" name="未知用户274" initials="未" lastIdx="0" clrIdx="607"/>
  <p:cmAuthor id="609" name="未知用户236" initials="未" lastIdx="0" clrIdx="608"/>
  <p:cmAuthor id="610" name="未知用户280" initials="未" lastIdx="0" clrIdx="609"/>
  <p:cmAuthor id="611" name="未知用户238" initials="未" lastIdx="0" clrIdx="610"/>
  <p:cmAuthor id="612" name="未知用户239" initials="未" lastIdx="0" clrIdx="611"/>
  <p:cmAuthor id="613" name="未知用户240" initials="未" lastIdx="0" clrIdx="612"/>
  <p:cmAuthor id="614" name="未知用户241" initials="未" lastIdx="0" clrIdx="613"/>
  <p:cmAuthor id="615" name="未知用户242" initials="未" lastIdx="0" clrIdx="614"/>
  <p:cmAuthor id="616" name="未知用户243" initials="未" lastIdx="0" clrIdx="615"/>
  <p:cmAuthor id="617" name="未知用户244" initials="未" lastIdx="0" clrIdx="616"/>
  <p:cmAuthor id="618" name="未知用户245" initials="未" lastIdx="0" clrIdx="617"/>
  <p:cmAuthor id="619" name="未知用户246" initials="未" lastIdx="0" clrIdx="618"/>
  <p:cmAuthor id="620" name="未知用户247" initials="未" lastIdx="0" clrIdx="619"/>
  <p:cmAuthor id="621" name="未知用户248" initials="未" lastIdx="0" clrIdx="620"/>
  <p:cmAuthor id="622" name="未知用户249" initials="未" lastIdx="0" clrIdx="621"/>
  <p:cmAuthor id="623" name="未知用户250" initials="未" lastIdx="0" clrIdx="622"/>
  <p:cmAuthor id="624" name="未知用户251" initials="未" lastIdx="0" clrIdx="623"/>
  <p:cmAuthor id="625" name="未知用户252" initials="未" lastIdx="0" clrIdx="624"/>
  <p:cmAuthor id="626" name="未知用户253" initials="未" lastIdx="0" clrIdx="625"/>
  <p:cmAuthor id="627" name="未知用户254" initials="未" lastIdx="0" clrIdx="626"/>
  <p:cmAuthor id="628" name="未知用户255" initials="未" lastIdx="0" clrIdx="627"/>
  <p:cmAuthor id="629" name="未知用户256" initials="未" lastIdx="0" clrIdx="628"/>
  <p:cmAuthor id="630" name="未知用户257" initials="未" lastIdx="0" clrIdx="629"/>
  <p:cmAuthor id="631" name="未知用户258" initials="未" lastIdx="0" clrIdx="630"/>
  <p:cmAuthor id="632" name="未知用户259" initials="未" lastIdx="0" clrIdx="631"/>
  <p:cmAuthor id="633" name="未知用户260" initials="未" lastIdx="0" clrIdx="632"/>
  <p:cmAuthor id="634" name="未知用户275" initials="未" lastIdx="0" clrIdx="633"/>
  <p:cmAuthor id="635" name="未知用户276" initials="未" lastIdx="0" clrIdx="634"/>
  <p:cmAuthor id="636" name="未知用户263" initials="未" lastIdx="0" clrIdx="635"/>
  <p:cmAuthor id="637" name="未知用户264" initials="未" lastIdx="0" clrIdx="636"/>
  <p:cmAuthor id="638" name="未知用户265" initials="未" lastIdx="0" clrIdx="637"/>
  <p:cmAuthor id="639" name="未知用户266" initials="未" lastIdx="0" clrIdx="638"/>
  <p:cmAuthor id="640" name="未知用户267" initials="未" lastIdx="0" clrIdx="639"/>
  <p:cmAuthor id="641" name="未知用户268" initials="未" lastIdx="0" clrIdx="640"/>
  <p:cmAuthor id="642" name="未知用户269" initials="未" lastIdx="0" clrIdx="641"/>
  <p:cmAuthor id="643" name="未知用户270" initials="未" lastIdx="0" clrIdx="642"/>
  <p:cmAuthor id="644" name="未知用户193" initials="未" lastIdx="0" clrIdx="643"/>
  <p:cmAuthor id="645" name="未知用户195" initials="未" lastIdx="0" clrIdx="644"/>
  <p:cmAuthor id="646" name="未知用户196" initials="未" lastIdx="0" clrIdx="645"/>
  <p:cmAuthor id="647" name="未知用户358" initials="未" lastIdx="0" clrIdx="646"/>
  <p:cmAuthor id="648" name="未知用户359" initials="未" lastIdx="0" clrIdx="647"/>
  <p:cmAuthor id="649" name="未知用户360" initials="未" lastIdx="0" clrIdx="648"/>
  <p:cmAuthor id="650" name="未知用户361" initials="未" lastIdx="0" clrIdx="649"/>
  <p:cmAuthor id="651" name="未知用户364" initials="未" lastIdx="0" clrIdx="650"/>
  <p:cmAuthor id="652" name="未知用户288" initials="未" lastIdx="0" clrIdx="651"/>
  <p:cmAuthor id="653" name="未知用户297" initials="未" lastIdx="0" clrIdx="652"/>
  <p:cmAuthor id="654" name="未知用户298" initials="未" lastIdx="0" clrIdx="653"/>
  <p:cmAuthor id="655" name="未知用户307" initials="未" lastIdx="0" clrIdx="654"/>
  <p:cmAuthor id="656" name="未知用户308" initials="未" lastIdx="0" clrIdx="655"/>
  <p:cmAuthor id="657" name="未知用户315" initials="未" lastIdx="0" clrIdx="656"/>
  <p:cmAuthor id="658" name="未知用户317" initials="未" lastIdx="0" clrIdx="657"/>
  <p:cmAuthor id="659" name="未知用户329" initials="未" lastIdx="0" clrIdx="658"/>
  <p:cmAuthor id="660" name="未知用户333" initials="未" lastIdx="0" clrIdx="659"/>
  <p:cmAuthor id="661" name="未知用户334" initials="未" lastIdx="0" clrIdx="660"/>
  <p:cmAuthor id="662" name="未知用户340" initials="未" lastIdx="0" clrIdx="661"/>
  <p:cmAuthor id="663" name="未知用户341" initials="未" lastIdx="0" clrIdx="662"/>
  <p:cmAuthor id="664" name="未知用户342" initials="未" lastIdx="0" clrIdx="663"/>
  <p:cmAuthor id="665" name="未知用户343" initials="未" lastIdx="0" clrIdx="664"/>
  <p:cmAuthor id="666" name="未知用户344" initials="未" lastIdx="0" clrIdx="665"/>
  <p:cmAuthor id="667" name="未知用户345" initials="未" lastIdx="0" clrIdx="666"/>
  <p:cmAuthor id="668" name="未知用户365" initials="未" lastIdx="0" clrIdx="667"/>
  <p:cmAuthor id="669" name="未知用户366" initials="未" lastIdx="0" clrIdx="668"/>
  <p:cmAuthor id="670" name="未知用户367" initials="未" lastIdx="0" clrIdx="669"/>
  <p:cmAuthor id="671" name="未知用户368" initials="未" lastIdx="0" clrIdx="670"/>
  <p:cmAuthor id="672" name="未知用户403" initials="未" lastIdx="0" clrIdx="671"/>
  <p:cmAuthor id="673" name="未知用户402" initials="未" lastIdx="0" clrIdx="672"/>
  <p:cmAuthor id="674" name="未知用户379" initials="未" lastIdx="0" clrIdx="673"/>
  <p:cmAuthor id="675" name="未知用户380" initials="未" lastIdx="0" clrIdx="674"/>
  <p:cmAuthor id="676" name="未知用户405" initials="未" lastIdx="0" clrIdx="675"/>
  <p:cmAuthor id="677" name="未知用户382" initials="未" lastIdx="0" clrIdx="676"/>
  <p:cmAuthor id="678" name="未知用户383" initials="未" lastIdx="0" clrIdx="677"/>
  <p:cmAuthor id="679" name="未知用户384" initials="未" lastIdx="0" clrIdx="678"/>
  <p:cmAuthor id="680" name="未知用户385" initials="未" lastIdx="0" clrIdx="679"/>
  <p:cmAuthor id="681" name="未知用户386" initials="未" lastIdx="0" clrIdx="680"/>
  <p:cmAuthor id="682" name="未知用户387" initials="未" lastIdx="0" clrIdx="681"/>
  <p:cmAuthor id="683" name="未知用户388" initials="未" lastIdx="0" clrIdx="682"/>
  <p:cmAuthor id="684" name="未知用户411" initials="未" lastIdx="0" clrIdx="683"/>
  <p:cmAuthor id="685" name="未知用户389" initials="未" lastIdx="0" clrIdx="684"/>
  <p:cmAuthor id="686" name="未知用户390" initials="未" lastIdx="0" clrIdx="685"/>
  <p:cmAuthor id="687" name="未知用户391" initials="未" lastIdx="0" clrIdx="686"/>
  <p:cmAuthor id="688" name="未知用户392" initials="未" lastIdx="0" clrIdx="687"/>
  <p:cmAuthor id="689" name="未知用户393" initials="未" lastIdx="0" clrIdx="688"/>
  <p:cmAuthor id="690" name="未知用户394" initials="未" lastIdx="0" clrIdx="689"/>
  <p:cmAuthor id="691" name="未知用户395" initials="未" lastIdx="0" clrIdx="690"/>
  <p:cmAuthor id="692" name="未知用户396" initials="未" lastIdx="0" clrIdx="691"/>
  <p:cmAuthor id="693" name="未知用户406" initials="未" lastIdx="0" clrIdx="692"/>
  <p:cmAuthor id="694" name="未知用户397" initials="未" lastIdx="0" clrIdx="693"/>
  <p:cmAuthor id="695" name="未知用户407" initials="未" lastIdx="0" clrIdx="694"/>
  <p:cmAuthor id="696" name="未知用户398" initials="未" lastIdx="0" clrIdx="695"/>
  <p:cmAuthor id="697" name="未知用户399" initials="未" lastIdx="0" clrIdx="696"/>
  <p:cmAuthor id="698" name="未知用户400" initials="未" lastIdx="0" clrIdx="697"/>
  <p:cmAuthor id="699" name="未知用户401" initials="未" lastIdx="0" clrIdx="698"/>
  <p:cmAuthor id="700" name="未知用户420" initials="未" lastIdx="0" clrIdx="699"/>
  <p:cmAuthor id="701" name="未知用户421" initials="未" lastIdx="0" clrIdx="700"/>
  <p:cmAuthor id="702" name="未知用户422" initials="未" lastIdx="0" clrIdx="701"/>
  <p:cmAuthor id="703" name="未知用户423" initials="未" lastIdx="0" clrIdx="702"/>
  <p:cmAuthor id="704" name="未知用户424" initials="未" lastIdx="0" clrIdx="703"/>
  <p:cmAuthor id="705" name="未知用户419" initials="未" lastIdx="0" clrIdx="704"/>
  <p:cmAuthor id="706" name="未知用户425" initials="未" lastIdx="0" clrIdx="705"/>
  <p:cmAuthor id="707" name="未知用户426" initials="未" lastIdx="0" clrIdx="706"/>
  <p:cmAuthor id="708" name="未知用户427" initials="未" lastIdx="0" clrIdx="707"/>
  <p:cmAuthor id="709" name="未知用户428" initials="未" lastIdx="0" clrIdx="708"/>
  <p:cmAuthor id="710" name="未知用户429" initials="未" lastIdx="0" clrIdx="709"/>
  <p:cmAuthor id="711" name="未知用户430" initials="未" lastIdx="0" clrIdx="710"/>
  <p:cmAuthor id="712" name="未知用户431" initials="未" lastIdx="0" clrIdx="711"/>
  <p:cmAuthor id="713" name="未知用户432" initials="未" lastIdx="0" clrIdx="712"/>
  <p:cmAuthor id="714" name="未知用户433" initials="未" lastIdx="0" clrIdx="713"/>
  <p:cmAuthor id="715" name="未知用户434" initials="未" lastIdx="0" clrIdx="714"/>
  <p:cmAuthor id="716" name="未知用户435" initials="未" lastIdx="0" clrIdx="715"/>
  <p:cmAuthor id="717" name="未知用户436" initials="未" lastIdx="0" clrIdx="716"/>
  <p:cmAuthor id="718" name="未知用户437" initials="未" lastIdx="0" clrIdx="717"/>
  <p:cmAuthor id="719" name="未知用户438" initials="未" lastIdx="0" clrIdx="718"/>
  <p:cmAuthor id="720" name="未知用户417" initials="未" lastIdx="0" clrIdx="719"/>
  <p:cmAuthor id="721" name="未知用户439" initials="未" lastIdx="0" clrIdx="720"/>
  <p:cmAuthor id="722" name="未知用户440" initials="未" lastIdx="0" clrIdx="721"/>
  <p:cmAuthor id="723" name="未知用户441" initials="未" lastIdx="0" clrIdx="722"/>
  <p:cmAuthor id="724" name="未知用户442" initials="未" lastIdx="0" clrIdx="723"/>
  <p:cmAuthor id="725" name="未知用户443" initials="未" lastIdx="0" clrIdx="724"/>
  <p:cmAuthor id="726" name="未知用户444" initials="未" lastIdx="0" clrIdx="725"/>
  <p:cmAuthor id="727" name="未知用户445" initials="未" lastIdx="0" clrIdx="726"/>
  <p:cmAuthor id="728" name="未知用户446" initials="未" lastIdx="0" clrIdx="727"/>
  <p:cmAuthor id="729" name="未知用户447" initials="未" lastIdx="0" clrIdx="728"/>
  <p:cmAuthor id="730" name="未知用户448" initials="未" lastIdx="0" clrIdx="729"/>
  <p:cmAuthor id="731" name="谢静波" initials="谢" lastIdx="0" clrIdx="730"/>
  <p:cmAuthor id="732" name="zcy" initials="z" lastIdx="0" clrIdx="731"/>
  <p:cmAuthor id="733" name="zhang li" initials="z" lastIdx="0" clrIdx="732"/>
  <p:cmAuthor id="734" name="崔艳鹏" initials="崔" lastIdx="0" clrIdx="733"/>
  <p:cmAuthor id="735" name="姓 汤旭铭" initials="姓" lastIdx="0" clrIdx="734"/>
  <p:cmAuthor id="736" name="DELL" initials="D" lastIdx="0" clrIdx="735"/>
  <p:cmAuthor id="737" name="cs" initials="c" lastIdx="0" clrIdx="736"/>
  <p:cmAuthor id="738" name="wfbs" initials="w" lastIdx="0" clrIdx="737"/>
  <p:cmAuthor id="739" name="123" initials="1" lastIdx="0" clrIdx="738"/>
  <p:cmAuthor id="740" name="刘雷" initials="刘" lastIdx="0" clrIdx="739"/>
  <p:cmAuthor id="741" name="8613250766486" initials="8" lastIdx="0" clrIdx="740"/>
  <p:cmAuthor id="742" name="丁喆彤" initials="丁" lastIdx="0" clrIdx="741"/>
  <p:cmAuthor id="743" name="未知用户3" initials="未" lastIdx="0" clrIdx="742"/>
  <p:cmAuthor id="744" name="Eliva Sun" initials="E" lastIdx="0" clrIdx="743"/>
  <p:cmAuthor id="745" name="张辉" initials="张" lastIdx="0" clrIdx="744"/>
  <p:cmAuthor id="746" name="hainan zheng" initials="h" lastIdx="0" clrIdx="745"/>
  <p:cmAuthor id="747" name="gayxb" initials="g" lastIdx="0" clrIdx="746"/>
  <p:cmAuthor id="748" name="Huangx" initials="H" lastIdx="0" clrIdx="747"/>
  <p:cmAuthor id="749" name="Linjing" initials="L" lastIdx="0" clrIdx="748"/>
  <p:cmAuthor id="750" name="liuyin-lnm" initials="l" lastIdx="0" clrIdx="749"/>
  <p:cmAuthor id="751" name="殷 积波" initials="殷" lastIdx="0" clrIdx="750"/>
  <p:cmAuthor id="752" name="未知用户66" initials="未" lastIdx="0" clrIdx="751"/>
  <p:cmAuthor id="753" name="林玲 郑" initials="林" lastIdx="0" clrIdx="752"/>
  <p:cmAuthor id="754" name="554154816@qq.com" initials="5" lastIdx="0" clrIdx="753"/>
  <p:cmAuthor id="755" name="未知用户192" initials="未" lastIdx="0" clrIdx="754"/>
  <p:cmAuthor id="756" name="陈帅" initials="陈" lastIdx="0" clrIdx="755"/>
  <p:cmAuthor id="757" name="wtt" initials="w" lastIdx="0" clrIdx="756"/>
  <p:cmAuthor id="758" name="Wang, Cherry-J" initials="W" lastIdx="0" clrIdx="757"/>
  <p:cmAuthor id="759" name="赵博洋(L. D.)" initials="赵" lastIdx="0" clrIdx="758"/>
  <p:cmAuthor id="760" name="sizx" initials="s" lastIdx="0" clrIdx="759"/>
  <p:cmAuthor id="761" name="雨林木风" initials="雨" lastIdx="0" clrIdx="760"/>
  <p:cmAuthor id="762" name="张洁01-lhq" initials="张" lastIdx="0" clrIdx="761"/>
  <p:cmAuthor id="763" name="池依曼" initials="池" lastIdx="0" clrIdx="762"/>
  <p:cmAuthor id="764" name="未知用户219" initials="未" lastIdx="0" clrIdx="763"/>
  <p:cmAuthor id="765" name="未知用户230" initials="未" lastIdx="0" clrIdx="764"/>
  <p:cmAuthor id="766" name="未知用户231" initials="未" lastIdx="0" clrIdx="765"/>
  <p:cmAuthor id="767" name="未知用户232" initials="未" lastIdx="0" clrIdx="766"/>
  <p:cmAuthor id="768" name="未知用户237" initials="未" lastIdx="0" clrIdx="767"/>
  <p:cmAuthor id="769" name="未知用户226" initials="未" lastIdx="0" clrIdx="768"/>
  <p:cmAuthor id="770" name="亚运 曹" initials="亚" lastIdx="0" clrIdx="769"/>
  <p:cmAuthor id="771" name="lp" initials="l" lastIdx="0" clrIdx="770"/>
  <p:cmAuthor id="772" name="张正明" initials="张" lastIdx="0" clrIdx="771"/>
  <p:cmAuthor id="773" name="FANG SUN" initials="F" lastIdx="0" clrIdx="772"/>
  <p:cmAuthor id="774" name="富德生命人寿" initials="富" lastIdx="0" clrIdx="773"/>
  <p:cmAuthor id="775" name="未知用户416" initials="未" lastIdx="0" clrIdx="774"/>
  <p:cmAuthor id="776" name="未知用户404" initials="未" lastIdx="0" clrIdx="775"/>
  <p:cmAuthor id="777" name="未知用户408" initials="未" lastIdx="0" clrIdx="776"/>
  <p:cmAuthor id="778" name="未知用户409" initials="未" lastIdx="0" clrIdx="777"/>
  <p:cmAuthor id="779" name="未知用户412" initials="未" lastIdx="0" clrIdx="778"/>
  <p:cmAuthor id="780" name="未知用户413" initials="未" lastIdx="0" clrIdx="779"/>
  <p:cmAuthor id="781" name="未知用户414" initials="未" lastIdx="0" clrIdx="780"/>
  <p:cmAuthor id="782" name="未知用户415" initials="未" lastIdx="0" clrIdx="781"/>
  <p:cmAuthor id="783" name="未知用户215" initials="未" lastIdx="0" clrIdx="782"/>
  <p:cmAuthor id="784" name="未知用户217" initials="未" lastIdx="0" clrIdx="783"/>
  <p:cmAuthor id="785" name="未知用户261" initials="未" lastIdx="0" clrIdx="784"/>
  <p:cmAuthor id="786" name="未知用户371" initials="未" lastIdx="0" clrIdx="785"/>
  <p:cmAuthor id="787" name="未知用户370" initials="未" lastIdx="0" clrIdx="786"/>
  <p:cmAuthor id="788" name="未知用户347" initials="未" lastIdx="0" clrIdx="787"/>
  <p:cmAuthor id="789" name="未知用户348" initials="未" lastIdx="0" clrIdx="788"/>
  <p:cmAuthor id="790" name="未知用户286" initials="未" lastIdx="0" clrIdx="789"/>
  <p:cmAuthor id="791" name="未知用户373" initials="未" lastIdx="0" clrIdx="790"/>
  <p:cmAuthor id="792" name="未知用户350" initials="未" lastIdx="0" clrIdx="791"/>
  <p:cmAuthor id="793" name="未知用户218" initials="未" lastIdx="0" clrIdx="792"/>
  <p:cmAuthor id="794" name="未知用户351" initials="未" lastIdx="0" clrIdx="793"/>
  <p:cmAuthor id="795" name="未知用户352" initials="未" lastIdx="0" clrIdx="794"/>
  <p:cmAuthor id="796" name="未知用户353" initials="未" lastIdx="0" clrIdx="795"/>
  <p:cmAuthor id="797" name="未知用户354" initials="未" lastIdx="0" clrIdx="796"/>
  <p:cmAuthor id="798" name="未知用户355" initials="未" lastIdx="0" clrIdx="797"/>
  <p:cmAuthor id="799" name="未知用户356" initials="未" lastIdx="0" clrIdx="798"/>
  <p:cmAuthor id="800" name="未知用户378" initials="未" lastIdx="0" clrIdx="799"/>
  <p:cmAuthor id="801" name="未知用户357" initials="未" lastIdx="0" clrIdx="800"/>
  <p:cmAuthor id="802" name="未知用户362" initials="未" lastIdx="0" clrIdx="801"/>
  <p:cmAuthor id="803" name="未知用户363" initials="未" lastIdx="0" clrIdx="802"/>
  <p:cmAuthor id="804" name="未知用户374" initials="未" lastIdx="0" clrIdx="803"/>
  <p:cmAuthor id="805" name="未知用户375" initials="未" lastIdx="0" clrIdx="804"/>
  <p:cmAuthor id="806" name="未知用户369" initials="未" lastIdx="0" clrIdx="805"/>
  <p:cmAuthor id="807" name="未知用户376" initials="未" lastIdx="0" clrIdx="806"/>
  <p:cmAuthor id="808" name="未知用户377" initials="未" lastIdx="0" clrIdx="807"/>
  <p:cmAuthor id="809" name="未知用户372" initials="未" lastIdx="0" clrIdx="808"/>
  <p:cmAuthor id="810" name="laobao" initials="l" lastIdx="0" clrIdx="809"/>
  <p:cmAuthor id="811" name="未知用户451" initials="未" lastIdx="0" clrIdx="810"/>
  <p:cmAuthor id="812" name="未知用户466" initials="未" lastIdx="0" clrIdx="811"/>
  <p:cmAuthor id="813" name="未知用户460" initials="未" lastIdx="0" clrIdx="812"/>
  <p:cmAuthor id="814" name="未知用户454" initials="未" lastIdx="0" clrIdx="813"/>
  <p:cmAuthor id="815" name="未知用户461" initials="未" lastIdx="0" clrIdx="814"/>
  <p:cmAuthor id="816" name="未知用户455" initials="未" lastIdx="0" clrIdx="815"/>
  <p:cmAuthor id="817" name="未知用户462" initials="未" lastIdx="0" clrIdx="816"/>
  <p:cmAuthor id="818" name="未知用户465" initials="未" lastIdx="0" clrIdx="817"/>
  <p:cmAuthor id="819" name="未知用户457" initials="未" lastIdx="0" clrIdx="818"/>
  <p:cmAuthor id="820" name="未知用户450" initials="未" lastIdx="0" clrIdx="819"/>
  <p:cmAuthor id="821" name="未知用户463" initials="未" lastIdx="0" clrIdx="820"/>
  <p:cmAuthor id="822" name="未知用户467" initials="未" lastIdx="0" clrIdx="821"/>
  <p:cmAuthor id="823" name="未知用户468" initials="未" lastIdx="0" clrIdx="822"/>
  <p:cmAuthor id="824" name="未知用户469" initials="未" lastIdx="0" clrIdx="823"/>
  <p:cmAuthor id="825" name="未知用户458" initials="未" lastIdx="0" clrIdx="824"/>
  <p:cmAuthor id="826" name="未知用户470" initials="未" lastIdx="0" clrIdx="825"/>
  <p:cmAuthor id="827" name="未知用户471" initials="未" lastIdx="0" clrIdx="826"/>
  <p:cmAuthor id="828" name="未知用户472" initials="未" lastIdx="0" clrIdx="827"/>
  <p:cmAuthor id="829" name="未知用户473" initials="未" lastIdx="0" clrIdx="828"/>
  <p:cmAuthor id="830" name="未知用户235" initials="未" lastIdx="0" clrIdx="829"/>
  <p:cmAuthor id="831" name="未知用户453" initials="未" lastIdx="0" clrIdx="830"/>
  <p:cmAuthor id="832" name="未知用户474" initials="未" lastIdx="0" clrIdx="831"/>
  <p:cmAuthor id="833" name="未知用户475" initials="未" lastIdx="0" clrIdx="832"/>
  <p:cmAuthor id="834" name="未知用户476" initials="未" lastIdx="0" clrIdx="833"/>
  <p:cmAuthor id="835" name="谢 东林" initials="谢" lastIdx="0" clrIdx="834"/>
  <p:cmAuthor id="836" name="未知用户459" initials="未" lastIdx="0" clrIdx="835"/>
  <p:cmAuthor id="837" name="伟哥" initials="伟哥" lastIdx="0" clrIdx="836"/>
  <p:cmAuthor id="838" name="未知用户489" initials="未" lastIdx="0" clrIdx="837"/>
  <p:cmAuthor id="839" name="孙 澍" initials="孙" lastIdx="0" clrIdx="838"/>
  <p:cmAuthor id="840" name="未知用户488" initials="未" lastIdx="0" clrIdx="839"/>
  <p:cmAuthor id="841" name="Laptop Go" initials="L" lastIdx="0" clrIdx="840"/>
  <p:cmAuthor id="842" name="未知用户490" initials="未" lastIdx="0" clrIdx="841"/>
  <p:cmAuthor id="843" name="何子文" initials="何子文" lastIdx="0" clrIdx="842"/>
  <p:cmAuthor id="844" name="未知用户477" initials="未" lastIdx="0" clrIdx="843"/>
  <p:cmAuthor id="845" name="余森" initials="余森" lastIdx="0" clrIdx="844"/>
  <p:cmAuthor id="846" name="未知用户478" initials="未" lastIdx="0" clrIdx="845"/>
  <p:cmAuthor id="847" name="陈中桃" initials="陈中桃" lastIdx="0" clrIdx="846"/>
  <p:cmAuthor id="848" name="未知用户479" initials="未" lastIdx="0" clrIdx="847"/>
  <p:cmAuthor id="849" name="肖琼" initials="肖琼" lastIdx="0" clrIdx="848"/>
  <p:cmAuthor id="850" name="未知用户480" initials="未" lastIdx="0" clrIdx="849"/>
  <p:cmAuthor id="851" name="小乐崽子" initials="小乐崽子" lastIdx="0" clrIdx="850"/>
  <p:cmAuthor id="852" name="未知用户481" initials="未" lastIdx="0" clrIdx="851"/>
  <p:cmAuthor id="853" name="未知用户482" initials="未" lastIdx="0" clrIdx="852"/>
  <p:cmAuthor id="854" name="未知用户483" initials="未" lastIdx="0" clrIdx="853"/>
  <p:cmAuthor id="855" name="未知用户484" initials="未" lastIdx="0" clrIdx="854"/>
  <p:cmAuthor id="856" name="未知用户485" initials="未" lastIdx="0" clrIdx="855"/>
  <p:cmAuthor id="857" name="未知用户486" initials="未" lastIdx="0" clrIdx="856"/>
  <p:cmAuthor id="858" name="未知用户452" initials="未" lastIdx="0" clrIdx="857"/>
  <p:cmAuthor id="859" name="未知用户456" initials="未" lastIdx="0" clrIdx="858"/>
  <p:cmAuthor id="860" name="未知用户464" initials="未" lastIdx="0" clrIdx="859"/>
  <p:cmAuthor id="861" name="未知用户487" initials="未" lastIdx="0" clrIdx="860"/>
  <p:cmAuthor id="862" name="部室管理员/软件开发中心/总行机关/ABC" initials="部" lastIdx="0" clrIdx="861"/>
  <p:cmAuthor id="863" name="李静" initials="李" lastIdx="0" clrIdx="862"/>
  <p:cmAuthor id="864" name="James Conard" initials="J" lastIdx="0" clrIdx="863"/>
  <p:cmAuthor id="865" name="阿坤" initials="阿" lastIdx="0" clrIdx="864"/>
  <p:cmAuthor id="866" name="hee-lhb" initials="h" lastIdx="0" clrIdx="865"/>
  <p:cmAuthor id="867" name="seki" initials="s" lastIdx="0" clrIdx="866"/>
  <p:cmAuthor id="868" name="HUAWEI" initials="H" lastIdx="0" clrIdx="867"/>
  <p:cmAuthor id="869" name="daliang xu" initials="d" lastIdx="0" clrIdx="868"/>
  <p:cmAuthor id="870" name="刘凯欣" initials="刘" lastIdx="0" clrIdx="869"/>
  <p:cmAuthor id="871" name="未知用户92" initials="未" lastIdx="0" clrIdx="870"/>
  <p:cmAuthor id="872" name="Chinalife_Cz" initials="C" lastIdx="0" clrIdx="871"/>
  <p:cmAuthor id="873" name="asuspc" initials="a" lastIdx="0" clrIdx="872"/>
  <p:cmAuthor id="874" name="李昀东" initials="李" lastIdx="0" clrIdx="873"/>
  <p:cmAuthor id="875" name="未知用户52" initials="未" lastIdx="0" clrIdx="874"/>
  <p:cmAuthor id="876" name="未知用户57" initials="未" lastIdx="0" clrIdx="875"/>
  <p:cmAuthor id="877" name="闪电杰尼" initials="闪" lastIdx="0" clrIdx="876"/>
  <p:cmAuthor id="878" name="未知用户83" initials="未" lastIdx="0" clrIdx="877"/>
  <p:cmAuthor id="879" name="未知用户106" initials="未" lastIdx="0" clrIdx="878"/>
  <p:cmAuthor id="880" name="未知用户107" initials="未" lastIdx="0" clrIdx="879"/>
  <p:cmAuthor id="881" name="未知用户109" initials="未" lastIdx="0" clrIdx="880"/>
  <p:cmAuthor id="882" name="未知用户111" initials="未" lastIdx="0" clrIdx="881"/>
  <p:cmAuthor id="883" name="未知用户112" initials="未" lastIdx="0" clrIdx="882"/>
  <p:cmAuthor id="884" name="未知用户113" initials="未" lastIdx="0" clrIdx="883"/>
  <p:cmAuthor id="885" name="姜伟光" initials="姜" lastIdx="0" clrIdx="884"/>
  <p:cmAuthor id="886" name="宋洁然" initials="宋" lastIdx="0" clrIdx="885"/>
  <p:cmAuthor id="887" name="ming qiu" initials="m" lastIdx="0" clrIdx="886"/>
  <p:cmAuthor id="888" name="Eileen Yi" initials="E" lastIdx="0" clrIdx="887"/>
  <p:cmAuthor id="889" name="未知用户410" initials="未" lastIdx="0" clrIdx="888"/>
  <p:cmAuthor id="890" name="kp l" initials="k" lastIdx="0" clrIdx="889"/>
  <p:cmAuthor id="891" name="wangqi01-lhe" initials="w" lastIdx="0" clrIdx="890"/>
  <p:cmAuthor id="892" name="ae2000" initials="a" lastIdx="0" clrIdx="891"/>
  <p:cmAuthor id="893" name="张麒麟" initials="张" lastIdx="0" clrIdx="892"/>
  <p:cmAuthor id="894" name="16104" initials="1" lastIdx="0" clrIdx="893"/>
  <p:cmAuthor id="895" name="Abel" initials="A" lastIdx="0" clrIdx="894"/>
  <p:cmAuthor id="896" name="xq" initials="x" lastIdx="0" clrIdx="895"/>
  <p:cmAuthor id="897" name="jinxin" initials="j" lastIdx="0" clrIdx="896"/>
  <p:cmAuthor id="898" name="刘莹" initials="刘" lastIdx="0" clrIdx="897"/>
  <p:cmAuthor id="899" name="hasee" initials="h" lastIdx="0" clrIdx="898"/>
  <p:cmAuthor id="900" name="贝贝ai猪" initials="贝" lastIdx="0" clrIdx="899"/>
  <p:cmAuthor id="901" name="未知用户42" initials="未" lastIdx="0" clrIdx="900"/>
  <p:cmAuthor id="902" name="高飞" initials="高" lastIdx="0" clrIdx="901"/>
  <p:cmAuthor id="903" name="sdzz-syy" initials="s" lastIdx="0" clrIdx="902"/>
  <p:cmAuthor id="904" name="xzb1" initials="x" lastIdx="0" clrIdx="903"/>
  <p:cmAuthor id="905" name="谢俊/技术总监室/软件开发中心/总行机关/ABC" initials="谢" lastIdx="0" clrIdx="904"/>
  <p:cmAuthor id="906" name="CN=谢俊/OU=技术总监室/OU=软件开发中心/OU=总行机关/O=ABC" initials="C" lastIdx="0" clrIdx="905"/>
  <p:cmAuthor id="907" name="wpp" initials="w" lastIdx="0" clrIdx="906"/>
  <p:cmAuthor id="908" name="nieyp" initials="n" lastIdx="0" clrIdx="907"/>
  <p:cmAuthor id="909" name="wang xin" initials="w" lastIdx="0" clrIdx="908"/>
  <p:cmAuthor id="910" name="Virginia" initials="V" lastIdx="0" clrIdx="909"/>
  <p:cmAuthor id="911" name="chinalife" initials="c" lastIdx="0" clrIdx="910"/>
  <p:cmAuthor id="912" name="wangsc" initials="w" lastIdx="0" clrIdx="911"/>
  <p:cmAuthor id="913" name="tk-taiyuan" initials="t" lastIdx="0" clrIdx="912"/>
  <p:cmAuthor id="914" name="chenzheng4" initials="c" lastIdx="0" clrIdx="913"/>
  <p:cmAuthor id="915" name="王 震环" initials="王" lastIdx="0" clrIdx="914"/>
  <p:cmAuthor id="916" name="郄 琰" initials="郄" lastIdx="0" clrIdx="915"/>
  <p:cmAuthor id="917" name="T K" initials="T" lastIdx="0" clrIdx="916"/>
  <p:cmAuthor id="918" name="Saku Uchikawa" initials="S" lastIdx="0" clrIdx="917"/>
  <p:cmAuthor id="919" name="nie_y" initials="n" lastIdx="0" clrIdx="918"/>
  <p:cmAuthor id="920" name="bc" initials="b" lastIdx="0" clrIdx="919"/>
  <p:cmAuthor id="921" name="林慧娴" initials="林" lastIdx="0" clrIdx="920"/>
  <p:cmAuthor id="922" name="Localadmin" initials="L" lastIdx="0" clrIdx="921"/>
  <p:cmAuthor id="923" name="刘 帅" initials="刘" lastIdx="0" clrIdx="922"/>
  <p:cmAuthor id="924" name="martin" initials="m" lastIdx="0" clrIdx="923"/>
  <p:cmAuthor id="925" name="qin yu" initials="q" lastIdx="0" clrIdx="924"/>
  <p:cmAuthor id="926" name="沈 秀敏" initials="沈" lastIdx="0" clrIdx="925"/>
  <p:cmAuthor id="927" name="绮莹 谭" initials="绮" lastIdx="0" clrIdx="926"/>
  <p:cmAuthor id="928" name="李建阳（内蒙古英才管培生）" initials="李" lastIdx="0" clrIdx="927"/>
  <p:cmAuthor id="929" name="马靖松" initials="马" lastIdx="0" clrIdx="928"/>
  <p:cmAuthor id="930" name="pingchangxin@outlook.com LI" initials="p" lastIdx="0" clrIdx="929"/>
  <p:cmAuthor id="931" name="张晓燕(内蒙古巴彦淖尔)" initials="张" lastIdx="0" clrIdx="930"/>
  <p:cmAuthor id="932" name="金鱼·张晨·远想·项目经理" initials="金" lastIdx="0" clrIdx="931"/>
  <p:cmAuthor id="933" name="王凯" initials="王" lastIdx="0" clrIdx="932"/>
  <p:cmAuthor id="934" name="JOHNNY GAO" initials="JG" lastIdx="0" clrIdx="933"/>
  <p:cmAuthor id="935" name="江 玲" initials="江" lastIdx="0" clrIdx="934"/>
  <p:cmAuthor id="936" name="万小龙" initials="万" lastIdx="0" clrIdx="935"/>
  <p:cmAuthor id="937" name="liuxin" initials="liuxin" lastIdx="0" clrIdx="936"/>
  <p:cmAuthor id="938" name="LUO CHENG" initials="L" lastIdx="0" clrIdx="937"/>
  <p:cmAuthor id="939" name="scx" initials="s" lastIdx="0" clrIdx="938"/>
  <p:cmAuthor id="940" name="shenyanning-001" initials="s" lastIdx="0" clrIdx="939"/>
  <p:cmAuthor id="941" name="lipengfei01111@outlook.com" initials="l" lastIdx="0" clrIdx="940"/>
  <p:cmAuthor id="942" name="wangyang0308" initials="w" lastIdx="0" clrIdx="941"/>
  <p:cmAuthor id="943" name="Evander Wan" initials="E" lastIdx="0" clrIdx="942"/>
  <p:cmAuthor id="944" name="沈琪-pbj" initials="沈" lastIdx="0" clrIdx="943"/>
  <p:cmAuthor id="945" name="Simon Camp" initials="S" lastIdx="0" clrIdx="944"/>
  <p:cmAuthor id="946" name="郭佳宏" initials="郭" lastIdx="0" clrIdx="945"/>
  <p:cmAuthor id="947" name="先生 叶" initials="先" lastIdx="0" clrIdx="946"/>
  <p:cmAuthor id="948" name="何兴胜" initials="何" lastIdx="0" clrIdx="947"/>
  <p:cmAuthor id="949" name="hh" initials="h" lastIdx="0" clrIdx="948"/>
  <p:cmAuthor id="950" name="273839920@qq.com" initials="2" lastIdx="0" clrIdx="949"/>
  <p:cmAuthor id="951" name="H1900" initials="H" lastIdx="0" clrIdx="950"/>
  <p:cmAuthor id="952" name="Hope0187" initials="H" lastIdx="0" clrIdx="951"/>
  <p:cmAuthor id="953" name="靖千 罗" initials="靖" lastIdx="0" clrIdx="952"/>
  <p:cmAuthor id="954" name="舒迪" initials="舒" lastIdx="0" clrIdx="953"/>
  <p:cmAuthor id="955" name="cindy.yi.huang@hsbc.com.cn" initials="c" lastIdx="0" clrIdx="954"/>
  <p:cmAuthor id="956" name="cindyhycai@hsbc.com.cn" initials="c" lastIdx="0" clrIdx="955"/>
  <p:cmAuthor id="957" name="bai bai" initials="b" lastIdx="0" clrIdx="956"/>
  <p:cmAuthor id="958" name="滕杰" initials="滕" lastIdx="0" clrIdx="957"/>
  <p:cmAuthor id="959" name="Cpic" initials="C" lastIdx="0" clrIdx="958"/>
  <p:cmAuthor id="960" name="肖雪杉" initials="肖" lastIdx="0" clrIdx="959"/>
  <p:cmAuthor id="961" name="小田" initials="小" lastIdx="0" clrIdx="960"/>
  <p:cmAuthor id="962" name="dellwin" initials="d" lastIdx="0" clrIdx="961"/>
  <p:cmAuthor id="963" name="Wangzhi gang" initials="W" lastIdx="0" clrIdx="962"/>
  <p:cmAuthor id="964" name="张 凯" initials="张" lastIdx="0" clrIdx="963"/>
  <p:cmAuthor id="965" name="韩喆权" initials="韩" lastIdx="0" clrIdx="964"/>
  <p:cmAuthor id="966" name="CNTP" initials="C" lastIdx="0" clrIdx="965"/>
  <p:cmAuthor id="967" name="李柯然" initials="李" lastIdx="0" clrIdx="966"/>
  <p:cmAuthor id="968" name="LENOVO" initials="L" lastIdx="0" clrIdx="967"/>
  <p:cmAuthor id="969" name="巧克力" initials="巧" lastIdx="0" clrIdx="968"/>
  <p:cmAuthor id="970" name="王玉" initials="王" lastIdx="0" clrIdx="969"/>
  <p:cmAuthor id="971" name="Ming Zuo" initials="M" lastIdx="0" clrIdx="970"/>
  <p:cmAuthor id="972" name="yuxue" initials="y" lastIdx="0" clrIdx="971"/>
  <p:cmAuthor id="973" name="wangyi" initials="w" lastIdx="0" clrIdx="972"/>
  <p:cmAuthor id="974" name="张星-lgd" initials="张" lastIdx="0" clrIdx="973"/>
  <p:cmAuthor id="975" name="dreamsummit" initials="d" lastIdx="0" clrIdx="974"/>
  <p:cmAuthor id="976" name="张 博" initials="张" lastIdx="0" clrIdx="975"/>
  <p:cmAuthor id="977" name="LS" initials="L" lastIdx="0" clrIdx="976"/>
  <p:cmAuthor id="978" name="Morgan, Aaron" initials="M" lastIdx="0" clrIdx="977"/>
  <p:cmAuthor id="979" name="weige" initials="w" lastIdx="0" clrIdx="978"/>
  <p:cmAuthor id="980" name="chen" initials="c" lastIdx="0" clrIdx="979"/>
  <p:cmAuthor id="981" name="李 俊琦" initials="李" lastIdx="0" clrIdx="980"/>
  <p:cmAuthor id="982" name="沈 鹤" initials="沈" lastIdx="0" clrIdx="981"/>
  <p:cmAuthor id="983" name="CPIC" initials="C" lastIdx="0" clrIdx="982"/>
  <p:cmAuthor id="984" name="jilin" initials="j" lastIdx="0" clrIdx="983"/>
  <p:cmAuthor id="985" name="钱 伟强" initials="钱" lastIdx="0" clrIdx="984"/>
  <p:cmAuthor id="986" name="王保青-pah" initials="王" lastIdx="0" clrIdx="985"/>
  <p:cmAuthor id="987" name="Luo Mingjie" initials="L" lastIdx="0" clrIdx="986"/>
  <p:cmAuthor id="988" name="Jason Li" initials="J" lastIdx="0" clrIdx="987"/>
  <p:cmAuthor id="989" name="duxingge" initials="d" lastIdx="0" clrIdx="988"/>
  <p:cmAuthor id="990" name="超'S 康皮呦特儿" initials="超" lastIdx="0" clrIdx="989"/>
  <p:cmAuthor id="991" name="yingchao xi" initials="y" lastIdx="0" clrIdx="990"/>
  <p:cmAuthor id="992" name="depeng diao" initials="d" lastIdx="0" clrIdx="991"/>
  <p:cmAuthor id="993" name="amyzhang" initials="a" lastIdx="0" clrIdx="992"/>
  <p:cmAuthor id="994" name="JerryW" initials="J" lastIdx="0" clrIdx="993"/>
  <p:cmAuthor id="995" name="施普希（菜菜）" initials="施" lastIdx="0" clrIdx="994"/>
  <p:cmAuthor id="996" name="shenyy" initials="s" lastIdx="0" clrIdx="995"/>
  <p:cmAuthor id="997" name="曹 朝辉" initials="曹" lastIdx="0" clrIdx="996"/>
  <p:cmAuthor id="998" name="Jason Cheung" initials="J" lastIdx="0" clrIdx="997"/>
  <p:cmAuthor id="999" name="穆 峯" initials="穆" lastIdx="0" clrIdx="998"/>
  <p:cmAuthor id="1000" name="刘笑" initials="刘" lastIdx="0" clrIdx="999"/>
  <p:cmAuthor id="1001" name="admini" initials="a" lastIdx="0" clrIdx="1000"/>
  <p:cmAuthor id="1002" name="Maggie" initials="M" lastIdx="0" clrIdx="1001"/>
  <p:cmAuthor id="1003" name="rhpx" initials="r" lastIdx="0" clrIdx="1002"/>
  <p:cmAuthor id="1004" name="lvpd" initials="l" lastIdx="0" clrIdx="1003"/>
  <p:cmAuthor id="1005" name="陈健" initials="陈" lastIdx="0" clrIdx="1004"/>
  <p:cmAuthor id="1006" name="石磊" initials="石磊" lastIdx="0" clrIdx="1005"/>
  <p:cmAuthor id="1007" name="wangjing48" initials="w" lastIdx="0" clrIdx="1006"/>
  <p:cmAuthor id="1008" name="Think" initials="T" lastIdx="0" clrIdx="1007"/>
  <p:cmAuthor id="1009" name="王岩" initials="王" lastIdx="0" clrIdx="1008"/>
  <p:cmAuthor id="1010" name="shenxz07" initials="s" lastIdx="0" clrIdx="1009"/>
  <p:cmAuthor id="1011" name="hancy09" initials="h" lastIdx="0" clrIdx="1010"/>
  <p:cmAuthor id="1012" name="zuohm" initials="z" lastIdx="0" clrIdx="1011"/>
  <p:cmAuthor id="1013" name="qianyang03" initials="1" lastIdx="0" clrIdx="1012"/>
  <p:cmAuthor id="1014" name="Alina" initials="A" lastIdx="0" clrIdx="1013"/>
  <p:cmAuthor id="1015" name="gucy05" initials="g" lastIdx="0" clrIdx="1014"/>
  <p:cmAuthor id="1016" name="lizhuo07" initials="l" lastIdx="0" clrIdx="1015"/>
  <p:cmAuthor id="1017" name="yangshh" initials="y" lastIdx="0" clrIdx="10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B"/>
    <a:srgbClr val="C2ADC8"/>
    <a:srgbClr val="FDDEC2"/>
    <a:srgbClr val="B3D4C6"/>
    <a:srgbClr val="7FA3C4"/>
    <a:srgbClr val="F5B28C"/>
    <a:srgbClr val="FDFAF7"/>
    <a:srgbClr val="FFFFFF"/>
    <a:srgbClr val="C3B6B0"/>
    <a:srgbClr val="8BA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BA94A2-B4D1-4139-AB1E-B5F043BDEF2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4660"/>
  </p:normalViewPr>
  <p:slideViewPr>
    <p:cSldViewPr snapToGrid="0" showGuides="1">
      <p:cViewPr>
        <p:scale>
          <a:sx n="140" d="100"/>
          <a:sy n="140" d="100"/>
        </p:scale>
        <p:origin x="128" y="156"/>
      </p:cViewPr>
      <p:guideLst>
        <p:guide orient="horz" pos="2160"/>
        <p:guide pos="3824"/>
        <p:guide pos="7226"/>
        <p:guide pos="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7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ocuments\&#23376;&#31649;\2026&#32463;&#33829;&#25253;&#21578;\2026&#24180;4&#26376;&#20998;&#26512;\&#12304;2026&#24180;4&#26376;&#12305;&#32463;&#33829;&#25968;&#25454;.et" TargetMode="External"/></Relationships>
</file>

<file path=ppt/charts/_rels/chart46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HUAWEI\Desktop\2026&#24180;4&#26376;\&#35745;&#31639;&#34920;&#65288;2026&#24180;4&#26376;&#65289;.xlsx" TargetMode="External"/></Relationships>
</file>

<file path=ppt/charts/_rels/chart47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&#23376;&#20844;&#21496;&#31649;&#29702;&#37096;&#25991;&#20214;\&#29992;&#21360;&#21457;&#36215;\&#38750;&#20445;&#38505;&#23376;&#20844;&#21496;&#29992;&#21360;&#21488;&#36134;&#65288;2026&#24180;&#65289;.xlsx" TargetMode="External"/></Relationships>
</file>

<file path=ppt/charts/_rels/chart48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&#23376;&#20844;&#21496;&#31649;&#29702;&#37096;&#25991;&#20214;\&#29992;&#21360;&#21457;&#36215;\&#38750;&#20445;&#38505;&#23376;&#20844;&#21496;&#29992;&#21360;&#21488;&#36134;&#65288;2026&#24180;&#65289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70241195787567"/>
          <c:y val="0.108592112783387"/>
          <c:w val="0.858860831162949"/>
          <c:h val="0.7538197751952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[【2026年4月】经营数据.et]整体!$D$1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[【2026年4月】经营数据.et]整体!$C$2:$C$5</c:f>
              <c:strCache>
                <c:ptCount val="4"/>
                <c:pt idx="0">
                  <c:v>营业收入</c:v>
                </c:pt>
                <c:pt idx="1">
                  <c:v>EBITDA/GOP/扣非利润</c:v>
                </c:pt>
                <c:pt idx="2">
                  <c:v>经营活动净现金流</c:v>
                </c:pt>
                <c:pt idx="3">
                  <c:v>经营支出小计</c:v>
                </c:pt>
              </c:strCache>
            </c:strRef>
          </c:cat>
          <c:val>
            <c:numRef>
              <c:f>[【2026年4月】经营数据.et]整体!$D$2:$D$5</c:f>
              <c:numCache>
                <c:formatCode>_ * #,##0.00_ ;[Red]_ * \-#,##0.00_ ;_ * "-"??_ ;_ @_ </c:formatCode>
                <c:ptCount val="4"/>
                <c:pt idx="0">
                  <c:v>27810.97822036</c:v>
                </c:pt>
                <c:pt idx="1">
                  <c:v>12461.6738492242</c:v>
                </c:pt>
                <c:pt idx="2">
                  <c:v>7797.32818277049</c:v>
                </c:pt>
                <c:pt idx="3">
                  <c:v>11893.2522838012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[【2026年4月】经营数据.et]整体!$E$1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[【2026年4月】经营数据.et]整体!$C$2:$C$5</c:f>
              <c:strCache>
                <c:ptCount val="4"/>
                <c:pt idx="0">
                  <c:v>营业收入</c:v>
                </c:pt>
                <c:pt idx="1">
                  <c:v>EBITDA/GOP/扣非利润</c:v>
                </c:pt>
                <c:pt idx="2">
                  <c:v>经营活动净现金流</c:v>
                </c:pt>
                <c:pt idx="3">
                  <c:v>经营支出小计</c:v>
                </c:pt>
              </c:strCache>
            </c:strRef>
          </c:cat>
          <c:val>
            <c:numRef>
              <c:f>[【2026年4月】经营数据.et]整体!$E$2:$E$5</c:f>
              <c:numCache>
                <c:formatCode>_ * #,##0.00_ ;[Red]_ * \-#,##0.00_ ;_ * "-"??_ ;_ @_ </c:formatCode>
                <c:ptCount val="4"/>
                <c:pt idx="0">
                  <c:v>8930.677874</c:v>
                </c:pt>
                <c:pt idx="1">
                  <c:v>4548.490661</c:v>
                </c:pt>
                <c:pt idx="2">
                  <c:v>4863.661815</c:v>
                </c:pt>
                <c:pt idx="3">
                  <c:v>2866.223277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809796"/>
        <c:axId val="541647138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2809796"/>
        <c:axId val="541647138"/>
      </c:lineChart>
      <c:lineChart>
        <c:grouping val="standard"/>
        <c:varyColors val="0"/>
        <c:ser>
          <c:idx val="2"/>
          <c:order val="2"/>
          <c:tx>
            <c:strRef>
              <c:f>[【2026年4月】经营数据.et]整体!$F$1</c:f>
              <c:strCache>
                <c:ptCount val="1"/>
                <c:pt idx="0">
                  <c:v>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[【2026年4月】经营数据.et]整体!$C$2:$C$5</c:f>
              <c:strCache>
                <c:ptCount val="4"/>
                <c:pt idx="0">
                  <c:v>营业收入</c:v>
                </c:pt>
                <c:pt idx="1">
                  <c:v>EBITDA/GOP/扣非利润</c:v>
                </c:pt>
                <c:pt idx="2">
                  <c:v>经营活动净现金流</c:v>
                </c:pt>
                <c:pt idx="3">
                  <c:v>经营支出小计</c:v>
                </c:pt>
              </c:strCache>
            </c:strRef>
          </c:cat>
          <c:val>
            <c:numRef>
              <c:f>[【2026年4月】经营数据.et]整体!$F$2:$F$5</c:f>
              <c:numCache>
                <c:formatCode>_ * #,##0.00%_ ;[Red]_ * \-#,##0.00%_ ;_ * "-"??_ ;_ @_ </c:formatCode>
                <c:ptCount val="4"/>
                <c:pt idx="0">
                  <c:v>0.32112059501244</c:v>
                </c:pt>
                <c:pt idx="1">
                  <c:v>0.364998371489489</c:v>
                </c:pt>
                <c:pt idx="2">
                  <c:v>0.623760049724094</c:v>
                </c:pt>
                <c:pt idx="3">
                  <c:v>0.240995751927657</c:v>
                </c:pt>
              </c:numCache>
            </c:numRef>
          </c:val>
          <c:smooth val="0"/>
        </c:ser>
        <c:ser>
          <c:idx val="15"/>
          <c:order val="3"/>
          <c:tx>
            <c:strRef>
              <c:f>[【2026年4月】经营数据.et]整体!$S$1</c:f>
              <c:strCache>
                <c:ptCount val="1"/>
                <c:pt idx="0">
                  <c:v>同比变化</c:v>
                </c:pt>
              </c:strCache>
            </c:strRef>
          </c:tx>
          <c:spPr>
            <a:ln w="28575" cap="rnd" cmpd="sng" algn="ctr">
              <a:solidFill>
                <a:schemeClr val="accent4">
                  <a:lumMod val="80000"/>
                  <a:lumOff val="2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[【2026年4月】经营数据.et]整体!$C$2:$C$5</c:f>
              <c:strCache>
                <c:ptCount val="4"/>
                <c:pt idx="0">
                  <c:v>营业收入</c:v>
                </c:pt>
                <c:pt idx="1">
                  <c:v>EBITDA/GOP/扣非利润</c:v>
                </c:pt>
                <c:pt idx="2">
                  <c:v>经营活动净现金流</c:v>
                </c:pt>
                <c:pt idx="3">
                  <c:v>经营支出小计</c:v>
                </c:pt>
              </c:strCache>
            </c:strRef>
          </c:cat>
          <c:val>
            <c:numRef>
              <c:f>[【2026年4月】经营数据.et]整体!$S$2:$S$5</c:f>
              <c:numCache>
                <c:formatCode>_ * #,##0.00%_ ;[Red]_ * \-#,##0.00%_ ;_ * "-"??_ ;_ @_ </c:formatCode>
                <c:ptCount val="4"/>
                <c:pt idx="0">
                  <c:v>-0.0290779893898412</c:v>
                </c:pt>
                <c:pt idx="1">
                  <c:v>-0.0155300653426059</c:v>
                </c:pt>
                <c:pt idx="2">
                  <c:v>0.521178824830974</c:v>
                </c:pt>
                <c:pt idx="3">
                  <c:v>-0.0413311406562897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2228167"/>
        <c:axId val="228973429"/>
      </c:lineChart>
      <c:catAx>
        <c:axId val="2028097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66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541647138"/>
        <c:crosses val="autoZero"/>
        <c:auto val="1"/>
        <c:lblAlgn val="ctr"/>
        <c:lblOffset val="100"/>
        <c:noMultiLvlLbl val="0"/>
      </c:catAx>
      <c:valAx>
        <c:axId val="54164713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202809796"/>
        <c:crosses val="autoZero"/>
        <c:crossBetween val="between"/>
      </c:valAx>
      <c:catAx>
        <c:axId val="9722281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228973429"/>
        <c:crosses val="autoZero"/>
        <c:auto val="1"/>
        <c:lblAlgn val="ctr"/>
        <c:lblOffset val="100"/>
        <c:noMultiLvlLbl val="0"/>
      </c:catAx>
      <c:valAx>
        <c:axId val="228973429"/>
        <c:scaling>
          <c:orientation val="minMax"/>
        </c:scaling>
        <c:delete val="0"/>
        <c:axPos val="r"/>
        <c:numFmt formatCode="_ * #,##0%_ ;[Red]_ * \-#,##0%_ ;_ * &quot;-&quot;??_ ;_ @_ 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7222816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ayout>
        <c:manualLayout>
          <c:xMode val="edge"/>
          <c:yMode val="edge"/>
          <c:x val="0.201449439474578"/>
          <c:y val="0.00571537435702039"/>
          <c:w val="0.702185482957762"/>
          <c:h val="0.06934654219851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f9616fd-8130-4eda-95bd-21ebee5bc4e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900">
          <a:solidFill>
            <a:schemeClr val="tx1">
              <a:lumMod val="60000"/>
              <a:lumOff val="40000"/>
            </a:schemeClr>
          </a:solidFill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37661683184949"/>
          <c:y val="0.0669014084507042"/>
          <c:w val="0.894557366033932"/>
          <c:h val="0.7403420523138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[【2026年4月】经营数据.et]营收!$C$55</c:f>
              <c:strCache>
                <c:ptCount val="1"/>
                <c:pt idx="0">
                  <c:v>年度计划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[【2026年4月】经营数据.et]营收!$B$56:$B$64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[【2026年4月】经营数据.et]营收!$C$56:$C$64</c:f>
              <c:numCache>
                <c:formatCode>_ * #,##0.00_ ;[Red]_ * \-#,##0.00_ ;_ * "-"??_ ;_ @_ </c:formatCode>
                <c:ptCount val="9"/>
                <c:pt idx="0">
                  <c:v>8093.17311009175</c:v>
                </c:pt>
                <c:pt idx="1">
                  <c:v>620.831629715222</c:v>
                </c:pt>
                <c:pt idx="2">
                  <c:v>6392.8</c:v>
                </c:pt>
                <c:pt idx="3">
                  <c:v>1494.87619047619</c:v>
                </c:pt>
                <c:pt idx="4">
                  <c:v>709.51635684571</c:v>
                </c:pt>
                <c:pt idx="5">
                  <c:v>7640.86</c:v>
                </c:pt>
                <c:pt idx="6">
                  <c:v>1454.99726287184</c:v>
                </c:pt>
                <c:pt idx="7">
                  <c:v>755.361936223396</c:v>
                </c:pt>
                <c:pt idx="8">
                  <c:v>648.561734135849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[【2026年4月】经营数据.et]营收!$D$55</c:f>
              <c:strCache>
                <c:ptCount val="1"/>
                <c:pt idx="0">
                  <c:v>年度达成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[【2026年4月】经营数据.et]营收!$B$56:$B$64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[【2026年4月】经营数据.et]营收!$D$56:$D$64</c:f>
              <c:numCache>
                <c:formatCode>_ * #,##0.00_ ;[Red]_ * \-#,##0.00_ ;_ * "-"??_ ;_ @_ </c:formatCode>
                <c:ptCount val="9"/>
                <c:pt idx="0">
                  <c:v>3065.641983</c:v>
                </c:pt>
                <c:pt idx="1">
                  <c:v>221.56</c:v>
                </c:pt>
                <c:pt idx="2">
                  <c:v>2495.001608</c:v>
                </c:pt>
                <c:pt idx="3">
                  <c:v>413.23</c:v>
                </c:pt>
                <c:pt idx="4">
                  <c:v>162.252291</c:v>
                </c:pt>
                <c:pt idx="5">
                  <c:v>2102.35</c:v>
                </c:pt>
                <c:pt idx="6">
                  <c:v>320.317162</c:v>
                </c:pt>
                <c:pt idx="7">
                  <c:v>107.429814</c:v>
                </c:pt>
                <c:pt idx="8">
                  <c:v>42.895016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9059932"/>
        <c:axId val="963933879"/>
      </c:barChart>
      <c:scatterChart>
        <c:scatterStyle val="lineMarker"/>
        <c:varyColors val="0"/>
        <c:ser>
          <c:idx val="2"/>
          <c:order val="2"/>
          <c:tx>
            <c:strRef>
              <c:f>[【2026年4月】经营数据.et]营收!$E$55</c:f>
              <c:strCache>
                <c:ptCount val="1"/>
                <c:pt idx="0">
                  <c:v>年度达成率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 cap="flat" cmpd="sng" algn="ctr">
                <a:noFill/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.024927160893493"/>
                  <c:y val="-0.067341772151898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64704167881084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xVal>
            <c:strRef>
              <c:f>[【2026年4月】经营数据.et]营收!$B$56:$B$64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xVal>
          <c:yVal>
            <c:numRef>
              <c:f>[【2026年4月】经营数据.et]营收!$E$56:$E$64</c:f>
              <c:numCache>
                <c:formatCode>_ * #,##0.00%_ ;[Red]_ * \-#,##0.00%_ ;_ * "-"??_ ;_ @_ </c:formatCode>
                <c:ptCount val="9"/>
                <c:pt idx="0">
                  <c:v>0.378793575930967</c:v>
                </c:pt>
                <c:pt idx="1">
                  <c:v>0.356876147082955</c:v>
                </c:pt>
                <c:pt idx="2">
                  <c:v>0.390283069703416</c:v>
                </c:pt>
                <c:pt idx="3">
                  <c:v>0.276430919585632</c:v>
                </c:pt>
                <c:pt idx="4">
                  <c:v>0.228680127574963</c:v>
                </c:pt>
                <c:pt idx="5">
                  <c:v>0.275145729669173</c:v>
                </c:pt>
                <c:pt idx="6">
                  <c:v>0.22014966637653</c:v>
                </c:pt>
                <c:pt idx="7">
                  <c:v>0.142222964711619</c:v>
                </c:pt>
                <c:pt idx="8">
                  <c:v>0.0661386784669833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8021730"/>
        <c:axId val="332226387"/>
      </c:scatterChart>
      <c:catAx>
        <c:axId val="22905993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63933879"/>
        <c:crosses val="autoZero"/>
        <c:auto val="1"/>
        <c:lblAlgn val="ctr"/>
        <c:lblOffset val="100"/>
        <c:noMultiLvlLbl val="0"/>
      </c:catAx>
      <c:valAx>
        <c:axId val="963933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_(* #,##0_);_(* \(#,##0\);_(* &quot;-&quot;_);_(@_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229059932"/>
        <c:crosses val="autoZero"/>
        <c:crossBetween val="between"/>
      </c:valAx>
      <c:valAx>
        <c:axId val="968021730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332226387"/>
        <c:crosses val="autoZero"/>
        <c:crossBetween val="midCat"/>
      </c:valAx>
      <c:valAx>
        <c:axId val="332226387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68021730"/>
        <c:crosses val="max"/>
        <c:crossBetween val="midCat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ayout>
        <c:manualLayout>
          <c:xMode val="edge"/>
          <c:yMode val="edge"/>
          <c:x val="0.679146114659982"/>
          <c:y val="0.0127118644067797"/>
          <c:w val="0.247109242338481"/>
          <c:h val="0.15169491525423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902a127-3e3b-4101-80db-69e2e13de7d3}"/>
      </c:ext>
    </c:extLst>
  </c:chart>
  <c:spPr>
    <a:solidFill>
      <a:sysClr val="window" lastClr="FFFFFF"/>
    </a:solidFill>
    <a:ln w="9525" cap="flat" cmpd="sng" algn="ctr">
      <a:solidFill>
        <a:schemeClr val="bg2"/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800">
          <a:solidFill>
            <a:schemeClr val="tx1">
              <a:lumMod val="60000"/>
              <a:lumOff val="40000"/>
            </a:schemeClr>
          </a:solidFill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53011807084251"/>
          <c:y val="0.0389458272327965"/>
          <c:w val="0.919925288506437"/>
          <c:h val="0.848843338213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[【2026年4月】经营数据.et]营收!$C$29</c:f>
              <c:strCache>
                <c:ptCount val="1"/>
                <c:pt idx="0">
                  <c:v>当月计划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[【2026年4月】经营数据.et]营收!$B$30:$B$38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[【2026年4月】经营数据.et]营收!$C$30:$C$38</c:f>
              <c:numCache>
                <c:formatCode>_ * #,##0.00_ ;[Red]_ * \-#,##0.00_ ;_ * "-"??_ ;_ @_ </c:formatCode>
                <c:ptCount val="9"/>
                <c:pt idx="0">
                  <c:v>674.14</c:v>
                </c:pt>
                <c:pt idx="1">
                  <c:v>53.0666378095238</c:v>
                </c:pt>
                <c:pt idx="2">
                  <c:v>522.17</c:v>
                </c:pt>
                <c:pt idx="3">
                  <c:v>121.311428571429</c:v>
                </c:pt>
                <c:pt idx="4">
                  <c:v>47.0911205218642</c:v>
                </c:pt>
                <c:pt idx="5">
                  <c:v>621.71</c:v>
                </c:pt>
                <c:pt idx="6">
                  <c:v>112.080820495067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[【2026年4月】经营数据.et]营收!$D$29</c:f>
              <c:strCache>
                <c:ptCount val="1"/>
                <c:pt idx="0">
                  <c:v>当月达成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[【2026年4月】经营数据.et]营收!$B$30:$B$38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[【2026年4月】经营数据.et]营收!$D$30:$D$38</c:f>
              <c:numCache>
                <c:formatCode>_ * #,##0.00_ ;[Red]_ * \-#,##0.00_ ;_ * "-"??_ ;_ @_ </c:formatCode>
                <c:ptCount val="9"/>
                <c:pt idx="0">
                  <c:v>769.80497</c:v>
                </c:pt>
                <c:pt idx="1">
                  <c:v>63.87</c:v>
                </c:pt>
                <c:pt idx="2">
                  <c:v>925.592213</c:v>
                </c:pt>
                <c:pt idx="3">
                  <c:v>102.53</c:v>
                </c:pt>
                <c:pt idx="4">
                  <c:v>31.674646</c:v>
                </c:pt>
                <c:pt idx="5">
                  <c:v>614.99</c:v>
                </c:pt>
                <c:pt idx="6">
                  <c:v>96.956248</c:v>
                </c:pt>
                <c:pt idx="7">
                  <c:v>23.451862</c:v>
                </c:pt>
                <c:pt idx="8">
                  <c:v>8.25769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2794987"/>
        <c:axId val="83397757"/>
      </c:barChart>
      <c:scatterChart>
        <c:scatterStyle val="smoothMarker"/>
        <c:varyColors val="0"/>
        <c:ser>
          <c:idx val="2"/>
          <c:order val="2"/>
          <c:tx>
            <c:strRef>
              <c:f>[【2026年4月】经营数据.et]营收!$E$29</c:f>
              <c:strCache>
                <c:ptCount val="1"/>
                <c:pt idx="0">
                  <c:v>当月达成率</c:v>
                </c:pt>
              </c:strCache>
            </c:strRef>
          </c:tx>
          <c:spPr>
            <a:ln w="28575" cap="rnd" cmpd="sng" algn="ctr">
              <a:noFill/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 cap="flat" cmpd="sng" algn="ctr">
                <a:noFill/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.00130344108446298"/>
                  <c:y val="-0.420096508657394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47634223537021"/>
                  <c:y val="-0.18757265911774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xVal>
            <c:strRef>
              <c:f>[【2026年4月】经营数据.et]营收!$B$30:$B$38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xVal>
          <c:yVal>
            <c:numRef>
              <c:f>[【2026年4月】经营数据.et]营收!$E$30:$E$38</c:f>
              <c:numCache>
                <c:formatCode>_ * #,##0.00%_ ;[Red]_ * \-#,##0.00%_ ;_ * "-"??_ ;_ @_ </c:formatCode>
                <c:ptCount val="9"/>
                <c:pt idx="0">
                  <c:v>1.14190668110482</c:v>
                </c:pt>
                <c:pt idx="1">
                  <c:v>1.20358105650585</c:v>
                </c:pt>
                <c:pt idx="2">
                  <c:v>1.77258787942624</c:v>
                </c:pt>
                <c:pt idx="3">
                  <c:v>0.845180056054073</c:v>
                </c:pt>
                <c:pt idx="4">
                  <c:v>0.672624597779397</c:v>
                </c:pt>
                <c:pt idx="5">
                  <c:v>0.989191101960721</c:v>
                </c:pt>
                <c:pt idx="6">
                  <c:v>0.865056550904419</c:v>
                </c:pt>
                <c:pt idx="7">
                  <c:v>0</c:v>
                </c:pt>
                <c:pt idx="8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0268569"/>
        <c:axId val="507333266"/>
      </c:scatterChart>
      <c:catAx>
        <c:axId val="41279498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83397757"/>
        <c:crosses val="autoZero"/>
        <c:auto val="1"/>
        <c:lblAlgn val="ctr"/>
        <c:lblOffset val="100"/>
        <c:noMultiLvlLbl val="0"/>
      </c:catAx>
      <c:valAx>
        <c:axId val="8339775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_(* #,##0_);_(* \(#,##0\);_(* &quot;-&quot;_);_(@_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412794987"/>
        <c:crosses val="autoZero"/>
        <c:crossBetween val="between"/>
        <c:majorUnit val="300"/>
      </c:valAx>
      <c:valAx>
        <c:axId val="640268569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507333266"/>
        <c:crosses val="autoZero"/>
        <c:crossBetween val="midCat"/>
      </c:valAx>
      <c:valAx>
        <c:axId val="507333266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640268569"/>
        <c:crosses val="max"/>
        <c:crossBetween val="midCat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ayout>
        <c:manualLayout>
          <c:xMode val="edge"/>
          <c:yMode val="edge"/>
          <c:x val="0.658263224693972"/>
          <c:y val="0.0132275130495275"/>
          <c:w val="0.269992722568125"/>
          <c:h val="0.15499779832672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a17643a-12e1-415b-9ce0-214194628549}"/>
      </c:ext>
    </c:extLst>
  </c:chart>
  <c:spPr>
    <a:solidFill>
      <a:sysClr val="window" lastClr="FFFFFF"/>
    </a:solidFill>
    <a:ln w="9525" cap="flat" cmpd="sng" algn="ctr">
      <a:solidFill>
        <a:schemeClr val="bg2"/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800">
          <a:solidFill>
            <a:schemeClr val="tx1">
              <a:lumMod val="60000"/>
              <a:lumOff val="40000"/>
            </a:schemeClr>
          </a:solidFill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27683520913825"/>
          <c:y val="0.0673417721518987"/>
          <c:w val="0.908835881068369"/>
          <c:h val="0.7386329113924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[【2026年4月】经营数据.et]营收!$C$42</c:f>
              <c:strCache>
                <c:ptCount val="1"/>
                <c:pt idx="0">
                  <c:v>分解计划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[【2026年4月】经营数据.et]营收!$B$43:$B$51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[【2026年4月】经营数据.et]营收!$C$43:$C$51</c:f>
              <c:numCache>
                <c:formatCode>_ * #,##0.00_ ;[Red]_ * \-#,##0.00_ ;_ * "-"??_ ;_ @_ </c:formatCode>
                <c:ptCount val="9"/>
                <c:pt idx="0">
                  <c:v>2775.35</c:v>
                </c:pt>
                <c:pt idx="1">
                  <c:v>209.312886739032</c:v>
                </c:pt>
                <c:pt idx="2">
                  <c:v>2066.95</c:v>
                </c:pt>
                <c:pt idx="3">
                  <c:v>457.025714285716</c:v>
                </c:pt>
                <c:pt idx="4">
                  <c:v>144.275441382106</c:v>
                </c:pt>
                <c:pt idx="5">
                  <c:v>2318.77</c:v>
                </c:pt>
                <c:pt idx="6">
                  <c:v>392.874225376493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[【2026年4月】经营数据.et]营收!$D$42</c:f>
              <c:strCache>
                <c:ptCount val="1"/>
                <c:pt idx="0">
                  <c:v>累计达成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[【2026年4月】经营数据.et]营收!$B$43:$B$51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[【2026年4月】经营数据.et]营收!$D$43:$D$51</c:f>
              <c:numCache>
                <c:formatCode>_ * #,##0.00_ ;[Red]_ * \-#,##0.00_ ;_ * "-"??_ ;_ @_ </c:formatCode>
                <c:ptCount val="9"/>
                <c:pt idx="0">
                  <c:v>3065.641983</c:v>
                </c:pt>
                <c:pt idx="1">
                  <c:v>221.56</c:v>
                </c:pt>
                <c:pt idx="2">
                  <c:v>2495.001608</c:v>
                </c:pt>
                <c:pt idx="3">
                  <c:v>413.23</c:v>
                </c:pt>
                <c:pt idx="4">
                  <c:v>162.252291</c:v>
                </c:pt>
                <c:pt idx="5">
                  <c:v>2102.35</c:v>
                </c:pt>
                <c:pt idx="6">
                  <c:v>320.317162</c:v>
                </c:pt>
                <c:pt idx="7">
                  <c:v>107.429814</c:v>
                </c:pt>
                <c:pt idx="8">
                  <c:v>42.895016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3761670"/>
        <c:axId val="823891173"/>
      </c:barChart>
      <c:scatterChart>
        <c:scatterStyle val="smoothMarker"/>
        <c:varyColors val="0"/>
        <c:ser>
          <c:idx val="2"/>
          <c:order val="2"/>
          <c:tx>
            <c:strRef>
              <c:f>[【2026年4月】经营数据.et]营收!$E$42</c:f>
              <c:strCache>
                <c:ptCount val="1"/>
                <c:pt idx="0">
                  <c:v>分解计划达成率</c:v>
                </c:pt>
              </c:strCache>
            </c:strRef>
          </c:tx>
          <c:spPr>
            <a:ln w="28575" cap="rnd" cmpd="sng" algn="ctr">
              <a:noFill/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 cap="flat" cmpd="sng" algn="ctr">
                <a:noFill/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.00130344108446298"/>
                  <c:y val="-0.27817201248935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447278021996952"/>
                  <c:y val="-0.1489703713315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469637518538297"/>
                  <c:y val="-0.1541253685078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xVal>
            <c:strRef>
              <c:f>[【2026年4月】经营数据.et]营收!$B$43:$B$51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xVal>
          <c:yVal>
            <c:numRef>
              <c:f>[【2026年4月】经营数据.et]营收!$E$43:$E$51</c:f>
              <c:numCache>
                <c:formatCode>_ * #,##0.00%_ ;[Red]_ * \-#,##0.00%_ ;_ * "-"??_ ;_ @_ </c:formatCode>
                <c:ptCount val="9"/>
                <c:pt idx="0">
                  <c:v>1.10459653124831</c:v>
                </c:pt>
                <c:pt idx="1">
                  <c:v>1.0585110331799</c:v>
                </c:pt>
                <c:pt idx="2">
                  <c:v>1.20709335397566</c:v>
                </c:pt>
                <c:pt idx="3">
                  <c:v>0.90417231915678</c:v>
                </c:pt>
                <c:pt idx="4">
                  <c:v>1.12460089843207</c:v>
                </c:pt>
                <c:pt idx="5">
                  <c:v>0.906666034147415</c:v>
                </c:pt>
                <c:pt idx="6">
                  <c:v>0.815317323739013</c:v>
                </c:pt>
                <c:pt idx="7">
                  <c:v>0</c:v>
                </c:pt>
                <c:pt idx="8">
                  <c:v>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4210448"/>
        <c:axId val="794977079"/>
      </c:scatterChart>
      <c:catAx>
        <c:axId val="45376167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823891173"/>
        <c:crosses val="autoZero"/>
        <c:auto val="1"/>
        <c:lblAlgn val="ctr"/>
        <c:lblOffset val="100"/>
        <c:noMultiLvlLbl val="0"/>
      </c:catAx>
      <c:valAx>
        <c:axId val="82389117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_(* #,##0_);_(* \(#,##0\);_(* &quot;-&quot;_);_(@_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453761670"/>
        <c:crosses val="autoZero"/>
        <c:crossBetween val="between"/>
      </c:valAx>
      <c:valAx>
        <c:axId val="964210448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794977079"/>
        <c:crosses val="autoZero"/>
        <c:crossBetween val="midCat"/>
      </c:valAx>
      <c:valAx>
        <c:axId val="794977079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64210448"/>
        <c:crosses val="max"/>
        <c:crossBetween val="midCat"/>
        <c:majorUnit val="0.9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</c:legendEntry>
      <c:layout>
        <c:manualLayout>
          <c:xMode val="edge"/>
          <c:yMode val="edge"/>
          <c:x val="0.658041562222043"/>
          <c:y val="0.0130039011703511"/>
          <c:w val="0.271933371068165"/>
          <c:h val="0.15214564369310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55bee2-4f35-4aeb-82f0-4f9ef54065b9}"/>
      </c:ext>
    </c:extLst>
  </c:chart>
  <c:spPr>
    <a:solidFill>
      <a:sysClr val="window" lastClr="FFFFFF"/>
    </a:solidFill>
    <a:ln w="9525" cap="flat" cmpd="sng" algn="ctr">
      <a:solidFill>
        <a:schemeClr val="bg2"/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800">
          <a:solidFill>
            <a:schemeClr val="tx1">
              <a:lumMod val="60000"/>
              <a:lumOff val="40000"/>
            </a:schemeClr>
          </a:solidFill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0"/>
          <a:lstStyle/>
          <a:p>
            <a:pPr defTabSz="914400">
              <a:defRPr lang="zh-CN" altLang="zh-CN" sz="1100" b="1" i="0" u="none" strike="noStrike" kern="1200" baseline="0">
                <a:solidFill>
                  <a:srgbClr val="333333"/>
                </a:solidFill>
                <a:latin typeface="+mn-lt"/>
                <a:ea typeface="+mn-lt"/>
                <a:cs typeface="+mn-lt"/>
                <a:sym typeface="+mn-lt"/>
              </a:defRPr>
            </a:pPr>
            <a:r>
              <a:rPr lang="en-US"/>
              <a:t>32.11%</a:t>
            </a:r>
            <a:endParaRPr lang="en-US"/>
          </a:p>
        </c:rich>
      </c:tx>
      <c:layout>
        <c:manualLayout>
          <c:xMode val="edge"/>
          <c:yMode val="edge"/>
          <c:x val="0.361332276244882"/>
          <c:y val="0.451342426062659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6884361893349"/>
          <c:y val="0.0719951189749847"/>
          <c:w val="0.847813061713601"/>
          <c:h val="0.86333129957291"/>
        </c:manualLayout>
      </c:layout>
      <c:doughnutChart>
        <c:varyColors val="1"/>
        <c:ser>
          <c:idx val="0"/>
          <c:order val="0"/>
          <c:spPr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explosion val="0"/>
          <c:dPt>
            <c:idx val="0"/>
            <c:bubble3D val="0"/>
            <c:spPr>
              <a:solidFill>
                <a:srgbClr val="D0101B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666666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Lbls>
            <c:delete val="1"/>
          </c:dLbls>
          <c:cat>
            <c:strRef>
              <c:f>[【2026年4月】经营数据.et]营收!$E$65:$F$65</c:f>
              <c:strCache>
                <c:ptCount val="2"/>
                <c:pt idx="0">
                  <c:v>年度达成率</c:v>
                </c:pt>
                <c:pt idx="1">
                  <c:v>缺口</c:v>
                </c:pt>
              </c:strCache>
            </c:strRef>
          </c:cat>
          <c:val>
            <c:numRef>
              <c:f>[【2026年4月】经营数据.et]营收!$E$66:$F$66</c:f>
              <c:numCache>
                <c:formatCode>_ * #,##0.00%_ ;[Red]_ * \-#,##0.00%_ ;_ * "-"??_ ;_ @_ </c:formatCode>
                <c:ptCount val="2"/>
                <c:pt idx="0">
                  <c:v>0.32112059501244</c:v>
                </c:pt>
                <c:pt idx="1">
                  <c:v>0.67887940498756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b63a044-12b0-4128-9bae-667dc5721fb2}"/>
      </c:ext>
    </c:extLst>
  </c:chart>
  <c:spPr>
    <a:noFill/>
    <a:ln w="6350" cap="flat" cmpd="sng" algn="ctr">
      <a:noFill/>
      <a:prstDash val="solid"/>
      <a:round/>
    </a:ln>
  </c:spPr>
  <c:txPr>
    <a:bodyPr wrap="square"/>
    <a:lstStyle/>
    <a:p>
      <a:pPr>
        <a:defRPr lang="zh-CN" sz="6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0"/>
          <a:lstStyle/>
          <a:p>
            <a:pPr defTabSz="914400">
              <a:defRPr lang="zh-CN" altLang="zh-CN" sz="1100" b="1" i="0" u="none" strike="noStrike" kern="1200" baseline="0">
                <a:solidFill>
                  <a:srgbClr val="333333"/>
                </a:solidFill>
                <a:latin typeface="+mn-lt"/>
                <a:ea typeface="+mn-lt"/>
                <a:cs typeface="+mn-lt"/>
                <a:sym typeface="+mn-lt"/>
              </a:defRPr>
            </a:pPr>
            <a:r>
              <a:rPr lang="en-US"/>
              <a:t>106.77%</a:t>
            </a:r>
            <a:endParaRPr lang="en-US"/>
          </a:p>
        </c:rich>
      </c:tx>
      <c:layout>
        <c:manualLayout>
          <c:xMode val="edge"/>
          <c:yMode val="edge"/>
          <c:x val="0.361435557835736"/>
          <c:y val="0.440052932252814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6884361893349"/>
          <c:y val="0.0719951189749847"/>
          <c:w val="0.847813061713601"/>
          <c:h val="0.86333129957291"/>
        </c:manualLayout>
      </c:layout>
      <c:doughnutChart>
        <c:varyColors val="1"/>
        <c:ser>
          <c:idx val="0"/>
          <c:order val="0"/>
          <c:spPr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explosion val="0"/>
          <c:dPt>
            <c:idx val="0"/>
            <c:bubble3D val="0"/>
            <c:spPr>
              <a:solidFill>
                <a:srgbClr val="D0101B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C2ADC8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Lbls>
            <c:delete val="1"/>
          </c:dLbls>
          <c:cat>
            <c:strRef>
              <c:f>[【2026年4月】经营数据.et]营收!$E$52:$F$52</c:f>
              <c:strCache>
                <c:ptCount val="2"/>
                <c:pt idx="0">
                  <c:v>分解计划达成率</c:v>
                </c:pt>
                <c:pt idx="1">
                  <c:v>缺口</c:v>
                </c:pt>
              </c:strCache>
            </c:strRef>
          </c:cat>
          <c:val>
            <c:numRef>
              <c:f>[【2026年4月】经营数据.et]营收!$E$53:$F$53</c:f>
              <c:numCache>
                <c:formatCode>_ * #,##0.00%_ ;[Red]_ * \-#,##0.00%_ ;_ * "-"??_ ;_ @_ </c:formatCode>
                <c:ptCount val="2"/>
                <c:pt idx="0">
                  <c:v>1.06768075349503</c:v>
                </c:pt>
                <c:pt idx="1">
                  <c:v>-0.0676807534950292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6fbd56f-c50b-4e34-bdee-3bd578f80b53}"/>
      </c:ext>
    </c:extLst>
  </c:chart>
  <c:spPr>
    <a:noFill/>
    <a:ln w="6350" cap="flat" cmpd="sng" algn="ctr">
      <a:noFill/>
      <a:prstDash val="solid"/>
      <a:round/>
    </a:ln>
  </c:spPr>
  <c:txPr>
    <a:bodyPr wrap="square"/>
    <a:lstStyle/>
    <a:p>
      <a:pPr>
        <a:defRPr lang="zh-CN" sz="6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0"/>
          <a:lstStyle/>
          <a:p>
            <a:pPr defTabSz="914400">
              <a:defRPr lang="zh-CN" altLang="zh-CN" sz="1100" b="1" i="0" u="none" strike="noStrike" kern="1200" baseline="0">
                <a:solidFill>
                  <a:srgbClr val="333333"/>
                </a:solidFill>
                <a:latin typeface="+mn-lt"/>
                <a:ea typeface="+mn-lt"/>
                <a:cs typeface="+mn-lt"/>
                <a:sym typeface="+mn-lt"/>
              </a:defRPr>
            </a:pPr>
            <a:r>
              <a:rPr lang="en-US"/>
              <a:t>122.57%</a:t>
            </a:r>
            <a:endParaRPr lang="en-US"/>
          </a:p>
        </c:rich>
      </c:tx>
      <c:layout>
        <c:manualLayout>
          <c:xMode val="edge"/>
          <c:yMode val="edge"/>
          <c:x val="0.36247155737872"/>
          <c:y val="0.428253132451719"/>
        </c:manualLayout>
      </c:layout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6884361893349"/>
          <c:y val="0.0719951189749847"/>
          <c:w val="0.847813061713601"/>
          <c:h val="0.86333129957291"/>
        </c:manualLayout>
      </c:layout>
      <c:doughnutChart>
        <c:varyColors val="1"/>
        <c:ser>
          <c:idx val="0"/>
          <c:order val="0"/>
          <c:spPr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explosion val="0"/>
          <c:dPt>
            <c:idx val="0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rgbClr val="C2ADC8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c:spPr>
          </c:dPt>
          <c:dLbls>
            <c:delete val="1"/>
          </c:dLbls>
          <c:cat>
            <c:strRef>
              <c:f>[【2026年4月】经营数据.et]营收!$E$39:$F$39</c:f>
              <c:strCache>
                <c:ptCount val="2"/>
                <c:pt idx="0">
                  <c:v>当月达成率</c:v>
                </c:pt>
                <c:pt idx="1">
                  <c:v>缺口</c:v>
                </c:pt>
              </c:strCache>
            </c:strRef>
          </c:cat>
          <c:val>
            <c:numRef>
              <c:f>[【2026年4月】经营数据.et]营收!$E$40:$F$40</c:f>
              <c:numCache>
                <c:formatCode>_ * #,##0.00%_ ;[Red]_ * \-#,##0.00%_ ;_ * "-"??_ ;_ @_ </c:formatCode>
                <c:ptCount val="2"/>
                <c:pt idx="0">
                  <c:v>1.22567595752524</c:v>
                </c:pt>
                <c:pt idx="1">
                  <c:v>-0.225675957525245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1095ea1-2165-4c4a-b669-5ffc6a58889f}"/>
      </c:ext>
    </c:extLst>
  </c:chart>
  <c:spPr>
    <a:noFill/>
    <a:ln w="6350" cap="flat" cmpd="sng" algn="ctr">
      <a:noFill/>
      <a:prstDash val="solid"/>
      <a:round/>
    </a:ln>
  </c:spPr>
  <c:txPr>
    <a:bodyPr wrap="square"/>
    <a:lstStyle/>
    <a:p>
      <a:pPr>
        <a:defRPr lang="zh-CN" sz="6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1"/>
          <c:dLbls>
            <c:dLbl>
              <c:idx val="2"/>
              <c:layout>
                <c:manualLayout>
                  <c:x val="-0.0108010801080108"/>
                  <c:y val="0.0776119402985075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lt"/>
                      <a:cs typeface="+mn-lt"/>
                      <a:sym typeface="+mn-l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[【2026年4月】经营数据.et]营收!$O$2:$O$10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[【2026年4月】经营数据.et]营收!$Q$2:$Q$10</c:f>
              <c:numCache>
                <c:formatCode>_ * "+"#,##0.00%_ ;[Red]_ * \-#,##0.00%_ ;_ * "-"??_ ;_ @_ </c:formatCode>
                <c:ptCount val="9"/>
                <c:pt idx="0">
                  <c:v>0.0822212903167154</c:v>
                </c:pt>
                <c:pt idx="1">
                  <c:v>-0.124822246800442</c:v>
                </c:pt>
                <c:pt idx="2">
                  <c:v>0.0888657980437314</c:v>
                </c:pt>
                <c:pt idx="3">
                  <c:v>-0.113791846275923</c:v>
                </c:pt>
                <c:pt idx="4">
                  <c:v>-0.333441639492353</c:v>
                </c:pt>
                <c:pt idx="5">
                  <c:v>-0.110519256886828</c:v>
                </c:pt>
                <c:pt idx="6">
                  <c:v>-0.206793105622909</c:v>
                </c:pt>
                <c:pt idx="7">
                  <c:v>-0.58090436080125</c:v>
                </c:pt>
                <c:pt idx="8">
                  <c:v>-0.5093948141673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666666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91322488"/>
        <c:axId val="677479538"/>
      </c:barChart>
      <c:catAx>
        <c:axId val="99132248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677479538"/>
        <c:crosses val="autoZero"/>
        <c:auto val="1"/>
        <c:lblAlgn val="ctr"/>
        <c:lblOffset val="100"/>
        <c:noMultiLvlLbl val="0"/>
      </c:catAx>
      <c:valAx>
        <c:axId val="67747953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_ * &quot;+&quot;#,##0.00%_ ;[Red]_ * \-#,##0.00%_ ;_ * &quot;-&quot;??_ ;_ @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91322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dcf912a-73e8-4c0f-b171-262edb65d8ec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zh-CN" sz="800"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[【2026年4月】经营数据.et]营收!$O$2:$O$10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[【2026年4月】经营数据.et]营收!$P$2:$P$10</c:f>
              <c:numCache>
                <c:formatCode>_ * "+"#,##0.00_ ;[Red]_ * \-#,##0.00_ ;_ * "-"??_ ;_ @_ </c:formatCode>
                <c:ptCount val="9"/>
                <c:pt idx="0">
                  <c:v>232.910812</c:v>
                </c:pt>
                <c:pt idx="1">
                  <c:v>-31.6</c:v>
                </c:pt>
                <c:pt idx="2">
                  <c:v>203.62501</c:v>
                </c:pt>
                <c:pt idx="3">
                  <c:v>-53.0599999999999</c:v>
                </c:pt>
                <c:pt idx="4">
                  <c:v>-81.165691</c:v>
                </c:pt>
                <c:pt idx="5">
                  <c:v>-261.22</c:v>
                </c:pt>
                <c:pt idx="6">
                  <c:v>-83.508327</c:v>
                </c:pt>
                <c:pt idx="7">
                  <c:v>-148.907413</c:v>
                </c:pt>
                <c:pt idx="8">
                  <c:v>-44.537847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666666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73979818"/>
        <c:axId val="309152740"/>
      </c:barChart>
      <c:catAx>
        <c:axId val="77397981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309152740"/>
        <c:crosses val="autoZero"/>
        <c:auto val="1"/>
        <c:lblAlgn val="ctr"/>
        <c:lblOffset val="100"/>
        <c:noMultiLvlLbl val="0"/>
      </c:catAx>
      <c:valAx>
        <c:axId val="30915274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_ * &quot;+&quot;#,##0.00_ ;[Red]_ * \-#,##0.00_ ;_ * &quot;-&quot;??_ ;_ @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77397981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55f7239-e0b2-4bd9-9c36-d291cea9bd39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zh-CN" sz="800"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319553805774"/>
          <c:y val="0"/>
          <c:w val="0.859680446194226"/>
          <c:h val="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[【2026年4月】经营数据.et]营收!$D$1</c:f>
              <c:strCache>
                <c:ptCount val="1"/>
                <c:pt idx="0">
                  <c:v>累计达成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  <a:sym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[【2026年4月】经营数据.et]营收!$B$2:$B$10</c:f>
              <c:strCache>
                <c:ptCount val="9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  <c:pt idx="5">
                  <c:v>伯豪瑞廷</c:v>
                </c:pt>
                <c:pt idx="6">
                  <c:v>重庆瑞尔</c:v>
                </c:pt>
                <c:pt idx="7">
                  <c:v>盛唐融信</c:v>
                </c:pt>
                <c:pt idx="8">
                  <c:v>君康经纪</c:v>
                </c:pt>
              </c:strCache>
            </c:strRef>
          </c:cat>
          <c:val>
            <c:numRef>
              <c:f>[【2026年4月】经营数据.et]营收!$D$2:$D$10</c:f>
              <c:numCache>
                <c:formatCode>_ * #,##0.00_ ;[Red]_ * \-#,##0.00_ ;_ * "-"??_ ;_ @_ </c:formatCode>
                <c:ptCount val="9"/>
                <c:pt idx="0">
                  <c:v>3065.641983</c:v>
                </c:pt>
                <c:pt idx="1">
                  <c:v>221.56</c:v>
                </c:pt>
                <c:pt idx="2">
                  <c:v>2495.001608</c:v>
                </c:pt>
                <c:pt idx="3">
                  <c:v>413.23</c:v>
                </c:pt>
                <c:pt idx="4">
                  <c:v>162.252291</c:v>
                </c:pt>
                <c:pt idx="5">
                  <c:v>2102.35</c:v>
                </c:pt>
                <c:pt idx="6">
                  <c:v>320.317162</c:v>
                </c:pt>
                <c:pt idx="7">
                  <c:v>107.429814</c:v>
                </c:pt>
                <c:pt idx="8">
                  <c:v>42.895016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88740465"/>
        <c:axId val="499221105"/>
      </c:barChart>
      <c:catAx>
        <c:axId val="98874046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499221105"/>
        <c:crosses val="autoZero"/>
        <c:auto val="1"/>
        <c:lblAlgn val="ctr"/>
        <c:lblOffset val="100"/>
        <c:noMultiLvlLbl val="0"/>
      </c:catAx>
      <c:valAx>
        <c:axId val="49922110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_ * #,##0.00_ ;[Red]_ * \-#,##0.00_ ;_ * &quot;-&quot;??_ ;_ @_ 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lt"/>
                <a:cs typeface="+mn-lt"/>
                <a:sym typeface="+mn-lt"/>
              </a:defRPr>
            </a:pPr>
          </a:p>
        </c:txPr>
        <c:crossAx val="98874046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0badfb3-935a-4835-b60d-da499bd57222}"/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/>
  </c:spPr>
  <c:txPr>
    <a:bodyPr wrap="square"/>
    <a:lstStyle/>
    <a:p>
      <a:pPr>
        <a:defRPr lang="zh-CN" sz="800">
          <a:latin typeface="+mn-lt"/>
          <a:ea typeface="+mn-lt"/>
          <a:cs typeface="+mn-lt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带看及成交量</a:t>
            </a:r>
            <a:endParaRPr lang="zh-CN"/>
          </a:p>
        </c:rich>
      </c:tx>
      <c:layout>
        <c:manualLayout>
          <c:xMode val="edge"/>
          <c:yMode val="edge"/>
          <c:x val="0.0045766590389016"/>
          <c:y val="0.0064184852374839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04970936059331"/>
          <c:y val="0.113326653306613"/>
          <c:w val="0.913489677290038"/>
          <c:h val="0.794368737474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[【2026年4月】经营数据.et]商写类!$B$7</c:f>
              <c:strCache>
                <c:ptCount val="1"/>
                <c:pt idx="0">
                  <c:v>渠道带客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[【2026年4月】经营数据.et]商写类!$C$7:$G$7</c:f>
              <c:numCache>
                <c:formatCode>General</c:formatCode>
                <c:ptCount val="5"/>
                <c:pt idx="0">
                  <c:v>61</c:v>
                </c:pt>
                <c:pt idx="1">
                  <c:v>54</c:v>
                </c:pt>
                <c:pt idx="2">
                  <c:v>21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[【2026年4月】经营数据.et]商写类!$B$8</c:f>
              <c:strCache>
                <c:ptCount val="1"/>
                <c:pt idx="0">
                  <c:v>渠道成交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[【2026年4月】经营数据.et]商写类!$C$8:$G$8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</c:ser>
        <c:ser>
          <c:idx val="5"/>
          <c:order val="2"/>
          <c:tx>
            <c:strRef>
              <c:f>[【2026年4月】经营数据.et]商写类!$B$12</c:f>
              <c:strCache>
                <c:ptCount val="1"/>
                <c:pt idx="0">
                  <c:v>自营带客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[【2026年4月】经营数据.et]商写类!$C$12:$G$12</c:f>
              <c:numCache>
                <c:formatCode>General</c:formatCode>
                <c:ptCount val="5"/>
                <c:pt idx="0">
                  <c:v>4</c:v>
                </c:pt>
                <c:pt idx="1">
                  <c:v>0</c:v>
                </c:pt>
                <c:pt idx="2">
                  <c:v>7</c:v>
                </c:pt>
                <c:pt idx="3">
                  <c:v>11</c:v>
                </c:pt>
                <c:pt idx="4">
                  <c:v>6</c:v>
                </c:pt>
              </c:numCache>
            </c:numRef>
          </c:val>
        </c:ser>
        <c:ser>
          <c:idx val="6"/>
          <c:order val="3"/>
          <c:tx>
            <c:strRef>
              <c:f>[【2026年4月】经营数据.et]商写类!$B$13</c:f>
              <c:strCache>
                <c:ptCount val="1"/>
                <c:pt idx="0">
                  <c:v>自营成交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[【2026年4月】经营数据.et]商写类!$C$13:$G$13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17648189"/>
        <c:axId val="505239911"/>
      </c:barChart>
      <c:catAx>
        <c:axId val="71764818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505239911"/>
        <c:crosses val="autoZero"/>
        <c:auto val="1"/>
        <c:lblAlgn val="ctr"/>
        <c:lblOffset val="100"/>
        <c:noMultiLvlLbl val="0"/>
      </c:catAx>
      <c:valAx>
        <c:axId val="505239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71764818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378184591914569"/>
          <c:y val="0.00641848523748395"/>
          <c:w val="0.617238749046529"/>
          <c:h val="0.08878904578519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9cc6711-73f8-4062-a594-eb853f93ca5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900">
          <a:solidFill>
            <a:schemeClr val="tx2"/>
          </a:solidFill>
        </a:defRPr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新增签约及退租面积</a:t>
            </a:r>
            <a:endParaRPr lang="zh-CN"/>
          </a:p>
        </c:rich>
      </c:tx>
      <c:layout>
        <c:manualLayout>
          <c:xMode val="edge"/>
          <c:yMode val="edge"/>
          <c:x val="0.00542888165038002"/>
          <c:y val="0.0062150403977625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07057546145494"/>
          <c:y val="0.129687176299979"/>
          <c:w val="0.887513572204126"/>
          <c:h val="0.780899109177543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[【2026年4月】经营数据.et]商写类!$B$3</c:f>
              <c:strCache>
                <c:ptCount val="1"/>
                <c:pt idx="0">
                  <c:v>新增签约面积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[【2026年4月】经营数据.et]商写类!$C$3:$G$3</c:f>
              <c:numCache>
                <c:formatCode>General</c:formatCode>
                <c:ptCount val="5"/>
                <c:pt idx="0">
                  <c:v>4588.16</c:v>
                </c:pt>
                <c:pt idx="1">
                  <c:v>529.12</c:v>
                </c:pt>
                <c:pt idx="2">
                  <c:v>3104.76</c:v>
                </c:pt>
                <c:pt idx="3">
                  <c:v>2235.04</c:v>
                </c:pt>
                <c:pt idx="4">
                  <c:v>302.1</c:v>
                </c:pt>
              </c:numCache>
            </c:numRef>
          </c:val>
        </c:ser>
        <c:ser>
          <c:idx val="2"/>
          <c:order val="1"/>
          <c:tx>
            <c:strRef>
              <c:f>[【2026年4月】经营数据.et]商写类!$B$4</c:f>
              <c:strCache>
                <c:ptCount val="1"/>
                <c:pt idx="0">
                  <c:v>平均租金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[【2026年4月】经营数据.et]商写类!$C$4:$G$4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2"/>
          <c:tx>
            <c:strRef>
              <c:f>[【2026年4月】经营数据.et]商写类!$B$5</c:f>
              <c:strCache>
                <c:ptCount val="1"/>
                <c:pt idx="0">
                  <c:v>本期退租面积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.0270200387847447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1" i="0" u="none" strike="noStrike" kern="1200" baseline="0">
                      <a:solidFill>
                        <a:schemeClr val="tx2"/>
                      </a:solidFill>
                      <a:latin typeface="+mn-ea"/>
                      <a:ea typeface="+mn-ea"/>
                      <a:cs typeface="+mn-ea"/>
                      <a:sym typeface="+mn-ea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1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[【2026年4月】经营数据.et]商写类!$C$1:$G$1</c:f>
              <c:strCache>
                <c:ptCount val="5"/>
                <c:pt idx="0">
                  <c:v>北京中言</c:v>
                </c:pt>
                <c:pt idx="1">
                  <c:v>大连凯丹</c:v>
                </c:pt>
                <c:pt idx="2">
                  <c:v>福建钱隆</c:v>
                </c:pt>
                <c:pt idx="3">
                  <c:v>春夏秋冬</c:v>
                </c:pt>
                <c:pt idx="4">
                  <c:v>重庆宜新</c:v>
                </c:pt>
              </c:strCache>
            </c:strRef>
          </c:cat>
          <c:val>
            <c:numRef>
              <c:f>[【2026年4月】经营数据.et]商写类!$C$5:$G$5</c:f>
              <c:numCache>
                <c:formatCode>General</c:formatCode>
                <c:ptCount val="5"/>
                <c:pt idx="0">
                  <c:v>3738.07</c:v>
                </c:pt>
                <c:pt idx="1">
                  <c:v>218.59</c:v>
                </c:pt>
                <c:pt idx="2">
                  <c:v>1178.17</c:v>
                </c:pt>
                <c:pt idx="3">
                  <c:v>366.45</c:v>
                </c:pt>
                <c:pt idx="4">
                  <c:v>1467.83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5375696"/>
        <c:axId val="297252194"/>
      </c:barChart>
      <c:catAx>
        <c:axId val="985375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297252194"/>
        <c:crosses val="autoZero"/>
        <c:auto val="1"/>
        <c:lblAlgn val="ctr"/>
        <c:lblOffset val="100"/>
        <c:noMultiLvlLbl val="0"/>
      </c:catAx>
      <c:valAx>
        <c:axId val="2972521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985375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431415128483532"/>
          <c:y val="0.0186451211932878"/>
          <c:w val="0.545783568584872"/>
          <c:h val="0.087217733581934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c158c7d-45d2-40b7-b421-c0f6ab7c943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酒店营销活动</a:t>
            </a:r>
            <a:endParaRPr lang="zh-CN"/>
          </a:p>
        </c:rich>
      </c:tx>
      <c:layout>
        <c:manualLayout>
          <c:xMode val="edge"/>
          <c:yMode val="edge"/>
          <c:x val="0.00551876379690949"/>
          <c:y val="0.00523743016759777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26859504132231"/>
          <c:y val="0.141425908667288"/>
          <c:w val="0.866942148760331"/>
          <c:h val="0.7504659832246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[【2026年4月】经营数据.et]酒店类!$B$2</c:f>
              <c:strCache>
                <c:ptCount val="1"/>
                <c:pt idx="0">
                  <c:v>投放数量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[【2026年4月】经营数据.et]酒店类!$C$1:$D$1</c:f>
              <c:strCache>
                <c:ptCount val="2"/>
                <c:pt idx="0">
                  <c:v>伯豪瑞廷</c:v>
                </c:pt>
                <c:pt idx="1">
                  <c:v>重庆瑞尔</c:v>
                </c:pt>
              </c:strCache>
            </c:strRef>
          </c:cat>
          <c:val>
            <c:numRef>
              <c:f>[【2026年4月】经营数据.et]酒店类!$C$2:$D$2</c:f>
              <c:numCache>
                <c:formatCode>#,##0</c:formatCode>
                <c:ptCount val="2"/>
                <c:pt idx="0">
                  <c:v>4883</c:v>
                </c:pt>
                <c:pt idx="1">
                  <c:v>2804</c:v>
                </c:pt>
              </c:numCache>
            </c:numRef>
          </c:val>
        </c:ser>
        <c:ser>
          <c:idx val="2"/>
          <c:order val="1"/>
          <c:tx>
            <c:strRef>
              <c:f>[【2026年4月】经营数据.et]酒店类!$B$4</c:f>
              <c:strCache>
                <c:ptCount val="1"/>
                <c:pt idx="0">
                  <c:v>成交数量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[【2026年4月】经营数据.et]酒店类!$C$1:$D$1</c:f>
              <c:strCache>
                <c:ptCount val="2"/>
                <c:pt idx="0">
                  <c:v>伯豪瑞廷</c:v>
                </c:pt>
                <c:pt idx="1">
                  <c:v>重庆瑞尔</c:v>
                </c:pt>
              </c:strCache>
            </c:strRef>
          </c:cat>
          <c:val>
            <c:numRef>
              <c:f>[【2026年4月】经营数据.et]酒店类!$C$4:$D$4</c:f>
              <c:numCache>
                <c:formatCode>#,##0</c:formatCode>
                <c:ptCount val="2"/>
                <c:pt idx="0">
                  <c:v>8494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273353585"/>
        <c:axId val="150214081"/>
      </c:barChart>
      <c:catAx>
        <c:axId val="2733535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150214081"/>
        <c:crosses val="autoZero"/>
        <c:auto val="1"/>
        <c:lblAlgn val="ctr"/>
        <c:lblOffset val="100"/>
        <c:noMultiLvlLbl val="0"/>
      </c:catAx>
      <c:valAx>
        <c:axId val="150214081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273353585"/>
        <c:crosses val="autoZero"/>
        <c:crossBetween val="between"/>
      </c:valAx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463576158940397"/>
          <c:y val="0.00523743016759777"/>
          <c:w val="0.530905077262693"/>
          <c:h val="0.060754189944134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93bfd17-d55d-4b2b-83b1-feb05fb52215}"/>
      </c:ext>
    </c:extLst>
  </c:chart>
  <c:spPr>
    <a:solidFill>
      <a:schemeClr val="bg1"/>
    </a:solidFill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>
          <a:solidFill>
            <a:schemeClr val="tx2"/>
          </a:solidFill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  <a:r>
              <a:rPr lang="en-US"/>
              <a:t>OTA</a:t>
            </a:r>
            <a:r>
              <a:rPr lang="zh-CN"/>
              <a:t>评分</a:t>
            </a:r>
            <a:endParaRPr lang="zh-CN"/>
          </a:p>
        </c:rich>
      </c:tx>
      <c:layout>
        <c:manualLayout>
          <c:xMode val="edge"/>
          <c:yMode val="edge"/>
          <c:x val="0.00551267916207277"/>
          <c:y val="0.00645325193245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552456706824421"/>
          <c:y val="0.121715369519214"/>
          <c:w val="0.988950865863512"/>
          <c:h val="0.776376815040119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[【2026年4月】经营数据.et]酒店类!$F$1</c:f>
              <c:strCache>
                <c:ptCount val="1"/>
                <c:pt idx="0">
                  <c:v>伯豪瑞廷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1"/>
                  </a:gs>
                  <a:gs pos="0">
                    <a:schemeClr val="accent1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[【2026年4月】经营数据.et]酒店类!$E$2:$E$13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[【2026年4月】经营数据.et]酒店类!$F$2:$F$13</c:f>
              <c:numCache>
                <c:formatCode>0.00</c:formatCode>
                <c:ptCount val="12"/>
                <c:pt idx="0">
                  <c:v>4.68</c:v>
                </c:pt>
                <c:pt idx="1">
                  <c:v>4.67</c:v>
                </c:pt>
                <c:pt idx="2">
                  <c:v>4.69</c:v>
                </c:pt>
                <c:pt idx="3">
                  <c:v>4.67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[【2026年4月】经营数据.et]酒店类!$G$1</c:f>
              <c:strCache>
                <c:ptCount val="1"/>
                <c:pt idx="0">
                  <c:v>重庆瑞尔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2"/>
                  </a:gs>
                  <a:gs pos="0">
                    <a:schemeClr val="accent2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[【2026年4月】经营数据.et]酒店类!$E$2:$E$13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[【2026年4月】经营数据.et]酒店类!$G$2:$G$13</c:f>
              <c:numCache>
                <c:formatCode>0.00</c:formatCode>
                <c:ptCount val="12"/>
                <c:pt idx="0">
                  <c:v>4.7</c:v>
                </c:pt>
                <c:pt idx="1">
                  <c:v>4.7</c:v>
                </c:pt>
                <c:pt idx="2">
                  <c:v>4.7</c:v>
                </c:pt>
                <c:pt idx="3">
                  <c:v>4.7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98765361"/>
        <c:axId val="619049263"/>
      </c:lineChart>
      <c:catAx>
        <c:axId val="19876536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619049263"/>
        <c:crosses val="autoZero"/>
        <c:auto val="1"/>
        <c:lblAlgn val="ctr"/>
        <c:lblOffset val="100"/>
        <c:noMultiLvlLbl val="0"/>
      </c:catAx>
      <c:valAx>
        <c:axId val="6190492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1987653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528574233813824"/>
          <c:y val="0.00523743016759777"/>
          <c:w val="0.465907002389267"/>
          <c:h val="0.068759033656824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8b435da-271d-4ae9-9730-5d6a0adced4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>
          <a:solidFill>
            <a:schemeClr val="tx2"/>
          </a:solidFill>
        </a:defRPr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月均入住率</a:t>
            </a:r>
            <a:endParaRPr lang="zh-CN"/>
          </a:p>
        </c:rich>
      </c:tx>
      <c:layout>
        <c:manualLayout>
          <c:xMode val="edge"/>
          <c:yMode val="edge"/>
          <c:x val="0.00551215293353478"/>
          <c:y val="0.00645325193245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27486712224753"/>
          <c:y val="0.129950495049505"/>
          <c:w val="0.901556567957479"/>
          <c:h val="0.77540504050405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[【2026年4月】经营数据.et]酒店类!$J$1</c:f>
              <c:strCache>
                <c:ptCount val="1"/>
                <c:pt idx="0">
                  <c:v>伯豪瑞廷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1"/>
                  </a:gs>
                  <a:gs pos="0">
                    <a:schemeClr val="accent1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[【2026年4月】经营数据.et]酒店类!$I$2:$I$13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[【2026年4月】经营数据.et]酒店类!$J$2:$J$13</c:f>
              <c:numCache>
                <c:formatCode>0%</c:formatCode>
                <c:ptCount val="12"/>
                <c:pt idx="0">
                  <c:v>0.6527</c:v>
                </c:pt>
                <c:pt idx="1">
                  <c:v>0.5493</c:v>
                </c:pt>
                <c:pt idx="2">
                  <c:v>0.7096</c:v>
                </c:pt>
                <c:pt idx="3">
                  <c:v>0.877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[【2026年4月】经营数据.et]酒店类!$K$1</c:f>
              <c:strCache>
                <c:ptCount val="1"/>
                <c:pt idx="0">
                  <c:v>重庆瑞尔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2"/>
                  </a:gs>
                  <a:gs pos="0">
                    <a:schemeClr val="accent2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[【2026年4月】经营数据.et]酒店类!$I$2:$I$13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[【2026年4月】经营数据.et]酒店类!$K$2:$K$13</c:f>
              <c:numCache>
                <c:formatCode>0%</c:formatCode>
                <c:ptCount val="12"/>
                <c:pt idx="0">
                  <c:v>0.412863886703383</c:v>
                </c:pt>
                <c:pt idx="1">
                  <c:v>0.319468641114983</c:v>
                </c:pt>
                <c:pt idx="2">
                  <c:v>0.593430369787569</c:v>
                </c:pt>
                <c:pt idx="3">
                  <c:v>0.745121951219512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15441749"/>
        <c:axId val="770852446"/>
      </c:lineChart>
      <c:catAx>
        <c:axId val="21544174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770852446"/>
        <c:crosses val="autoZero"/>
        <c:auto val="1"/>
        <c:lblAlgn val="ctr"/>
        <c:lblOffset val="100"/>
        <c:noMultiLvlLbl val="0"/>
      </c:catAx>
      <c:valAx>
        <c:axId val="77085244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21544174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438257993384785"/>
          <c:y val="0.00518851608439986"/>
          <c:w val="0.556229327453142"/>
          <c:h val="0.068834313386371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7ccc838-a194-4928-9106-7d24f724decd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>
          <a:solidFill>
            <a:schemeClr val="tx2"/>
          </a:solidFill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经代公司保费</a:t>
            </a:r>
            <a:endParaRPr lang="zh-CN"/>
          </a:p>
        </c:rich>
      </c:tx>
      <c:layout>
        <c:manualLayout>
          <c:xMode val="edge"/>
          <c:yMode val="edge"/>
          <c:x val="0.00361097737120847"/>
          <c:y val="0.0064892926670992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3489343001538"/>
          <c:y val="0.130099228224917"/>
          <c:w val="0.869918699186992"/>
          <c:h val="0.764718853362734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[【2026年4月】经营数据.et]保险类!$F$9</c:f>
              <c:strCache>
                <c:ptCount val="1"/>
                <c:pt idx="0">
                  <c:v>件均保费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[【2026年4月】经营数据.et]保险类!$G$6:$H$6</c:f>
              <c:strCache>
                <c:ptCount val="2"/>
                <c:pt idx="0">
                  <c:v>盛唐融信</c:v>
                </c:pt>
                <c:pt idx="1">
                  <c:v>君康经纪</c:v>
                </c:pt>
              </c:strCache>
            </c:strRef>
          </c:cat>
          <c:val>
            <c:numRef>
              <c:f>[【2026年4月】经营数据.et]保险类!$G$9:$H$9</c:f>
              <c:numCache>
                <c:formatCode>_(* #,##0.00_);_(* \(#,##0.00\);_(* "-"??_);_(@_)</c:formatCode>
                <c:ptCount val="2"/>
                <c:pt idx="0">
                  <c:v>0.9155875</c:v>
                </c:pt>
                <c:pt idx="1">
                  <c:v>2.31931818181818</c:v>
                </c:pt>
              </c:numCache>
            </c:numRef>
          </c:val>
        </c:ser>
        <c:ser>
          <c:idx val="3"/>
          <c:order val="1"/>
          <c:tx>
            <c:strRef>
              <c:f>[【2026年4月】经营数据.et]保险类!$F$10</c:f>
              <c:strCache>
                <c:ptCount val="1"/>
                <c:pt idx="0">
                  <c:v>人均保费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[【2026年4月】经营数据.et]保险类!$G$6:$H$6</c:f>
              <c:strCache>
                <c:ptCount val="2"/>
                <c:pt idx="0">
                  <c:v>盛唐融信</c:v>
                </c:pt>
                <c:pt idx="1">
                  <c:v>君康经纪</c:v>
                </c:pt>
              </c:strCache>
            </c:strRef>
          </c:cat>
          <c:val>
            <c:numRef>
              <c:f>[【2026年4月】经营数据.et]保险类!$G$10:$H$10</c:f>
              <c:numCache>
                <c:formatCode>_(* #,##0.00_);_(* \(#,##0.00\);_(* "-"??_);_(@_)</c:formatCode>
                <c:ptCount val="2"/>
                <c:pt idx="0">
                  <c:v>0.0755123711340206</c:v>
                </c:pt>
                <c:pt idx="1">
                  <c:v>2.91571428571429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92234852"/>
        <c:axId val="115769894"/>
      </c:barChart>
      <c:catAx>
        <c:axId val="6922348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115769894"/>
        <c:crosses val="autoZero"/>
        <c:auto val="1"/>
        <c:lblAlgn val="ctr"/>
        <c:lblOffset val="100"/>
        <c:noMultiLvlLbl val="0"/>
      </c:catAx>
      <c:valAx>
        <c:axId val="1157698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_(* #,##0_);_(* \(#,##0\);_(* &quot;-&quot;_);_(@_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6922348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434849483629971"/>
          <c:y val="0.0116868798235943"/>
          <c:w val="0.558558558558559"/>
          <c:h val="0.095259095920617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d8ddaf6-2ed5-45bf-833c-3ed7b595956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>
          <a:solidFill>
            <a:schemeClr val="tx2"/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经代公司人力</a:t>
            </a:r>
            <a:endParaRPr lang="zh-CN"/>
          </a:p>
        </c:rich>
      </c:tx>
      <c:layout>
        <c:manualLayout>
          <c:xMode val="edge"/>
          <c:yMode val="edge"/>
          <c:x val="0.00361097737120847"/>
          <c:y val="0.0062748379000209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4144522693457"/>
          <c:y val="0.114689016321129"/>
          <c:w val="0.78486319505737"/>
          <c:h val="0.780105866784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[【2026年4月】经营数据.et]保险类!$F$2</c:f>
              <c:strCache>
                <c:ptCount val="1"/>
                <c:pt idx="0">
                  <c:v>月末人力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[【2026年4月】经营数据.et]保险类!$G$1:$H$1</c:f>
              <c:strCache>
                <c:ptCount val="2"/>
                <c:pt idx="0">
                  <c:v>盛唐融信</c:v>
                </c:pt>
                <c:pt idx="1">
                  <c:v>君康经纪</c:v>
                </c:pt>
              </c:strCache>
            </c:strRef>
          </c:cat>
          <c:val>
            <c:numRef>
              <c:f>[【2026年4月】经营数据.et]保险类!$G$2:$H$2</c:f>
              <c:numCache>
                <c:formatCode>General</c:formatCode>
                <c:ptCount val="2"/>
                <c:pt idx="0">
                  <c:v>97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[【2026年4月】经营数据.et]保险类!$F$3</c:f>
              <c:strCache>
                <c:ptCount val="1"/>
                <c:pt idx="0">
                  <c:v>开单人数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[【2026年4月】经营数据.et]保险类!$G$1:$H$1</c:f>
              <c:strCache>
                <c:ptCount val="2"/>
                <c:pt idx="0">
                  <c:v>盛唐融信</c:v>
                </c:pt>
                <c:pt idx="1">
                  <c:v>君康经纪</c:v>
                </c:pt>
              </c:strCache>
            </c:strRef>
          </c:cat>
          <c:val>
            <c:numRef>
              <c:f>[【2026年4月】经营数据.et]保险类!$G$3:$H$3</c:f>
              <c:numCache>
                <c:formatCode>General</c:formatCode>
                <c:ptCount val="2"/>
                <c:pt idx="0">
                  <c:v>2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9755768"/>
        <c:axId val="266057601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228316"/>
        <c:axId val="95516272"/>
      </c:barChart>
      <c:lineChart>
        <c:grouping val="standard"/>
        <c:varyColors val="0"/>
        <c:ser>
          <c:idx val="2"/>
          <c:order val="2"/>
          <c:tx>
            <c:strRef>
              <c:f>[【2026年4月】经营数据.et]保险类!$F$4</c:f>
              <c:strCache>
                <c:ptCount val="1"/>
                <c:pt idx="0">
                  <c:v>活动率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[【2026年4月】经营数据.et]保险类!$G$1:$H$1</c:f>
              <c:strCache>
                <c:ptCount val="2"/>
                <c:pt idx="0">
                  <c:v>盛唐融信</c:v>
                </c:pt>
                <c:pt idx="1">
                  <c:v>君康经纪</c:v>
                </c:pt>
              </c:strCache>
            </c:strRef>
          </c:cat>
          <c:val>
            <c:numRef>
              <c:f>[【2026年4月】经营数据.et]保险类!$G$4:$H$4</c:f>
              <c:numCache>
                <c:formatCode>0.00%</c:formatCode>
                <c:ptCount val="2"/>
                <c:pt idx="0">
                  <c:v>0.020671834625323</c:v>
                </c:pt>
                <c:pt idx="1">
                  <c:v>0.171428571428571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2228316"/>
        <c:axId val="95516272"/>
      </c:lineChart>
      <c:catAx>
        <c:axId val="97975576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6057601"/>
        <c:crosses val="autoZero"/>
        <c:auto val="1"/>
        <c:lblAlgn val="ctr"/>
        <c:lblOffset val="100"/>
        <c:noMultiLvlLbl val="0"/>
      </c:catAx>
      <c:valAx>
        <c:axId val="26605760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9755768"/>
        <c:crosses val="autoZero"/>
        <c:crossBetween val="between"/>
      </c:valAx>
      <c:catAx>
        <c:axId val="22228316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516272"/>
        <c:crosses val="autoZero"/>
        <c:auto val="1"/>
        <c:lblAlgn val="ctr"/>
        <c:lblOffset val="100"/>
        <c:noMultiLvlLbl val="0"/>
      </c:catAx>
      <c:valAx>
        <c:axId val="9551627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22831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398940864960282"/>
          <c:y val="0.00661667401852669"/>
          <c:w val="0.594439541041483"/>
          <c:h val="0.064402293780326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cdfcc0b-4d9a-4e5e-97e7-ba41478eaadb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>
          <a:solidFill>
            <a:schemeClr val="tx1">
              <a:lumMod val="60000"/>
              <a:lumOff val="40000"/>
            </a:schemeClr>
          </a:solidFill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  <a:r>
              <a:rPr lang="zh-CN"/>
              <a:t>月度规模保费</a:t>
            </a:r>
            <a:endParaRPr lang="zh-CN"/>
          </a:p>
        </c:rich>
      </c:tx>
      <c:layout>
        <c:manualLayout>
          <c:xMode val="edge"/>
          <c:yMode val="edge"/>
          <c:x val="0.00551215293353478"/>
          <c:y val="0.006453251932450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50153092467851"/>
          <c:y val="0.13603044826614"/>
          <c:w val="0.798894935261518"/>
          <c:h val="0.684212010149422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[【2026年4月】经营数据.et]保险类!$G$12</c:f>
              <c:strCache>
                <c:ptCount val="1"/>
                <c:pt idx="0">
                  <c:v>盛唐融信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1"/>
                  </a:gs>
                  <a:gs pos="0">
                    <a:schemeClr val="accent1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[【2026年4月】经营数据.et]保险类!$F$13:$F$24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[【2026年4月】经营数据.et]保险类!$G$13:$G$24</c:f>
              <c:numCache>
                <c:formatCode>_(* #,##0.00_);_(* \(#,##0.00\);_(* "-"??_);_(@_)</c:formatCode>
                <c:ptCount val="12"/>
                <c:pt idx="0">
                  <c:v>7.1105</c:v>
                </c:pt>
                <c:pt idx="2">
                  <c:v>0.2142</c:v>
                </c:pt>
                <c:pt idx="3">
                  <c:v>0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[【2026年4月】经营数据.et]保险类!$H$12</c:f>
              <c:strCache>
                <c:ptCount val="1"/>
                <c:pt idx="0">
                  <c:v>君康经纪</c:v>
                </c:pt>
              </c:strCache>
            </c:strRef>
          </c:tx>
          <c:spPr>
            <a:ln w="28575" cap="rnd" cmpd="sng" algn="ctr">
              <a:gradFill>
                <a:gsLst>
                  <a:gs pos="100000">
                    <a:schemeClr val="accent2"/>
                  </a:gs>
                  <a:gs pos="0">
                    <a:schemeClr val="accent2">
                      <a:hueOff val="-1670000"/>
                    </a:schemeClr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[【2026年4月】经营数据.et]保险类!$F$13:$F$24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[【2026年4月】经营数据.et]保险类!$H$13:$H$24</c:f>
              <c:numCache>
                <c:formatCode>_(* #,##0.00_);_(* \(#,##0.00\);_(* "-"??_);_(@_)</c:formatCode>
                <c:ptCount val="12"/>
                <c:pt idx="0">
                  <c:v>100</c:v>
                </c:pt>
                <c:pt idx="1">
                  <c:v>0.51</c:v>
                </c:pt>
                <c:pt idx="2">
                  <c:v>1.34</c:v>
                </c:pt>
                <c:pt idx="3">
                  <c:v>0.2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958797629"/>
        <c:axId val="161869602"/>
      </c:lineChart>
      <c:catAx>
        <c:axId val="95879762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21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1869602"/>
        <c:crosses val="autoZero"/>
        <c:auto val="1"/>
        <c:lblAlgn val="ctr"/>
        <c:lblOffset val="100"/>
        <c:noMultiLvlLbl val="0"/>
      </c:catAx>
      <c:valAx>
        <c:axId val="161869602"/>
        <c:scaling>
          <c:orientation val="minMax"/>
          <c:min val="-2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879762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</c:legendEntry>
      <c:layout>
        <c:manualLayout>
          <c:xMode val="edge"/>
          <c:yMode val="edge"/>
          <c:x val="0.422222222222222"/>
          <c:y val="0.00661521499448732"/>
          <c:w val="0.571177117711771"/>
          <c:h val="0.087320837927232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1bb3cc0-1cfe-479c-835e-98728257f0b2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>
          <a:solidFill>
            <a:schemeClr val="tx1">
              <a:lumMod val="60000"/>
              <a:lumOff val="40000"/>
            </a:schemeClr>
          </a:solidFill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[【2026年4月】经营数据.et]北京中言!$D$1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[【2026年4月】经营数据.et]北京中言!$C$2:$C$5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[【2026年4月】经营数据.et]北京中言!$D$2:$D$5</c:f>
              <c:numCache>
                <c:formatCode>_ * #,##0.00_ ;[Red]_ * \-#,##0.00_ ;_ * "-"??_ ;_ @_ </c:formatCode>
                <c:ptCount val="4"/>
                <c:pt idx="0">
                  <c:v>8093.17311009175</c:v>
                </c:pt>
                <c:pt idx="1">
                  <c:v>3056.20752709174</c:v>
                </c:pt>
                <c:pt idx="2">
                  <c:v>112.83541569</c:v>
                </c:pt>
                <c:pt idx="3">
                  <c:v>2263.965583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[【2026年4月】经营数据.et]北京中言!$E$1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[【2026年4月】经营数据.et]北京中言!$C$2:$C$5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[【2026年4月】经营数据.et]北京中言!$E$2:$E$5</c:f>
              <c:numCache>
                <c:formatCode>_ * #,##0.00_ ;[Red]_ * \-#,##0.00_ ;_ * "-"??_ ;_ @_ </c:formatCode>
                <c:ptCount val="4"/>
                <c:pt idx="0">
                  <c:v>3065.641983</c:v>
                </c:pt>
                <c:pt idx="1">
                  <c:v>1984.393043</c:v>
                </c:pt>
                <c:pt idx="2">
                  <c:v>2602.247774</c:v>
                </c:pt>
                <c:pt idx="3">
                  <c:v>197.346566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[【2026年4月】经营数据.et]北京中言!$F$1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[【2026年4月】经营数据.et]北京中言!$C$2:$C$5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[【2026年4月】经营数据.et]北京中言!$F$2:$F$5</c:f>
              <c:numCache>
                <c:formatCode>_ * #,##0.00%_ ;[Red]_ * \-#,##0.00%_ ;_ * "-"??_ ;_ @_ </c:formatCode>
                <c:ptCount val="4"/>
                <c:pt idx="0">
                  <c:v>0.378793575930967</c:v>
                </c:pt>
                <c:pt idx="1">
                  <c:v>0.649299180572443</c:v>
                </c:pt>
                <c:pt idx="2">
                  <c:v>23.0623316100445</c:v>
                </c:pt>
                <c:pt idx="3">
                  <c:v>0.0871685362542016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8e53c4-e875-4b5c-b436-ae7364ebcf5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[【2026年4月】经营数据.et]北京中言!$F$35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[【2026年4月】经营数据.et]北京中言!$G$33:$R$33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[【2026年4月】经营数据.et]北京中言!$G$35:$R$35</c:f>
              <c:numCache>
                <c:formatCode>_ * #,##0.00_ ;[Red]_ * \-#,##0.00_ ;_ * "-"??_ ;_ @_ </c:formatCode>
                <c:ptCount val="12"/>
                <c:pt idx="0">
                  <c:v>729.336739</c:v>
                </c:pt>
                <c:pt idx="1">
                  <c:v>719.886335</c:v>
                </c:pt>
                <c:pt idx="2">
                  <c:v>723.075478</c:v>
                </c:pt>
                <c:pt idx="3">
                  <c:v>660.432619</c:v>
                </c:pt>
                <c:pt idx="4">
                  <c:v>664.38903</c:v>
                </c:pt>
                <c:pt idx="5">
                  <c:v>648.150764</c:v>
                </c:pt>
                <c:pt idx="6">
                  <c:v>706.884575</c:v>
                </c:pt>
                <c:pt idx="7">
                  <c:v>750.77023</c:v>
                </c:pt>
                <c:pt idx="8">
                  <c:v>760.987513</c:v>
                </c:pt>
                <c:pt idx="9">
                  <c:v>753.240244</c:v>
                </c:pt>
                <c:pt idx="10">
                  <c:v>811.208039</c:v>
                </c:pt>
                <c:pt idx="11">
                  <c:v>955.272388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[【2026年4月】经营数据.et]北京中言!$F$36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[【2026年4月】经营数据.et]北京中言!$G$33:$R$33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[【2026年4月】经营数据.et]北京中言!$G$36:$R$36</c:f>
              <c:numCache>
                <c:formatCode>_ * #,##0.00_ ;[Red]_ * \-#,##0.00_ ;_ * "-"??_ ;_ @_ </c:formatCode>
                <c:ptCount val="12"/>
                <c:pt idx="0">
                  <c:v>732.94</c:v>
                </c:pt>
                <c:pt idx="1">
                  <c:v>699.13</c:v>
                </c:pt>
                <c:pt idx="2">
                  <c:v>669.14</c:v>
                </c:pt>
                <c:pt idx="3">
                  <c:v>674.14</c:v>
                </c:pt>
                <c:pt idx="4">
                  <c:v>653.32</c:v>
                </c:pt>
                <c:pt idx="5">
                  <c:v>658.05</c:v>
                </c:pt>
                <c:pt idx="6">
                  <c:v>667.560518348624</c:v>
                </c:pt>
                <c:pt idx="7">
                  <c:v>672.560518348624</c:v>
                </c:pt>
                <c:pt idx="8">
                  <c:v>695.580518348624</c:v>
                </c:pt>
                <c:pt idx="9">
                  <c:v>658.280518348624</c:v>
                </c:pt>
                <c:pt idx="10">
                  <c:v>637.900518348624</c:v>
                </c:pt>
                <c:pt idx="11">
                  <c:v>674.570518348624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[【2026年4月】经营数据.et]北京中言!$F$34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[【2026年4月】经营数据.et]北京中言!$G$33:$R$33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[【2026年4月】经营数据.et]北京中言!$G$34:$R$34</c:f>
              <c:numCache>
                <c:formatCode>_ * #,##0.00_ ;[Red]_ * \-#,##0.00_ ;_ * "-"??_ ;_ @_ </c:formatCode>
                <c:ptCount val="12"/>
                <c:pt idx="0">
                  <c:v>580.609306</c:v>
                </c:pt>
                <c:pt idx="1">
                  <c:v>567.205236</c:v>
                </c:pt>
                <c:pt idx="2">
                  <c:v>1148.022471</c:v>
                </c:pt>
                <c:pt idx="3">
                  <c:v>769.80497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5f744c09-30e3-422d-bc89-e1e0994244b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[【2026年4月】经营数据.et]北京中言!$F$40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[【2026年4月】经营数据.et]北京中言!$G$39:$R$39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[【2026年4月】经营数据.et]北京中言!$G$40:$R$40</c:f>
              <c:numCache>
                <c:formatCode>_(* #,##0.00_);_(* \(#,##0.00\);_(* "-"??_);_(@_)</c:formatCode>
                <c:ptCount val="12"/>
                <c:pt idx="0">
                  <c:v>580.609306</c:v>
                </c:pt>
                <c:pt idx="1">
                  <c:v>567.205236</c:v>
                </c:pt>
                <c:pt idx="2">
                  <c:v>1148.022471</c:v>
                </c:pt>
                <c:pt idx="3">
                  <c:v>769.80497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[【2026年4月】经营数据.et]北京中言!$F$41</c:f>
              <c:strCache>
                <c:ptCount val="1"/>
                <c:pt idx="0">
                  <c:v>EBITDA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[【2026年4月】经营数据.et]北京中言!$G$39:$R$39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[【2026年4月】经营数据.et]北京中言!$G$41:$R$41</c:f>
              <c:numCache>
                <c:formatCode>_(* #,##0.00_);_(* \(#,##0.00\);_(* "-"??_);_(@_)</c:formatCode>
                <c:ptCount val="12"/>
                <c:pt idx="0">
                  <c:v>309.206475</c:v>
                </c:pt>
                <c:pt idx="1">
                  <c:v>296.734368</c:v>
                </c:pt>
                <c:pt idx="2">
                  <c:v>885.00292</c:v>
                </c:pt>
                <c:pt idx="3">
                  <c:v>493.44928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[【2026年4月】经营数据.et]北京中言!$F$42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[【2026年4月】经营数据.et]北京中言!$G$39:$R$39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[【2026年4月】经营数据.et]北京中言!$G$42:$R$42</c:f>
              <c:numCache>
                <c:formatCode>_(* #,##0.00_);_(* \(#,##0.00\);_(* "-"??_);_(@_)</c:formatCode>
                <c:ptCount val="12"/>
                <c:pt idx="0">
                  <c:v>85.643994</c:v>
                </c:pt>
                <c:pt idx="1">
                  <c:v>883.276996</c:v>
                </c:pt>
                <c:pt idx="2">
                  <c:v>-715.535441</c:v>
                </c:pt>
                <c:pt idx="3">
                  <c:v>2348.862225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[【2026年4月】经营数据.et]北京中言!$F$43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[【2026年4月】经营数据.et]北京中言!$G$39:$R$39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[【2026年4月】经营数据.et]北京中言!$G$43:$R$43</c:f>
              <c:numCache>
                <c:formatCode>_(* #,##0.00_);_(* \(#,##0.00\);_(* "-"??_);_(@_)</c:formatCode>
                <c:ptCount val="12"/>
                <c:pt idx="0">
                  <c:v>46.856168</c:v>
                </c:pt>
                <c:pt idx="1">
                  <c:v>43.40538</c:v>
                </c:pt>
                <c:pt idx="2">
                  <c:v>50.429416</c:v>
                </c:pt>
                <c:pt idx="3">
                  <c:v>56.655602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e9515cf-b632-499f-977f-b136b44075fb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[【2026年4月】经营数据.et]大连凯丹!$D$1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[【2026年4月】经营数据.et]大连凯丹!$C$2:$C$5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[【2026年4月】经营数据.et]大连凯丹!$D$2:$D$5</c:f>
              <c:numCache>
                <c:formatCode>_ * #,##0.00_ ;[Red]_ * \-#,##0.00_ ;_ * "-"??_ ;_ @_ </c:formatCode>
                <c:ptCount val="4"/>
                <c:pt idx="0">
                  <c:v>620.831629715222</c:v>
                </c:pt>
                <c:pt idx="1">
                  <c:v>259.978429715222</c:v>
                </c:pt>
                <c:pt idx="2">
                  <c:v>296.47159212544</c:v>
                </c:pt>
                <c:pt idx="3">
                  <c:v>188.23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[【2026年4月】经营数据.et]大连凯丹!$E$1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[【2026年4月】经营数据.et]大连凯丹!$C$2:$C$5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[【2026年4月】经营数据.et]大连凯丹!$E$2:$E$5</c:f>
              <c:numCache>
                <c:formatCode>_ * #,##0.00_ ;[Red]_ * \-#,##0.00_ ;_ * "-"??_ ;_ @_ </c:formatCode>
                <c:ptCount val="4"/>
                <c:pt idx="0">
                  <c:v>221.56</c:v>
                </c:pt>
                <c:pt idx="1">
                  <c:v>121.03</c:v>
                </c:pt>
                <c:pt idx="2">
                  <c:v>262.52</c:v>
                </c:pt>
                <c:pt idx="3">
                  <c:v>42.89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[【2026年4月】经营数据.et]大连凯丹!$F$1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[【2026年4月】经营数据.et]大连凯丹!$C$2:$C$5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[【2026年4月】经营数据.et]大连凯丹!$F$2:$F$5</c:f>
              <c:numCache>
                <c:formatCode>_ * #,##0.00%_ ;[Red]_ * \-#,##0.00%_ ;_ * "-"??_ ;_ @_ </c:formatCode>
                <c:ptCount val="4"/>
                <c:pt idx="0">
                  <c:v>0.356876147082955</c:v>
                </c:pt>
                <c:pt idx="1">
                  <c:v>0.465538622310225</c:v>
                </c:pt>
                <c:pt idx="2">
                  <c:v>0.885481128623363</c:v>
                </c:pt>
                <c:pt idx="3">
                  <c:v>0.227859533549381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7179f9d-149d-48b2-b140-bc71e784d1d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[【2026年4月】经营数据.et]大连凯丹!$F$35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[【2026年4月】经营数据.et]大连凯丹!$G$33:$R$33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[【2026年4月】经营数据.et]大连凯丹!$G$35:$R$35</c:f>
              <c:numCache>
                <c:formatCode>_ * #,##0.00_ ;[Red]_ * \-#,##0.00_ ;_ * "-"??_ ;_ @_ </c:formatCode>
                <c:ptCount val="12"/>
                <c:pt idx="0">
                  <c:v>49.42</c:v>
                </c:pt>
                <c:pt idx="1">
                  <c:v>74.06</c:v>
                </c:pt>
                <c:pt idx="2">
                  <c:v>50.16</c:v>
                </c:pt>
                <c:pt idx="3">
                  <c:v>79.52</c:v>
                </c:pt>
                <c:pt idx="4">
                  <c:v>51.64</c:v>
                </c:pt>
                <c:pt idx="5">
                  <c:v>63.78</c:v>
                </c:pt>
                <c:pt idx="6">
                  <c:v>51.24</c:v>
                </c:pt>
                <c:pt idx="7">
                  <c:v>52.15</c:v>
                </c:pt>
                <c:pt idx="8">
                  <c:v>77.91</c:v>
                </c:pt>
                <c:pt idx="9">
                  <c:v>69.29</c:v>
                </c:pt>
                <c:pt idx="10">
                  <c:v>52.62</c:v>
                </c:pt>
                <c:pt idx="11">
                  <c:v>72.93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[【2026年4月】经营数据.et]大连凯丹!$F$36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[【2026年4月】经营数据.et]大连凯丹!$G$33:$R$33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[【2026年4月】经营数据.et]大连凯丹!$G$36:$R$36</c:f>
              <c:numCache>
                <c:formatCode>_ * #,##0.00_ ;[Red]_ * \-#,##0.00_ ;_ * "-"??_ ;_ @_ </c:formatCode>
                <c:ptCount val="12"/>
                <c:pt idx="0">
                  <c:v>51.2492576431693</c:v>
                </c:pt>
                <c:pt idx="1">
                  <c:v>52.2484956431693</c:v>
                </c:pt>
                <c:pt idx="2">
                  <c:v>52.7484956431693</c:v>
                </c:pt>
                <c:pt idx="3">
                  <c:v>53.0666378095238</c:v>
                </c:pt>
                <c:pt idx="4">
                  <c:v>53.9253218095238</c:v>
                </c:pt>
                <c:pt idx="5">
                  <c:v>53.9522198095238</c:v>
                </c:pt>
                <c:pt idx="6">
                  <c:v>54.0052768095238</c:v>
                </c:pt>
                <c:pt idx="7">
                  <c:v>48.7693558095238</c:v>
                </c:pt>
                <c:pt idx="8">
                  <c:v>49.2893558095238</c:v>
                </c:pt>
                <c:pt idx="9">
                  <c:v>49.7409784761905</c:v>
                </c:pt>
                <c:pt idx="10">
                  <c:v>50.3638469761905</c:v>
                </c:pt>
                <c:pt idx="11">
                  <c:v>51.4723874761905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[【2026年4月】经营数据.et]大连凯丹!$F$34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[【2026年4月】经营数据.et]大连凯丹!$G$33:$R$33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[【2026年4月】经营数据.et]大连凯丹!$G$34:$R$34</c:f>
              <c:numCache>
                <c:formatCode>_ * #,##0.00_ ;[Red]_ * \-#,##0.00_ ;_ * "-"??_ ;_ @_ </c:formatCode>
                <c:ptCount val="12"/>
                <c:pt idx="0">
                  <c:v>51.84</c:v>
                </c:pt>
                <c:pt idx="1">
                  <c:v>52.73</c:v>
                </c:pt>
                <c:pt idx="2">
                  <c:v>53.12</c:v>
                </c:pt>
                <c:pt idx="3">
                  <c:v>63.87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31093297-57fa-4243-9946-c31322d8f8d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[【2026年4月】经营数据.et]大连凯丹!$F$40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[【2026年4月】经营数据.et]大连凯丹!$G$39:$R$39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[【2026年4月】经营数据.et]大连凯丹!$G$40:$R$40</c:f>
              <c:numCache>
                <c:formatCode>_(* #,##0.00_);_(* \(#,##0.00\);_(* "-"??_);_(@_)</c:formatCode>
                <c:ptCount val="12"/>
                <c:pt idx="0">
                  <c:v>51.84</c:v>
                </c:pt>
                <c:pt idx="1">
                  <c:v>52.73</c:v>
                </c:pt>
                <c:pt idx="2">
                  <c:v>53.12</c:v>
                </c:pt>
                <c:pt idx="3">
                  <c:v>63.87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[【2026年4月】经营数据.et]大连凯丹!$F$41</c:f>
              <c:strCache>
                <c:ptCount val="1"/>
                <c:pt idx="0">
                  <c:v>EBITDA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[【2026年4月】经营数据.et]大连凯丹!$G$39:$R$39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[【2026年4月】经营数据.et]大连凯丹!$G$41:$R$41</c:f>
              <c:numCache>
                <c:formatCode>_(* #,##0.00_);_(* \(#,##0.00\);_(* "-"??_);_(@_)</c:formatCode>
                <c:ptCount val="12"/>
                <c:pt idx="0">
                  <c:v>27.46</c:v>
                </c:pt>
                <c:pt idx="1">
                  <c:v>29.79</c:v>
                </c:pt>
                <c:pt idx="2">
                  <c:v>26.62</c:v>
                </c:pt>
                <c:pt idx="3">
                  <c:v>37.16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[【2026年4月】经营数据.et]大连凯丹!$F$42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[【2026年4月】经营数据.et]大连凯丹!$G$39:$R$39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[【2026年4月】经营数据.et]大连凯丹!$G$42:$R$42</c:f>
              <c:numCache>
                <c:formatCode>_(* #,##0.00_);_(* \(#,##0.00\);_(* "-"??_);_(@_)</c:formatCode>
                <c:ptCount val="12"/>
                <c:pt idx="0">
                  <c:v>142.94</c:v>
                </c:pt>
                <c:pt idx="1">
                  <c:v>51.65</c:v>
                </c:pt>
                <c:pt idx="2">
                  <c:v>63.12</c:v>
                </c:pt>
                <c:pt idx="3">
                  <c:v>4.81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[【2026年4月】经营数据.et]大连凯丹!$F$43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[【2026年4月】经营数据.et]大连凯丹!$G$39:$R$39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[【2026年4月】经营数据.et]大连凯丹!$G$43:$R$43</c:f>
              <c:numCache>
                <c:formatCode>_(* #,##0.00_);_(* \(#,##0.00\);_(* "-"??_);_(@_)</c:formatCode>
                <c:ptCount val="12"/>
                <c:pt idx="0">
                  <c:v>10.86</c:v>
                </c:pt>
                <c:pt idx="1">
                  <c:v>8.8</c:v>
                </c:pt>
                <c:pt idx="2">
                  <c:v>10.79</c:v>
                </c:pt>
                <c:pt idx="3">
                  <c:v>12.44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4a43659-0cdb-4093-b4a8-65ec4ee1d6e5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[【2026年4月】经营数据.et]福建钱隆!$D$1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[【2026年4月】经营数据.et]福建钱隆!$C$2:$C$5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[【2026年4月】经营数据.et]福建钱隆!$D$2:$D$5</c:f>
              <c:numCache>
                <c:formatCode>_ * #,##0.00_ ;[Red]_ * \-#,##0.00_ ;_ * "-"??_ ;_ @_ </c:formatCode>
                <c:ptCount val="4"/>
                <c:pt idx="0">
                  <c:v>6392.8</c:v>
                </c:pt>
                <c:pt idx="1">
                  <c:v>4789.05</c:v>
                </c:pt>
                <c:pt idx="2">
                  <c:v>4232.71</c:v>
                </c:pt>
                <c:pt idx="3">
                  <c:v>823.59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[【2026年4月】经营数据.et]福建钱隆!$E$1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[【2026年4月】经营数据.et]福建钱隆!$C$2:$C$5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[【2026年4月】经营数据.et]福建钱隆!$E$2:$E$5</c:f>
              <c:numCache>
                <c:formatCode>_ * #,##0.00_ ;[Red]_ * \-#,##0.00_ ;_ * "-"??_ ;_ @_ </c:formatCode>
                <c:ptCount val="4"/>
                <c:pt idx="0">
                  <c:v>2495.001608</c:v>
                </c:pt>
                <c:pt idx="1">
                  <c:v>1738.206216</c:v>
                </c:pt>
                <c:pt idx="2">
                  <c:v>2089.360164</c:v>
                </c:pt>
                <c:pt idx="3">
                  <c:v>398.08391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[【2026年4月】经营数据.et]福建钱隆!$F$1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[【2026年4月】经营数据.et]福建钱隆!$C$2:$C$5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[【2026年4月】经营数据.et]福建钱隆!$F$2:$F$5</c:f>
              <c:numCache>
                <c:formatCode>_ * #,##0.00%_ ;[Red]_ * \-#,##0.00%_ ;_ * "-"??_ ;_ @_ </c:formatCode>
                <c:ptCount val="4"/>
                <c:pt idx="0">
                  <c:v>0.390283069703416</c:v>
                </c:pt>
                <c:pt idx="1">
                  <c:v>0.362954284461428</c:v>
                </c:pt>
                <c:pt idx="2">
                  <c:v>0.493622328012077</c:v>
                </c:pt>
                <c:pt idx="3">
                  <c:v>0.483352044099613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[【2026年4月】经营数据.et]福建钱隆!$F$40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[【2026年4月】经营数据.et]福建钱隆!$G$39:$R$39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[【2026年4月】经营数据.et]福建钱隆!$G$40:$R$40</c:f>
              <c:numCache>
                <c:formatCode>_(* #,##0.00_);_(* \(#,##0.00\);_(* "-"??_);_(@_)</c:formatCode>
                <c:ptCount val="12"/>
                <c:pt idx="0">
                  <c:v>519.185934</c:v>
                </c:pt>
                <c:pt idx="1">
                  <c:v>532.971536</c:v>
                </c:pt>
                <c:pt idx="2">
                  <c:v>517.251925</c:v>
                </c:pt>
                <c:pt idx="3">
                  <c:v>925.592213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[【2026年4月】经营数据.et]福建钱隆!$F$41</c:f>
              <c:strCache>
                <c:ptCount val="1"/>
                <c:pt idx="0">
                  <c:v>EBITDA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[【2026年4月】经营数据.et]福建钱隆!$G$39:$R$39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[【2026年4月】经营数据.et]福建钱隆!$G$41:$R$41</c:f>
              <c:numCache>
                <c:formatCode>_(* #,##0.00_);_(* \(#,##0.00\);_(* "-"??_);_(@_)</c:formatCode>
                <c:ptCount val="12"/>
                <c:pt idx="0">
                  <c:v>390.207468</c:v>
                </c:pt>
                <c:pt idx="1">
                  <c:v>411.250726</c:v>
                </c:pt>
                <c:pt idx="2">
                  <c:v>392.543692</c:v>
                </c:pt>
                <c:pt idx="3">
                  <c:v>544.20433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[【2026年4月】经营数据.et]福建钱隆!$F$42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[【2026年4月】经营数据.et]福建钱隆!$G$39:$R$39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[【2026年4月】经营数据.et]福建钱隆!$G$42:$R$42</c:f>
              <c:numCache>
                <c:formatCode>_(* #,##0.00_);_(* \(#,##0.00\);_(* "-"??_);_(@_)</c:formatCode>
                <c:ptCount val="12"/>
                <c:pt idx="0">
                  <c:v>501.215726</c:v>
                </c:pt>
                <c:pt idx="1">
                  <c:v>344.23802</c:v>
                </c:pt>
                <c:pt idx="2">
                  <c:v>920.004337</c:v>
                </c:pt>
                <c:pt idx="3">
                  <c:v>323.902081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[【2026年4月】经营数据.et]福建钱隆!$F$43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[【2026年4月】经营数据.et]福建钱隆!$G$39:$R$39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[【2026年4月】经营数据.et]福建钱隆!$G$43:$R$43</c:f>
              <c:numCache>
                <c:formatCode>_(* #,##0.00_);_(* \(#,##0.00\);_(* "-"??_);_(@_)</c:formatCode>
                <c:ptCount val="12"/>
                <c:pt idx="0">
                  <c:v>36.843094</c:v>
                </c:pt>
                <c:pt idx="1">
                  <c:v>30.590467</c:v>
                </c:pt>
                <c:pt idx="2">
                  <c:v>37.133258</c:v>
                </c:pt>
                <c:pt idx="3">
                  <c:v>293.517091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[【2026年4月】经营数据.et]福建钱隆!$F$35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[【2026年4月】经营数据.et]福建钱隆!$G$33:$R$33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[【2026年4月】经营数据.et]福建钱隆!$G$35:$R$35</c:f>
              <c:numCache>
                <c:formatCode>_ * #,##0.00_ ;[Red]_ * \-#,##0.00_ ;_ * "-"??_ ;_ @_ </c:formatCode>
                <c:ptCount val="12"/>
                <c:pt idx="0">
                  <c:v>572.837086</c:v>
                </c:pt>
                <c:pt idx="1">
                  <c:v>565.304031</c:v>
                </c:pt>
                <c:pt idx="2">
                  <c:v>575.663609</c:v>
                </c:pt>
                <c:pt idx="3">
                  <c:v>577.571872</c:v>
                </c:pt>
                <c:pt idx="4">
                  <c:v>580.973935</c:v>
                </c:pt>
                <c:pt idx="5">
                  <c:v>593.948499</c:v>
                </c:pt>
                <c:pt idx="6">
                  <c:v>552.751057</c:v>
                </c:pt>
                <c:pt idx="7">
                  <c:v>564.042367</c:v>
                </c:pt>
                <c:pt idx="8">
                  <c:v>577.223151</c:v>
                </c:pt>
                <c:pt idx="9">
                  <c:v>533.705821</c:v>
                </c:pt>
                <c:pt idx="10">
                  <c:v>555.615577</c:v>
                </c:pt>
                <c:pt idx="11">
                  <c:v>561.607211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[【2026年4月】经营数据.et]福建钱隆!$F$36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[【2026年4月】经营数据.et]福建钱隆!$G$33:$R$33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[【2026年4月】经营数据.et]福建钱隆!$G$36:$R$36</c:f>
              <c:numCache>
                <c:formatCode>_ * #,##0.00_ ;[Red]_ * \-#,##0.00_ ;_ * "-"??_ ;_ @_ </c:formatCode>
                <c:ptCount val="12"/>
                <c:pt idx="0">
                  <c:v>518.42</c:v>
                </c:pt>
                <c:pt idx="1">
                  <c:v>511.28</c:v>
                </c:pt>
                <c:pt idx="2">
                  <c:v>515.08</c:v>
                </c:pt>
                <c:pt idx="3">
                  <c:v>522.17</c:v>
                </c:pt>
                <c:pt idx="4">
                  <c:v>527.6</c:v>
                </c:pt>
                <c:pt idx="5">
                  <c:v>556.15</c:v>
                </c:pt>
                <c:pt idx="6">
                  <c:v>539.7</c:v>
                </c:pt>
                <c:pt idx="7">
                  <c:v>540.24</c:v>
                </c:pt>
                <c:pt idx="8">
                  <c:v>538.77</c:v>
                </c:pt>
                <c:pt idx="9">
                  <c:v>544.29</c:v>
                </c:pt>
                <c:pt idx="10">
                  <c:v>536.67</c:v>
                </c:pt>
                <c:pt idx="11">
                  <c:v>542.43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[【2026年4月】经营数据.et]福建钱隆!$F$34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[【2026年4月】经营数据.et]福建钱隆!$G$33:$R$33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[【2026年4月】经营数据.et]福建钱隆!$G$34:$R$34</c:f>
              <c:numCache>
                <c:formatCode>_ * #,##0.00_ ;[Red]_ * \-#,##0.00_ ;_ * "-"??_ ;_ @_ </c:formatCode>
                <c:ptCount val="12"/>
                <c:pt idx="0">
                  <c:v>519.185934</c:v>
                </c:pt>
                <c:pt idx="1">
                  <c:v>532.971536</c:v>
                </c:pt>
                <c:pt idx="2">
                  <c:v>517.251925</c:v>
                </c:pt>
                <c:pt idx="3">
                  <c:v>925.592213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[【2026年4月】经营数据.et]春夏秋冬!$D$1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[【2026年4月】经营数据.et]春夏秋冬!$C$2:$C$5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[【2026年4月】经营数据.et]春夏秋冬!$D$2:$D$5</c:f>
              <c:numCache>
                <c:formatCode>_ * #,##0.00_ ;[Red]_ * \-#,##0.00_ ;_ * "-"??_ ;_ @_ </c:formatCode>
                <c:ptCount val="4"/>
                <c:pt idx="0">
                  <c:v>1494.87619047619</c:v>
                </c:pt>
                <c:pt idx="1">
                  <c:v>903.57</c:v>
                </c:pt>
                <c:pt idx="2">
                  <c:v>664.10036025</c:v>
                </c:pt>
                <c:pt idx="3">
                  <c:v>835.1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[【2026年4月】经营数据.et]春夏秋冬!$E$1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[【2026年4月】经营数据.et]春夏秋冬!$C$2:$C$5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[【2026年4月】经营数据.et]春夏秋冬!$E$2:$E$5</c:f>
              <c:numCache>
                <c:formatCode>_ * #,##0.00_ ;[Red]_ * \-#,##0.00_ ;_ * "-"??_ ;_ @_ </c:formatCode>
                <c:ptCount val="4"/>
                <c:pt idx="0">
                  <c:v>413.23</c:v>
                </c:pt>
                <c:pt idx="1">
                  <c:v>208.58</c:v>
                </c:pt>
                <c:pt idx="2">
                  <c:v>89.09</c:v>
                </c:pt>
                <c:pt idx="3">
                  <c:v>105.3993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[【2026年4月】经营数据.et]春夏秋冬!$F$1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[【2026年4月】经营数据.et]春夏秋冬!$C$2:$C$5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[【2026年4月】经营数据.et]春夏秋冬!$F$2:$F$5</c:f>
              <c:numCache>
                <c:formatCode>_ * #,##0.00%_ ;[Red]_ * \-#,##0.00%_ ;_ * "-"??_ ;_ @_ </c:formatCode>
                <c:ptCount val="4"/>
                <c:pt idx="0">
                  <c:v>0.276430919585632</c:v>
                </c:pt>
                <c:pt idx="1">
                  <c:v>0.230839890655954</c:v>
                </c:pt>
                <c:pt idx="2">
                  <c:v>0.134151410438118</c:v>
                </c:pt>
                <c:pt idx="3">
                  <c:v>0.126211591426177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[【2026年4月】经营数据.et]春夏秋冬!$F$35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[【2026年4月】经营数据.et]春夏秋冬!$G$33:$R$33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[【2026年4月】经营数据.et]春夏秋冬!$G$35:$R$35</c:f>
              <c:numCache>
                <c:formatCode>_ * #,##0.00_ ;[Red]_ * \-#,##0.00_ ;_ * "-"??_ ;_ @_ </c:formatCode>
                <c:ptCount val="12"/>
                <c:pt idx="0">
                  <c:v>111.6</c:v>
                </c:pt>
                <c:pt idx="1">
                  <c:v>120.92</c:v>
                </c:pt>
                <c:pt idx="2">
                  <c:v>113.45</c:v>
                </c:pt>
                <c:pt idx="3">
                  <c:v>120.32</c:v>
                </c:pt>
                <c:pt idx="4">
                  <c:v>111.4</c:v>
                </c:pt>
                <c:pt idx="5">
                  <c:v>106.45</c:v>
                </c:pt>
                <c:pt idx="6">
                  <c:v>110.76</c:v>
                </c:pt>
                <c:pt idx="7">
                  <c:v>103.39</c:v>
                </c:pt>
                <c:pt idx="8">
                  <c:v>119.5</c:v>
                </c:pt>
                <c:pt idx="9">
                  <c:v>126.5</c:v>
                </c:pt>
                <c:pt idx="10">
                  <c:v>118.9</c:v>
                </c:pt>
                <c:pt idx="11">
                  <c:v>109.64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[【2026年4月】经营数据.et]春夏秋冬!$F$36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[【2026年4月】经营数据.et]春夏秋冬!$G$33:$R$33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[【2026年4月】经营数据.et]春夏秋冬!$G$36:$R$36</c:f>
              <c:numCache>
                <c:formatCode>_ * #,##0.00_ ;[Red]_ * \-#,##0.00_ ;_ * "-"??_ ;_ @_ </c:formatCode>
                <c:ptCount val="12"/>
                <c:pt idx="0">
                  <c:v>111.471428571429</c:v>
                </c:pt>
                <c:pt idx="1">
                  <c:v>104.851428571429</c:v>
                </c:pt>
                <c:pt idx="2">
                  <c:v>119.391428571429</c:v>
                </c:pt>
                <c:pt idx="3">
                  <c:v>121.311428571429</c:v>
                </c:pt>
                <c:pt idx="4">
                  <c:v>123.641428571429</c:v>
                </c:pt>
                <c:pt idx="5">
                  <c:v>125.651428571429</c:v>
                </c:pt>
                <c:pt idx="6">
                  <c:v>129.101428571429</c:v>
                </c:pt>
                <c:pt idx="7">
                  <c:v>132.819047619048</c:v>
                </c:pt>
                <c:pt idx="8">
                  <c:v>131.57</c:v>
                </c:pt>
                <c:pt idx="9">
                  <c:v>130.409047619048</c:v>
                </c:pt>
                <c:pt idx="10">
                  <c:v>131.899047619048</c:v>
                </c:pt>
                <c:pt idx="11">
                  <c:v>132.759047619048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[【2026年4月】经营数据.et]春夏秋冬!$F$34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[【2026年4月】经营数据.et]春夏秋冬!$G$33:$R$33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[【2026年4月】经营数据.et]春夏秋冬!$G$34:$R$34</c:f>
              <c:numCache>
                <c:formatCode>_ * #,##0.00_ ;[Red]_ * \-#,##0.00_ ;_ * "-"??_ ;_ @_ </c:formatCode>
                <c:ptCount val="12"/>
                <c:pt idx="0">
                  <c:v>115.23</c:v>
                </c:pt>
                <c:pt idx="1">
                  <c:v>97.66</c:v>
                </c:pt>
                <c:pt idx="2">
                  <c:v>97.81</c:v>
                </c:pt>
                <c:pt idx="3">
                  <c:v>102.53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[【2026年4月】经营数据.et]春夏秋冬!$F$40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[【2026年4月】经营数据.et]春夏秋冬!$G$39:$R$39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[【2026年4月】经营数据.et]春夏秋冬!$G$40:$R$40</c:f>
              <c:numCache>
                <c:formatCode>_(* #,##0.00_);_(* \(#,##0.00\);_(* "-"??_);_(@_)</c:formatCode>
                <c:ptCount val="12"/>
                <c:pt idx="0">
                  <c:v>115.23</c:v>
                </c:pt>
                <c:pt idx="1">
                  <c:v>97.66</c:v>
                </c:pt>
                <c:pt idx="2">
                  <c:v>97.81</c:v>
                </c:pt>
                <c:pt idx="3">
                  <c:v>102.53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[【2026年4月】经营数据.et]春夏秋冬!$F$41</c:f>
              <c:strCache>
                <c:ptCount val="1"/>
                <c:pt idx="0">
                  <c:v>EBITDA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[【2026年4月】经营数据.et]春夏秋冬!$G$39:$R$39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[【2026年4月】经营数据.et]春夏秋冬!$G$41:$R$41</c:f>
              <c:numCache>
                <c:formatCode>_(* #,##0.00_);_(* \(#,##0.00\);_(* "-"??_);_(@_)</c:formatCode>
                <c:ptCount val="12"/>
                <c:pt idx="0">
                  <c:v>64.96</c:v>
                </c:pt>
                <c:pt idx="1">
                  <c:v>47.55</c:v>
                </c:pt>
                <c:pt idx="2">
                  <c:v>49.88</c:v>
                </c:pt>
                <c:pt idx="3">
                  <c:v>46.19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[【2026年4月】经营数据.et]春夏秋冬!$F$42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[【2026年4月】经营数据.et]春夏秋冬!$G$39:$R$39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[【2026年4月】经营数据.et]春夏秋冬!$G$42:$R$42</c:f>
              <c:numCache>
                <c:formatCode>_(* #,##0.00_);_(* \(#,##0.00\);_(* "-"??_);_(@_)</c:formatCode>
                <c:ptCount val="12"/>
                <c:pt idx="0">
                  <c:v>-11.16</c:v>
                </c:pt>
                <c:pt idx="1">
                  <c:v>-8.45</c:v>
                </c:pt>
                <c:pt idx="2">
                  <c:v>86.87</c:v>
                </c:pt>
                <c:pt idx="3">
                  <c:v>21.83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[【2026年4月】经营数据.et]春夏秋冬!$F$43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[【2026年4月】经营数据.et]春夏秋冬!$G$39:$R$39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[【2026年4月】经营数据.et]春夏秋冬!$G$43:$R$43</c:f>
              <c:numCache>
                <c:formatCode>_(* #,##0.00_);_(* \(#,##0.00\);_(* "-"??_);_(@_)</c:formatCode>
                <c:ptCount val="12"/>
                <c:pt idx="0">
                  <c:v>25.4393</c:v>
                </c:pt>
                <c:pt idx="1">
                  <c:v>25.42</c:v>
                </c:pt>
                <c:pt idx="2">
                  <c:v>23.66</c:v>
                </c:pt>
                <c:pt idx="3">
                  <c:v>30.88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[【2026年4月】经营数据.et]重庆宜新!$D$1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[【2026年4月】经营数据.et]重庆宜新!$C$2:$C$5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[【2026年4月】经营数据.et]重庆宜新!$D$2:$D$5</c:f>
              <c:numCache>
                <c:formatCode>_ * #,##0.00_ ;[Red]_ * \-#,##0.00_ ;_ * "-"??_ ;_ @_ </c:formatCode>
                <c:ptCount val="4"/>
                <c:pt idx="0">
                  <c:v>709.51635684571</c:v>
                </c:pt>
                <c:pt idx="1">
                  <c:v>190.720375834931</c:v>
                </c:pt>
                <c:pt idx="2">
                  <c:v>259.62622280893</c:v>
                </c:pt>
                <c:pt idx="3">
                  <c:v>268.663688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[【2026年4月】经营数据.et]重庆宜新!$E$1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[【2026年4月】经营数据.et]重庆宜新!$C$2:$C$5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[【2026年4月】经营数据.et]重庆宜新!$E$2:$E$5</c:f>
              <c:numCache>
                <c:formatCode>_ * #,##0.00_ ;[Red]_ * \-#,##0.00_ ;_ * "-"??_ ;_ @_ </c:formatCode>
                <c:ptCount val="4"/>
                <c:pt idx="0">
                  <c:v>162.252291</c:v>
                </c:pt>
                <c:pt idx="1">
                  <c:v>-44.050255</c:v>
                </c:pt>
                <c:pt idx="2">
                  <c:v>-8.790282</c:v>
                </c:pt>
                <c:pt idx="3">
                  <c:v>62.61976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[【2026年4月】经营数据.et]重庆宜新!$F$1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[【2026年4月】经营数据.et]重庆宜新!$C$2:$C$5</c:f>
              <c:strCache>
                <c:ptCount val="4"/>
                <c:pt idx="0">
                  <c:v>营业收入</c:v>
                </c:pt>
                <c:pt idx="1">
                  <c:v>EBITDA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[【2026年4月】经营数据.et]重庆宜新!$F$2:$F$5</c:f>
              <c:numCache>
                <c:formatCode>_ * #,##0.00%_ ;[Red]_ * \-#,##0.00%_ ;_ * "-"??_ ;_ @_ </c:formatCode>
                <c:ptCount val="4"/>
                <c:pt idx="0">
                  <c:v>0.228680127574963</c:v>
                </c:pt>
                <c:pt idx="1">
                  <c:v>0</c:v>
                </c:pt>
                <c:pt idx="2">
                  <c:v>0</c:v>
                </c:pt>
                <c:pt idx="3">
                  <c:v>0.233078613883987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[【2026年4月】经营数据.et]重庆宜新!$F$35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[【2026年4月】经营数据.et]重庆宜新!$G$33:$R$33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[【2026年4月】经营数据.et]重庆宜新!$G$35:$R$35</c:f>
              <c:numCache>
                <c:formatCode>_ * #,##0.00_ ;[Red]_ * \-#,##0.00_ ;_ * "-"??_ ;_ @_ </c:formatCode>
                <c:ptCount val="12"/>
                <c:pt idx="0">
                  <c:v>60.893351</c:v>
                </c:pt>
                <c:pt idx="1">
                  <c:v>61.44702</c:v>
                </c:pt>
                <c:pt idx="2">
                  <c:v>62.937243</c:v>
                </c:pt>
                <c:pt idx="3">
                  <c:v>58.140368</c:v>
                </c:pt>
                <c:pt idx="4">
                  <c:v>54.59992</c:v>
                </c:pt>
                <c:pt idx="5">
                  <c:v>57.112126</c:v>
                </c:pt>
                <c:pt idx="6">
                  <c:v>57.107671</c:v>
                </c:pt>
                <c:pt idx="7">
                  <c:v>57.864961</c:v>
                </c:pt>
                <c:pt idx="8">
                  <c:v>58.017674</c:v>
                </c:pt>
                <c:pt idx="9">
                  <c:v>58.010279</c:v>
                </c:pt>
                <c:pt idx="10">
                  <c:v>59.447189</c:v>
                </c:pt>
                <c:pt idx="11">
                  <c:v>62.761423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[【2026年4月】经营数据.et]重庆宜新!$F$36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[【2026年4月】经营数据.et]重庆宜新!$G$33:$R$33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[【2026年4月】经营数据.et]重庆宜新!$G$36:$R$36</c:f>
              <c:numCache>
                <c:formatCode>_ * #,##0.00_ ;[Red]_ * \-#,##0.00_ ;_ * "-"??_ ;_ @_ </c:formatCode>
                <c:ptCount val="12"/>
                <c:pt idx="0">
                  <c:v>35.6760064220184</c:v>
                </c:pt>
                <c:pt idx="1">
                  <c:v>30.6972352007633</c:v>
                </c:pt>
                <c:pt idx="2">
                  <c:v>30.8110792374605</c:v>
                </c:pt>
                <c:pt idx="3">
                  <c:v>47.0911205218642</c:v>
                </c:pt>
                <c:pt idx="4">
                  <c:v>58.2745333659009</c:v>
                </c:pt>
                <c:pt idx="5">
                  <c:v>61.5253584749211</c:v>
                </c:pt>
                <c:pt idx="6">
                  <c:v>71.7276589724771</c:v>
                </c:pt>
                <c:pt idx="7">
                  <c:v>74.0033941732404</c:v>
                </c:pt>
                <c:pt idx="8">
                  <c:v>78.4652338715596</c:v>
                </c:pt>
                <c:pt idx="9">
                  <c:v>73.8255824954128</c:v>
                </c:pt>
                <c:pt idx="10">
                  <c:v>73.7095770550459</c:v>
                </c:pt>
                <c:pt idx="11">
                  <c:v>73.7095770550459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[【2026年4月】经营数据.et]重庆宜新!$F$34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[【2026年4月】经营数据.et]重庆宜新!$G$33:$R$33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[【2026年4月】经营数据.et]重庆宜新!$G$34:$R$34</c:f>
              <c:numCache>
                <c:formatCode>_ * #,##0.00_ ;[Red]_ * \-#,##0.00_ ;_ * "-"??_ ;_ @_ </c:formatCode>
                <c:ptCount val="12"/>
                <c:pt idx="0">
                  <c:v>51.121052</c:v>
                </c:pt>
                <c:pt idx="1">
                  <c:v>28.623522</c:v>
                </c:pt>
                <c:pt idx="2">
                  <c:v>50.833071</c:v>
                </c:pt>
                <c:pt idx="3">
                  <c:v>31.674646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[【2026年4月】经营数据.et]重庆宜新!$F$40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[【2026年4月】经营数据.et]重庆宜新!$G$39:$R$39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[【2026年4月】经营数据.et]重庆宜新!$G$40:$R$40</c:f>
              <c:numCache>
                <c:formatCode>_(* #,##0.00_);_(* \(#,##0.00\);_(* "-"??_);_(@_)</c:formatCode>
                <c:ptCount val="12"/>
                <c:pt idx="0">
                  <c:v>51.121052</c:v>
                </c:pt>
                <c:pt idx="1">
                  <c:v>28.623522</c:v>
                </c:pt>
                <c:pt idx="2">
                  <c:v>50.833071</c:v>
                </c:pt>
                <c:pt idx="3">
                  <c:v>31.674646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[【2026年4月】经营数据.et]重庆宜新!$F$41</c:f>
              <c:strCache>
                <c:ptCount val="1"/>
                <c:pt idx="0">
                  <c:v>EBITDA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[【2026年4月】经营数据.et]重庆宜新!$G$39:$R$39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[【2026年4月】经营数据.et]重庆宜新!$G$41:$R$41</c:f>
              <c:numCache>
                <c:formatCode>_(* #,##0.00_);_(* \(#,##0.00\);_(* "-"??_);_(@_)</c:formatCode>
                <c:ptCount val="12"/>
                <c:pt idx="0">
                  <c:v>45.562446</c:v>
                </c:pt>
                <c:pt idx="1">
                  <c:v>23.283589</c:v>
                </c:pt>
                <c:pt idx="2">
                  <c:v>3.393221</c:v>
                </c:pt>
                <c:pt idx="3">
                  <c:v>-116.289511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[【2026年4月】经营数据.et]重庆宜新!$F$42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[【2026年4月】经营数据.et]重庆宜新!$G$39:$R$39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[【2026年4月】经营数据.et]重庆宜新!$G$42:$R$42</c:f>
              <c:numCache>
                <c:formatCode>_(* #,##0.00_);_(* \(#,##0.00\);_(* "-"??_);_(@_)</c:formatCode>
                <c:ptCount val="12"/>
                <c:pt idx="0">
                  <c:v>27.423488</c:v>
                </c:pt>
                <c:pt idx="1">
                  <c:v>11.955679</c:v>
                </c:pt>
                <c:pt idx="2">
                  <c:v>66.988168</c:v>
                </c:pt>
                <c:pt idx="3">
                  <c:v>-115.157617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[【2026年4月】经营数据.et]重庆宜新!$F$43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[【2026年4月】经营数据.et]重庆宜新!$G$39:$R$39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[【2026年4月】经营数据.et]重庆宜新!$G$43:$R$43</c:f>
              <c:numCache>
                <c:formatCode>_(* #,##0.00_);_(* \(#,##0.00\);_(* "-"??_);_(@_)</c:formatCode>
                <c:ptCount val="12"/>
                <c:pt idx="0">
                  <c:v>5.135138</c:v>
                </c:pt>
                <c:pt idx="1">
                  <c:v>5.14162</c:v>
                </c:pt>
                <c:pt idx="2">
                  <c:v>47.184892</c:v>
                </c:pt>
                <c:pt idx="3">
                  <c:v>5.15811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[【2026年4月】经营数据.et]伯豪瑞廷!$D$1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[【2026年4月】经营数据.et]伯豪瑞廷!$D$2:$D$5</c:f>
              <c:numCache>
                <c:formatCode>_ * #,##0.00_ ;[Red]_ * \-#,##0.00_ ;_ * "-"??_ ;_ @_ </c:formatCode>
                <c:ptCount val="4"/>
                <c:pt idx="0">
                  <c:v>7640.86</c:v>
                </c:pt>
                <c:pt idx="1">
                  <c:v>3208.89</c:v>
                </c:pt>
                <c:pt idx="2">
                  <c:v>2140.79</c:v>
                </c:pt>
                <c:pt idx="3">
                  <c:v>4751.02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[【2026年4月】经营数据.et]伯豪瑞廷!$E$1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[【2026年4月】经营数据.et]伯豪瑞廷!$E$2:$E$5</c:f>
              <c:numCache>
                <c:formatCode>_ * #,##0.00_ ;[Red]_ * \-#,##0.00_ ;_ * "-"??_ ;_ @_ </c:formatCode>
                <c:ptCount val="4"/>
                <c:pt idx="0">
                  <c:v>2102.35</c:v>
                </c:pt>
                <c:pt idx="1">
                  <c:v>745.9424</c:v>
                </c:pt>
                <c:pt idx="2">
                  <c:v>63.96</c:v>
                </c:pt>
                <c:pt idx="3">
                  <c:v>1367.6576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[【2026年4月】经营数据.et]伯豪瑞廷!$F$1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[【2026年4月】经营数据.et]伯豪瑞廷!$F$2:$F$5</c:f>
              <c:numCache>
                <c:formatCode>_ * #,##0.00%_ ;[Red]_ * \-#,##0.00%_ ;_ * "-"??_ ;_ @_ </c:formatCode>
                <c:ptCount val="4"/>
                <c:pt idx="0">
                  <c:v>0.275145729669173</c:v>
                </c:pt>
                <c:pt idx="1">
                  <c:v>0.232461193746124</c:v>
                </c:pt>
                <c:pt idx="2">
                  <c:v>0.029876821173492</c:v>
                </c:pt>
                <c:pt idx="3">
                  <c:v>0.287866100332139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[【2026年4月】经营数据.et]伯豪瑞廷!$F$35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[【2026年4月】经营数据.et]伯豪瑞廷!$G$35:$R$35</c:f>
              <c:numCache>
                <c:formatCode>_ * #,##0.00_ ;[Red]_ * \-#,##0.00_ ;_ * "-"??_ ;_ @_ </c:formatCode>
                <c:ptCount val="12"/>
                <c:pt idx="0">
                  <c:v>638.59</c:v>
                </c:pt>
                <c:pt idx="1">
                  <c:v>508.88</c:v>
                </c:pt>
                <c:pt idx="2">
                  <c:v>583.66</c:v>
                </c:pt>
                <c:pt idx="3">
                  <c:v>632.44</c:v>
                </c:pt>
                <c:pt idx="4">
                  <c:v>669.89</c:v>
                </c:pt>
                <c:pt idx="5">
                  <c:v>654.76</c:v>
                </c:pt>
                <c:pt idx="6">
                  <c:v>751.06</c:v>
                </c:pt>
                <c:pt idx="7">
                  <c:v>672.56</c:v>
                </c:pt>
                <c:pt idx="8">
                  <c:v>585.23</c:v>
                </c:pt>
                <c:pt idx="9">
                  <c:v>673.95</c:v>
                </c:pt>
                <c:pt idx="10">
                  <c:v>623.86</c:v>
                </c:pt>
                <c:pt idx="11">
                  <c:v>554.4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[【2026年4月】经营数据.et]伯豪瑞廷!$F$36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[【2026年4月】经营数据.et]伯豪瑞廷!$G$36:$R$36</c:f>
              <c:numCache>
                <c:formatCode>_ * #,##0.00_ ;[Red]_ * \-#,##0.00_ ;_ * "-"??_ ;_ @_ </c:formatCode>
                <c:ptCount val="12"/>
                <c:pt idx="0">
                  <c:v>627.4</c:v>
                </c:pt>
                <c:pt idx="1">
                  <c:v>501.26</c:v>
                </c:pt>
                <c:pt idx="2">
                  <c:v>568.4</c:v>
                </c:pt>
                <c:pt idx="3">
                  <c:v>621.71</c:v>
                </c:pt>
                <c:pt idx="4">
                  <c:v>648.43</c:v>
                </c:pt>
                <c:pt idx="5">
                  <c:v>636.67</c:v>
                </c:pt>
                <c:pt idx="6">
                  <c:v>738.6</c:v>
                </c:pt>
                <c:pt idx="7">
                  <c:v>710.2</c:v>
                </c:pt>
                <c:pt idx="8">
                  <c:v>631.86</c:v>
                </c:pt>
                <c:pt idx="9">
                  <c:v>656.96</c:v>
                </c:pt>
                <c:pt idx="10">
                  <c:v>655.88</c:v>
                </c:pt>
                <c:pt idx="11">
                  <c:v>643.49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[【2026年4月】经营数据.et]伯豪瑞廷!$F$34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[【2026年4月】经营数据.et]伯豪瑞廷!$G$33:$R$33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[【2026年4月】经营数据.et]伯豪瑞廷!$G$34:$R$34</c:f>
              <c:numCache>
                <c:formatCode>_ * #,##0.00_ ;[Red]_ * \-#,##0.00_ ;_ * "-"??_ ;_ @_ </c:formatCode>
                <c:ptCount val="12"/>
                <c:pt idx="0">
                  <c:v>557.51</c:v>
                </c:pt>
                <c:pt idx="1">
                  <c:v>405.76</c:v>
                </c:pt>
                <c:pt idx="2">
                  <c:v>524.09</c:v>
                </c:pt>
                <c:pt idx="3">
                  <c:v>614.99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[【2026年4月】经营数据.et]伯豪瑞廷!$F$40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[【2026年4月】经营数据.et]伯豪瑞廷!$G$39:$R$39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[【2026年4月】经营数据.et]伯豪瑞廷!$G$40:$R$40</c:f>
              <c:numCache>
                <c:formatCode>_(* #,##0.00_);_(* \(#,##0.00\);_(* "-"??_);_(@_)</c:formatCode>
                <c:ptCount val="12"/>
                <c:pt idx="0">
                  <c:v>557.51</c:v>
                </c:pt>
                <c:pt idx="1">
                  <c:v>405.76</c:v>
                </c:pt>
                <c:pt idx="2">
                  <c:v>524.09</c:v>
                </c:pt>
                <c:pt idx="3">
                  <c:v>614.99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[【2026年4月】经营数据.et]伯豪瑞廷!$F$41</c:f>
              <c:strCache>
                <c:ptCount val="1"/>
                <c:pt idx="0">
                  <c:v>GOP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[【2026年4月】经营数据.et]伯豪瑞廷!$G$39:$R$39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[【2026年4月】经营数据.et]伯豪瑞廷!$G$41:$R$41</c:f>
              <c:numCache>
                <c:formatCode>_(* #,##0.00_);_(* \(#,##0.00\);_(* "-"??_);_(@_)</c:formatCode>
                <c:ptCount val="12"/>
                <c:pt idx="0">
                  <c:v>200.8924</c:v>
                </c:pt>
                <c:pt idx="1">
                  <c:v>69.875</c:v>
                </c:pt>
                <c:pt idx="2">
                  <c:v>196.984</c:v>
                </c:pt>
                <c:pt idx="3">
                  <c:v>278.191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[【2026年4月】经营数据.et]伯豪瑞廷!$F$42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[【2026年4月】经营数据.et]伯豪瑞廷!$G$39:$R$39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[【2026年4月】经营数据.et]伯豪瑞廷!$G$42:$R$42</c:f>
              <c:numCache>
                <c:formatCode>_(* #,##0.00_);_(* \(#,##0.00\);_(* "-"??_);_(@_)</c:formatCode>
                <c:ptCount val="12"/>
                <c:pt idx="0">
                  <c:v>17.26</c:v>
                </c:pt>
                <c:pt idx="1">
                  <c:v>25.62</c:v>
                </c:pt>
                <c:pt idx="2">
                  <c:v>207.69</c:v>
                </c:pt>
                <c:pt idx="3">
                  <c:v>-186.61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[【2026年4月】经营数据.et]伯豪瑞廷!$F$43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[【2026年4月】经营数据.et]伯豪瑞廷!$G$39:$R$39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[【2026年4月】经营数据.et]伯豪瑞廷!$G$43:$R$43</c:f>
              <c:numCache>
                <c:formatCode>_(* #,##0.00_);_(* \(#,##0.00\);_(* "-"??_);_(@_)</c:formatCode>
                <c:ptCount val="12"/>
                <c:pt idx="0">
                  <c:v>359.0376</c:v>
                </c:pt>
                <c:pt idx="1">
                  <c:v>338.005</c:v>
                </c:pt>
                <c:pt idx="2">
                  <c:v>331.676</c:v>
                </c:pt>
                <c:pt idx="3">
                  <c:v>338.939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[【2026年4月】经营数据.et]伯豪瑞廷!$D$1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[【2026年4月】经营数据.et]伯豪瑞廷!$D$2:$D$5</c:f>
              <c:numCache>
                <c:formatCode>_ * #,##0.00_ ;[Red]_ * \-#,##0.00_ ;_ * "-"??_ ;_ @_ </c:formatCode>
                <c:ptCount val="4"/>
                <c:pt idx="0">
                  <c:v>7640.86</c:v>
                </c:pt>
                <c:pt idx="1">
                  <c:v>3208.89</c:v>
                </c:pt>
                <c:pt idx="2">
                  <c:v>2140.79</c:v>
                </c:pt>
                <c:pt idx="3">
                  <c:v>4751.02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[【2026年4月】经营数据.et]伯豪瑞廷!$E$1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[【2026年4月】经营数据.et]伯豪瑞廷!$E$2:$E$5</c:f>
              <c:numCache>
                <c:formatCode>_ * #,##0.00_ ;[Red]_ * \-#,##0.00_ ;_ * "-"??_ ;_ @_ </c:formatCode>
                <c:ptCount val="4"/>
                <c:pt idx="0">
                  <c:v>2102.35</c:v>
                </c:pt>
                <c:pt idx="1">
                  <c:v>745.9424</c:v>
                </c:pt>
                <c:pt idx="2">
                  <c:v>63.96</c:v>
                </c:pt>
                <c:pt idx="3">
                  <c:v>1367.6576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[【2026年4月】经营数据.et]伯豪瑞廷!$F$1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[【2026年4月】经营数据.et]伯豪瑞廷!$C$2:$C$5</c:f>
              <c:strCache>
                <c:ptCount val="4"/>
                <c:pt idx="0">
                  <c:v>营业收入</c:v>
                </c:pt>
                <c:pt idx="1">
                  <c:v>GOP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[【2026年4月】经营数据.et]伯豪瑞廷!$F$2:$F$5</c:f>
              <c:numCache>
                <c:formatCode>_ * #,##0.00%_ ;[Red]_ * \-#,##0.00%_ ;_ * "-"??_ ;_ @_ </c:formatCode>
                <c:ptCount val="4"/>
                <c:pt idx="0">
                  <c:v>0.275145729669173</c:v>
                </c:pt>
                <c:pt idx="1">
                  <c:v>0.232461193746124</c:v>
                </c:pt>
                <c:pt idx="2">
                  <c:v>0.029876821173492</c:v>
                </c:pt>
                <c:pt idx="3">
                  <c:v>0.287866100332139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[【2026年4月】经营数据.et]重庆瑞尔!$F$35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[【2026年4月】经营数据.et]重庆瑞尔!$G$33:$R$33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[【2026年4月】经营数据.et]重庆瑞尔!$G$35:$R$35</c:f>
              <c:numCache>
                <c:formatCode>_ * #,##0.00_ ;[Red]_ * \-#,##0.00_ ;_ * "-"??_ ;_ @_ </c:formatCode>
                <c:ptCount val="12"/>
                <c:pt idx="0">
                  <c:v>122.070553</c:v>
                </c:pt>
                <c:pt idx="1">
                  <c:v>81.181808</c:v>
                </c:pt>
                <c:pt idx="2">
                  <c:v>97.998313</c:v>
                </c:pt>
                <c:pt idx="3">
                  <c:v>102.574815</c:v>
                </c:pt>
                <c:pt idx="4">
                  <c:v>114.977634</c:v>
                </c:pt>
                <c:pt idx="5">
                  <c:v>96.161043</c:v>
                </c:pt>
                <c:pt idx="6">
                  <c:v>113.346138</c:v>
                </c:pt>
                <c:pt idx="7">
                  <c:v>129.571562</c:v>
                </c:pt>
                <c:pt idx="8">
                  <c:v>113.185232</c:v>
                </c:pt>
                <c:pt idx="9">
                  <c:v>138.985576</c:v>
                </c:pt>
                <c:pt idx="10">
                  <c:v>123.142682</c:v>
                </c:pt>
                <c:pt idx="11">
                  <c:v>83.825761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[【2026年4月】经营数据.et]重庆瑞尔!$F$36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[【2026年4月】经营数据.et]重庆瑞尔!$G$33:$R$33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[【2026年4月】经营数据.et]重庆瑞尔!$G$36:$R$36</c:f>
              <c:numCache>
                <c:formatCode>_ * #,##0.00_ ;[Red]_ * \-#,##0.00_ ;_ * "-"??_ ;_ @_ </c:formatCode>
                <c:ptCount val="12"/>
                <c:pt idx="0">
                  <c:v>88.7487450233685</c:v>
                </c:pt>
                <c:pt idx="1">
                  <c:v>89.8053487969534</c:v>
                </c:pt>
                <c:pt idx="2">
                  <c:v>102.239311061104</c:v>
                </c:pt>
                <c:pt idx="3">
                  <c:v>112.080820495067</c:v>
                </c:pt>
                <c:pt idx="4">
                  <c:v>133.300631815821</c:v>
                </c:pt>
                <c:pt idx="5">
                  <c:v>123.262353305219</c:v>
                </c:pt>
                <c:pt idx="6">
                  <c:v>132.824216721482</c:v>
                </c:pt>
                <c:pt idx="7">
                  <c:v>133.560065778085</c:v>
                </c:pt>
                <c:pt idx="8">
                  <c:v>134.934251785766</c:v>
                </c:pt>
                <c:pt idx="9">
                  <c:v>140.847801627142</c:v>
                </c:pt>
                <c:pt idx="10">
                  <c:v>134.687424268652</c:v>
                </c:pt>
                <c:pt idx="11">
                  <c:v>128.70629219318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[【2026年4月】经营数据.et]重庆瑞尔!$F$34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[【2026年4月】经营数据.et]重庆瑞尔!$G$33:$R$33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[【2026年4月】经营数据.et]重庆瑞尔!$G$34:$R$34</c:f>
              <c:numCache>
                <c:formatCode>_ * #,##0.00_ ;[Red]_ * \-#,##0.00_ ;_ * "-"??_ ;_ @_ </c:formatCode>
                <c:ptCount val="12"/>
                <c:pt idx="0">
                  <c:v>78.97726</c:v>
                </c:pt>
                <c:pt idx="1">
                  <c:v>63.822824</c:v>
                </c:pt>
                <c:pt idx="2">
                  <c:v>80.56083</c:v>
                </c:pt>
                <c:pt idx="3">
                  <c:v>96.956248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[【2026年4月】经营数据.et]重庆瑞尔!$F$40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[【2026年4月】经营数据.et]重庆瑞尔!$G$39:$R$39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[【2026年4月】经营数据.et]重庆瑞尔!$G$40:$R$40</c:f>
              <c:numCache>
                <c:formatCode>_(* #,##0.00_);_(* \(#,##0.00\);_(* "-"??_);_(@_)</c:formatCode>
                <c:ptCount val="12"/>
                <c:pt idx="0">
                  <c:v>78.97726</c:v>
                </c:pt>
                <c:pt idx="1">
                  <c:v>63.822824</c:v>
                </c:pt>
                <c:pt idx="2">
                  <c:v>80.56083</c:v>
                </c:pt>
                <c:pt idx="3">
                  <c:v>96.956248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[【2026年4月】经营数据.et]重庆瑞尔!$F$41</c:f>
              <c:strCache>
                <c:ptCount val="1"/>
                <c:pt idx="0">
                  <c:v>GOP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[【2026年4月】经营数据.et]重庆瑞尔!$G$39:$R$39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[【2026年4月】经营数据.et]重庆瑞尔!$G$41:$R$41</c:f>
              <c:numCache>
                <c:formatCode>_(* #,##0.00_);_(* \(#,##0.00\);_(* "-"??_);_(@_)</c:formatCode>
                <c:ptCount val="12"/>
                <c:pt idx="0">
                  <c:v>-52.776259</c:v>
                </c:pt>
                <c:pt idx="1">
                  <c:v>-38.670642</c:v>
                </c:pt>
                <c:pt idx="2">
                  <c:v>-1.72705700000001</c:v>
                </c:pt>
                <c:pt idx="3">
                  <c:v>-13.573026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[【2026年4月】经营数据.et]重庆瑞尔!$F$42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[【2026年4月】经营数据.et]重庆瑞尔!$G$39:$R$39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[【2026年4月】经营数据.et]重庆瑞尔!$G$42:$R$42</c:f>
              <c:numCache>
                <c:formatCode>_(* #,##0.00_);_(* \(#,##0.00\);_(* "-"??_);_(@_)</c:formatCode>
                <c:ptCount val="12"/>
                <c:pt idx="0">
                  <c:v>-59.297686</c:v>
                </c:pt>
                <c:pt idx="1">
                  <c:v>-47.233397</c:v>
                </c:pt>
                <c:pt idx="2">
                  <c:v>-17.259462</c:v>
                </c:pt>
                <c:pt idx="3">
                  <c:v>-90.647837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[【2026年4月】经营数据.et]重庆瑞尔!$F$43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[【2026年4月】经营数据.et]重庆瑞尔!$G$39:$R$39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[【2026年4月】经营数据.et]重庆瑞尔!$G$43:$R$43</c:f>
              <c:numCache>
                <c:formatCode>_(* #,##0.00_);_(* \(#,##0.00\);_(* "-"??_);_(@_)</c:formatCode>
                <c:ptCount val="12"/>
                <c:pt idx="0">
                  <c:v>131.622547</c:v>
                </c:pt>
                <c:pt idx="1">
                  <c:v>102.388778</c:v>
                </c:pt>
                <c:pt idx="2">
                  <c:v>82.703909</c:v>
                </c:pt>
                <c:pt idx="3">
                  <c:v>110.36911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[【2026年4月】经营数据.et]盛唐融信!$D$1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[【2026年4月】经营数据.et]盛唐融信!$C$2:$C$5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[【2026年4月】经营数据.et]盛唐融信!$D$2:$D$5</c:f>
              <c:numCache>
                <c:formatCode>_ * #,##0.00_ ;[Red]_ * \-#,##0.00_ ;_ * "-"??_ ;_ @_ </c:formatCode>
                <c:ptCount val="4"/>
                <c:pt idx="0">
                  <c:v>755.361936223396</c:v>
                </c:pt>
                <c:pt idx="1">
                  <c:v>127.818006767571</c:v>
                </c:pt>
                <c:pt idx="2">
                  <c:v>91.1549076783355</c:v>
                </c:pt>
                <c:pt idx="3">
                  <c:v>653.173235608278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[【2026年4月】经营数据.et]盛唐融信!$E$1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[【2026年4月】经营数据.et]盛唐融信!$C$2:$C$5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[【2026年4月】经营数据.et]盛唐融信!$E$2:$E$5</c:f>
              <c:numCache>
                <c:formatCode>_ * #,##0.00_ ;[Red]_ * \-#,##0.00_ ;_ * "-"??_ ;_ @_ </c:formatCode>
                <c:ptCount val="4"/>
                <c:pt idx="0">
                  <c:v>107.429814</c:v>
                </c:pt>
                <c:pt idx="1">
                  <c:v>8.75107300000003</c:v>
                </c:pt>
                <c:pt idx="2">
                  <c:v>82.619973</c:v>
                </c:pt>
                <c:pt idx="3">
                  <c:v>116.24243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897913"/>
        <c:axId val="632702452"/>
      </c:barChart>
      <c:lineChart>
        <c:grouping val="standard"/>
        <c:varyColors val="0"/>
        <c:ser>
          <c:idx val="2"/>
          <c:order val="2"/>
          <c:tx>
            <c:strRef>
              <c:f>[【2026年4月】经营数据.et]盛唐融信!$F$1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[【2026年4月】经营数据.et]盛唐融信!$C$2:$C$5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[【2026年4月】经营数据.et]盛唐融信!$F$2:$F$5</c:f>
              <c:numCache>
                <c:formatCode>_ * #,##0.00%_ ;[Red]_ * \-#,##0.00%_ ;_ * "-"??_ ;_ @_ </c:formatCode>
                <c:ptCount val="4"/>
                <c:pt idx="0">
                  <c:v>0.142222964711619</c:v>
                </c:pt>
                <c:pt idx="1">
                  <c:v>0.0684651030109812</c:v>
                </c:pt>
                <c:pt idx="2">
                  <c:v>0.906368895589766</c:v>
                </c:pt>
                <c:pt idx="3">
                  <c:v>0.177965696790603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906320"/>
        <c:axId val="379310624"/>
      </c:lineChart>
      <c:catAx>
        <c:axId val="8398979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32702452"/>
        <c:crosses val="autoZero"/>
        <c:auto val="1"/>
        <c:lblAlgn val="ctr"/>
        <c:lblOffset val="100"/>
        <c:noMultiLvlLbl val="0"/>
      </c:catAx>
      <c:valAx>
        <c:axId val="6327024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839897913"/>
        <c:crosses val="autoZero"/>
        <c:crossBetween val="between"/>
      </c:valAx>
      <c:catAx>
        <c:axId val="313906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79310624"/>
        <c:crosses val="autoZero"/>
        <c:auto val="1"/>
        <c:lblAlgn val="ctr"/>
        <c:lblOffset val="100"/>
        <c:noMultiLvlLbl val="0"/>
      </c:catAx>
      <c:valAx>
        <c:axId val="37931062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13906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614b17-d7e2-45ff-87e1-6976e90e35b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[【2026年4月】经营数据.et]盛唐融信!$F$35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[【2026年4月】经营数据.et]盛唐融信!$G$33:$R$33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[【2026年4月】经营数据.et]盛唐融信!$G$35:$R$35</c:f>
              <c:numCache>
                <c:formatCode>_ * #,##0.00_ ;[Red]_ * \-#,##0.00_ ;_ * "-"??_ ;_ @_ </c:formatCode>
                <c:ptCount val="12"/>
                <c:pt idx="0">
                  <c:v>106.320885</c:v>
                </c:pt>
                <c:pt idx="1">
                  <c:v>42.534918</c:v>
                </c:pt>
                <c:pt idx="2">
                  <c:v>75.209191</c:v>
                </c:pt>
                <c:pt idx="3">
                  <c:v>32.272233</c:v>
                </c:pt>
                <c:pt idx="4">
                  <c:v>43.14</c:v>
                </c:pt>
                <c:pt idx="5">
                  <c:v>47.282986</c:v>
                </c:pt>
                <c:pt idx="6">
                  <c:v>52.31881</c:v>
                </c:pt>
                <c:pt idx="7">
                  <c:v>40.126594</c:v>
                </c:pt>
                <c:pt idx="8">
                  <c:v>41.531773</c:v>
                </c:pt>
                <c:pt idx="9">
                  <c:v>32.941035</c:v>
                </c:pt>
                <c:pt idx="10">
                  <c:v>27.427461</c:v>
                </c:pt>
                <c:pt idx="11">
                  <c:v>44.551139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[【2026年4月】经营数据.et]盛唐融信!$F$36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[【2026年4月】经营数据.et]盛唐融信!$G$33:$R$33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[【2026年4月】经营数据.et]盛唐融信!$G$36:$R$36</c:f>
              <c:numCache>
                <c:formatCode>_ * #,##0.00_ ;[Red]_ * \-#,##0.00_ ;_ * "-"??_ ;_ @_ 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588111"/>
        <c:axId val="38268316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[【2026年4月】经营数据.et]盛唐融信!$F$34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[【2026年4月】经营数据.et]盛唐融信!$G$33:$R$33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[【2026年4月】经营数据.et]盛唐融信!$G$34:$R$34</c:f>
              <c:numCache>
                <c:formatCode>_ * #,##0.00_ ;[Red]_ * \-#,##0.00_ ;_ * "-"??_ ;_ @_ </c:formatCode>
                <c:ptCount val="12"/>
                <c:pt idx="0">
                  <c:v>32.620633</c:v>
                </c:pt>
                <c:pt idx="1">
                  <c:v>19.682364</c:v>
                </c:pt>
                <c:pt idx="2">
                  <c:v>31.674955</c:v>
                </c:pt>
                <c:pt idx="3">
                  <c:v>23.451862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4588111"/>
        <c:axId val="38268316"/>
      </c:scatterChart>
      <c:catAx>
        <c:axId val="914588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38268316"/>
        <c:crosses val="autoZero"/>
        <c:auto val="1"/>
        <c:lblAlgn val="ctr"/>
        <c:lblOffset val="100"/>
        <c:noMultiLvlLbl val="0"/>
      </c:catAx>
      <c:valAx>
        <c:axId val="382683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91458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7ccf3895-3364-4eb9-a571-47969f6814d9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[【2026年4月】经营数据.et]盛唐融信!$F$40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[【2026年4月】经营数据.et]盛唐融信!$G$39:$R$39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[【2026年4月】经营数据.et]盛唐融信!$G$40:$R$40</c:f>
              <c:numCache>
                <c:formatCode>_(* #,##0.00_);_(* \(#,##0.00\);_(* "-"??_);_(@_)</c:formatCode>
                <c:ptCount val="12"/>
                <c:pt idx="0">
                  <c:v>32.620633</c:v>
                </c:pt>
                <c:pt idx="1">
                  <c:v>19.682364</c:v>
                </c:pt>
                <c:pt idx="2">
                  <c:v>31.674955</c:v>
                </c:pt>
                <c:pt idx="3">
                  <c:v>23.451862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[【2026年4月】经营数据.et]盛唐融信!$F$41</c:f>
              <c:strCache>
                <c:ptCount val="1"/>
                <c:pt idx="0">
                  <c:v>扣非利润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[【2026年4月】经营数据.et]盛唐融信!$G$39:$R$39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[【2026年4月】经营数据.et]盛唐融信!$G$41:$R$41</c:f>
              <c:numCache>
                <c:formatCode>_(* #,##0.00_);_(* \(#,##0.00\);_(* "-"??_);_(@_)</c:formatCode>
                <c:ptCount val="12"/>
                <c:pt idx="0">
                  <c:v>4.668735</c:v>
                </c:pt>
                <c:pt idx="1">
                  <c:v>-3.91312499999997</c:v>
                </c:pt>
                <c:pt idx="2">
                  <c:v>6.554692</c:v>
                </c:pt>
                <c:pt idx="3">
                  <c:v>1.440771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[【2026年4月】经营数据.et]盛唐融信!$F$42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[【2026年4月】经营数据.et]盛唐融信!$G$39:$R$39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[【2026年4月】经营数据.et]盛唐融信!$G$42:$R$42</c:f>
              <c:numCache>
                <c:formatCode>_(* #,##0.00_);_(* \(#,##0.00\);_(* "-"??_);_(@_)</c:formatCode>
                <c:ptCount val="12"/>
                <c:pt idx="0">
                  <c:v>-18.43919</c:v>
                </c:pt>
                <c:pt idx="1">
                  <c:v>29.445458</c:v>
                </c:pt>
                <c:pt idx="2">
                  <c:v>58.445817</c:v>
                </c:pt>
                <c:pt idx="3">
                  <c:v>13.167888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[【2026年4月】经营数据.et]盛唐融信!$F$43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[【2026年4月】经营数据.et]盛唐融信!$G$39:$R$39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[【2026年4月】经营数据.et]盛唐融信!$G$43:$R$43</c:f>
              <c:numCache>
                <c:formatCode>_(* #,##0.00_);_(* \(#,##0.00\);_(* "-"??_);_(@_)</c:formatCode>
                <c:ptCount val="12"/>
                <c:pt idx="0">
                  <c:v>32.36311</c:v>
                </c:pt>
                <c:pt idx="1">
                  <c:v>28.197865</c:v>
                </c:pt>
                <c:pt idx="2">
                  <c:v>27.942634</c:v>
                </c:pt>
                <c:pt idx="3">
                  <c:v>27.738821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450671"/>
        <c:axId val="321935575"/>
      </c:lineChart>
      <c:catAx>
        <c:axId val="463450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21935575"/>
        <c:crosses val="autoZero"/>
        <c:auto val="1"/>
        <c:lblAlgn val="ctr"/>
        <c:lblOffset val="100"/>
        <c:noMultiLvlLbl val="0"/>
      </c:catAx>
      <c:valAx>
        <c:axId val="321935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63450671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c901e9-a58e-4d41-9055-798989528a9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任务进度</a:t>
            </a:r>
            <a:endParaRPr lang="zh-CN"/>
          </a:p>
        </c:rich>
      </c:tx>
      <c:layout>
        <c:manualLayout>
          <c:xMode val="edge"/>
          <c:yMode val="edge"/>
          <c:x val="0.445"/>
          <c:y val="0.006946052326927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8939421837599"/>
          <c:y val="0.188821752265861"/>
          <c:w val="0.791824709998159"/>
          <c:h val="0.6968858935626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[【2026年4月】经营数据.et]君康经纪!$D$1</c:f>
              <c:strCache>
                <c:ptCount val="1"/>
                <c:pt idx="0">
                  <c:v>年度目标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[【2026年4月】经营数据.et]君康经纪!$C$2:$C$5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[【2026年4月】经营数据.et]君康经纪!$D$2:$D$5</c:f>
              <c:numCache>
                <c:formatCode>_ * #,##0.00_ ;[Red]_ * \-#,##0.00_ ;_ * "-"??_ ;_ @_ </c:formatCode>
                <c:ptCount val="4"/>
                <c:pt idx="0">
                  <c:v>648.561734135849</c:v>
                </c:pt>
                <c:pt idx="1">
                  <c:v>-19.0437528066115</c:v>
                </c:pt>
                <c:pt idx="2">
                  <c:v>178.189754816399</c:v>
                </c:pt>
                <c:pt idx="3">
                  <c:v>591.075776942461</c:v>
                </c:pt>
              </c:numCache>
            </c:numRef>
          </c:val>
        </c:ser>
        <c:ser>
          <c:idx val="1"/>
          <c:order val="1"/>
          <c:tx>
            <c:strRef>
              <c:f>[【2026年4月】经营数据.et]君康经纪!$E$1</c:f>
              <c:strCache>
                <c:ptCount val="1"/>
                <c:pt idx="0">
                  <c:v>实际达成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[【2026年4月】经营数据.et]君康经纪!$C$2:$C$5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[【2026年4月】经营数据.et]君康经纪!$E$2:$E$5</c:f>
              <c:numCache>
                <c:formatCode>_ * #,##0.00_ ;[Red]_ * \-#,##0.00_ ;_ * "-"??_ ;_ @_ </c:formatCode>
                <c:ptCount val="4"/>
                <c:pt idx="0">
                  <c:v>42.895016</c:v>
                </c:pt>
                <c:pt idx="1">
                  <c:v>-107.614832</c:v>
                </c:pt>
                <c:pt idx="2">
                  <c:v>-102.907432</c:v>
                </c:pt>
                <c:pt idx="3">
                  <c:v>148.899367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88991"/>
        <c:axId val="304476349"/>
      </c:barChart>
      <c:lineChart>
        <c:grouping val="standard"/>
        <c:varyColors val="0"/>
        <c:ser>
          <c:idx val="2"/>
          <c:order val="2"/>
          <c:tx>
            <c:strRef>
              <c:f>[【2026年4月】经营数据.et]君康经纪!$F$1</c:f>
              <c:strCache>
                <c:ptCount val="1"/>
                <c:pt idx="0">
                  <c:v>年度目标达成率</c:v>
                </c:pt>
              </c:strCache>
            </c:strRef>
          </c:tx>
          <c:spPr>
            <a:ln w="28575" cap="rnd" cmpd="sng" algn="ctr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2"/>
                    </a:solidFill>
                    <a:latin typeface="+mn-ea"/>
                    <a:ea typeface="+mn-ea"/>
                    <a:cs typeface="+mn-ea"/>
                    <a:sym typeface="+mn-ea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[【2026年4月】经营数据.et]君康经纪!$C$2:$C$5</c:f>
              <c:strCache>
                <c:ptCount val="4"/>
                <c:pt idx="0">
                  <c:v>营业收入</c:v>
                </c:pt>
                <c:pt idx="1">
                  <c:v>扣非利润</c:v>
                </c:pt>
                <c:pt idx="2">
                  <c:v>经营活动净现金流</c:v>
                </c:pt>
                <c:pt idx="3">
                  <c:v>经营支出</c:v>
                </c:pt>
              </c:strCache>
            </c:strRef>
          </c:cat>
          <c:val>
            <c:numRef>
              <c:f>[【2026年4月】经营数据.et]君康经纪!$F$2:$F$5</c:f>
              <c:numCache>
                <c:formatCode>_ * #,##0.00%_ ;[Red]_ * \-#,##0.00%_ ;_ * "-"??_ ;_ @_ </c:formatCode>
                <c:ptCount val="4"/>
                <c:pt idx="0">
                  <c:v>0.0661386784669834</c:v>
                </c:pt>
                <c:pt idx="1">
                  <c:v>0</c:v>
                </c:pt>
                <c:pt idx="2">
                  <c:v>0</c:v>
                </c:pt>
                <c:pt idx="3">
                  <c:v>0.25191248365858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9724348"/>
        <c:axId val="994057673"/>
      </c:lineChart>
      <c:catAx>
        <c:axId val="52808899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42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304476349"/>
        <c:crosses val="autoZero"/>
        <c:auto val="1"/>
        <c:lblAlgn val="ctr"/>
        <c:lblOffset val="100"/>
        <c:noMultiLvlLbl val="0"/>
      </c:catAx>
      <c:valAx>
        <c:axId val="30447634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528088991"/>
        <c:crosses val="autoZero"/>
        <c:crossBetween val="between"/>
      </c:valAx>
      <c:catAx>
        <c:axId val="6697243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994057673"/>
        <c:crosses val="autoZero"/>
        <c:auto val="1"/>
        <c:lblAlgn val="ctr"/>
        <c:lblOffset val="100"/>
        <c:noMultiLvlLbl val="0"/>
      </c:catAx>
      <c:valAx>
        <c:axId val="994057673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66972434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794794329537532"/>
          <c:w val="0.988952310808323"/>
          <c:h val="0.10457820125493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+mn-ea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1ed552e-d9e8-4af1-bf9b-37a1e6d7e691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+mn-ea"/>
          <a:ea typeface="+mn-ea"/>
          <a:cs typeface="+mn-ea"/>
          <a:sym typeface="+mn-ea"/>
        </a:defRPr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营收比较</a:t>
            </a:r>
            <a:endParaRPr lang="zh-CN"/>
          </a:p>
        </c:rich>
      </c:tx>
      <c:layout>
        <c:manualLayout>
          <c:xMode val="edge"/>
          <c:yMode val="edge"/>
          <c:x val="0.457999545333275"/>
          <c:y val="0.006538796861377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844043454244"/>
          <c:y val="0.188705554264467"/>
          <c:w val="0.900791751058737"/>
          <c:h val="0.73255867999070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[【2026年4月】经营数据.et]君康经纪!$F$35</c:f>
              <c:strCache>
                <c:ptCount val="1"/>
                <c:pt idx="0">
                  <c:v>同期营收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[【2026年4月】经营数据.et]君康经纪!$G$33:$R$33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[【2026年4月】经营数据.et]君康经纪!$G$35:$R$35</c:f>
              <c:numCache>
                <c:formatCode>_ * #,##0.00_ ;[Red]_ * \-#,##0.00_ ;_ * "-"??_ ;_ @_ </c:formatCode>
                <c:ptCount val="12"/>
                <c:pt idx="0">
                  <c:v>16.512047</c:v>
                </c:pt>
                <c:pt idx="1">
                  <c:v>14.980842</c:v>
                </c:pt>
                <c:pt idx="2">
                  <c:v>28.14216</c:v>
                </c:pt>
                <c:pt idx="3">
                  <c:v>27.797814</c:v>
                </c:pt>
                <c:pt idx="4">
                  <c:v>21.950714</c:v>
                </c:pt>
                <c:pt idx="5">
                  <c:v>18.660004</c:v>
                </c:pt>
                <c:pt idx="6">
                  <c:v>12.630675</c:v>
                </c:pt>
                <c:pt idx="7">
                  <c:v>27.603272</c:v>
                </c:pt>
                <c:pt idx="8">
                  <c:v>10.559486</c:v>
                </c:pt>
                <c:pt idx="9">
                  <c:v>16.441937</c:v>
                </c:pt>
                <c:pt idx="10">
                  <c:v>7.291591</c:v>
                </c:pt>
                <c:pt idx="11">
                  <c:v>5.843275</c:v>
                </c:pt>
              </c:numCache>
            </c:numRef>
          </c:val>
        </c:ser>
        <c:ser>
          <c:idx val="2"/>
          <c:order val="2"/>
          <c:tx>
            <c:strRef>
              <c:f>[【2026年4月】经营数据.et]君康经纪!$F$36</c:f>
              <c:strCache>
                <c:ptCount val="1"/>
                <c:pt idx="0">
                  <c:v>营收分解计划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[【2026年4月】经营数据.et]君康经纪!$G$33:$R$33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[【2026年4月】经营数据.et]君康经纪!$G$36:$R$36</c:f>
              <c:numCache>
                <c:formatCode>_ * #,##0.00_ ;[Red]_ * \-#,##0.00_ ;_ * "-"??_ ;_ @_ 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85497983"/>
        <c:axId val="119774110"/>
      </c:barChart>
      <c:scatterChart>
        <c:scatterStyle val="smoothMarker"/>
        <c:varyColors val="0"/>
        <c:ser>
          <c:idx val="0"/>
          <c:order val="0"/>
          <c:tx>
            <c:strRef>
              <c:f>[【2026年4月】经营数据.et]君康经纪!$F$34</c:f>
              <c:strCache>
                <c:ptCount val="1"/>
                <c:pt idx="0">
                  <c:v>营业收入</c:v>
                </c:pt>
              </c:strCache>
            </c:strRef>
          </c:tx>
          <c:spPr>
            <a:ln w="28575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xVal>
            <c:strRef>
              <c:f>[【2026年4月】经营数据.et]君康经纪!$G$33:$R$33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[【2026年4月】经营数据.et]君康经纪!$G$34:$R$34</c:f>
              <c:numCache>
                <c:formatCode>_ * #,##0.00_ ;[Red]_ * \-#,##0.00_ ;_ * "-"??_ ;_ @_ </c:formatCode>
                <c:ptCount val="12"/>
                <c:pt idx="0">
                  <c:v>21.123507</c:v>
                </c:pt>
                <c:pt idx="1">
                  <c:v>5.293431</c:v>
                </c:pt>
                <c:pt idx="2">
                  <c:v>8.220388</c:v>
                </c:pt>
                <c:pt idx="3">
                  <c:v>8.25769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5497983"/>
        <c:axId val="119774110"/>
      </c:scatterChart>
      <c:catAx>
        <c:axId val="785497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119774110"/>
        <c:crosses val="autoZero"/>
        <c:auto val="1"/>
        <c:lblAlgn val="ctr"/>
        <c:lblOffset val="100"/>
        <c:noMultiLvlLbl val="0"/>
      </c:catAx>
      <c:valAx>
        <c:axId val="11977411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prstDash val="solid"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2"/>
                </a:solidFill>
                <a:latin typeface="OPPO Sans 4.0" panose="00000500000000000000" charset="-122"/>
                <a:ea typeface="OPPO Sans 4.0" panose="00000500000000000000" charset="-122"/>
                <a:cs typeface="OPPO Sans 4.0" panose="00000500000000000000" charset="-122"/>
                <a:sym typeface="OPPO Sans 4.0" panose="00000500000000000000" charset="-122"/>
              </a:defRPr>
            </a:pPr>
          </a:p>
        </c:txPr>
        <c:crossAx val="785497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OPPO Sans 4.0" panose="00000500000000000000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18033929816407"/>
          <c:w val="0.988952310808323"/>
          <c:h val="0.1092261213107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OPPO Sans 4.0" panose="00000500000000000000" charset="-122"/>
            </a:defRPr>
          </a:pPr>
        </a:p>
      </c:txPr>
    </c:legend>
    <c:plotVisOnly val="0"/>
    <c:dispBlanksAs val="gap"/>
    <c:showDLblsOverMax val="0"/>
    <c:extLst>
      <c:ext uri="{0b15fc19-7d7d-44ad-8c2d-2c3a37ce22c3}">
        <chartProps xmlns="https://web.wps.cn/et/2018/main" chartId="{38d110b7-3d6b-48e0-b021-1a266608d234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700">
          <a:solidFill>
            <a:schemeClr val="tx2"/>
          </a:solidFill>
          <a:latin typeface="OPPO Sans 4.0" panose="00000500000000000000" charset="-122"/>
          <a:ea typeface="OPPO Sans 4.0" panose="00000500000000000000" charset="-122"/>
          <a:cs typeface="OPPO Sans 4.0" panose="00000500000000000000" charset="-122"/>
          <a:sym typeface="OPPO Sans 4.0" panose="00000500000000000000" charset="-122"/>
        </a:defRPr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>
              <a:defRPr lang="zh-CN" altLang="en-US" sz="1100" b="1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+mn-ea"/>
              </a:defRPr>
            </a:pPr>
            <a:r>
              <a:rPr lang="zh-CN"/>
              <a:t>指标趋势</a:t>
            </a:r>
            <a:endParaRPr lang="zh-CN"/>
          </a:p>
        </c:rich>
      </c:tx>
      <c:layout>
        <c:manualLayout>
          <c:xMode val="edge"/>
          <c:yMode val="edge"/>
          <c:x val="0.417274939172749"/>
          <c:y val="0.00524292205522545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63542625667465"/>
          <c:y val="0.188705554264467"/>
          <c:w val="0.830933529736697"/>
          <c:h val="0.722240297466884"/>
        </c:manualLayout>
      </c:layout>
      <c:lineChart>
        <c:grouping val="standard"/>
        <c:varyColors val="0"/>
        <c:ser>
          <c:idx val="0"/>
          <c:order val="0"/>
          <c:tx>
            <c:strRef>
              <c:f>[【2026年4月】经营数据.et]君康经纪!$F$40</c:f>
              <c:strCache>
                <c:ptCount val="1"/>
                <c:pt idx="0">
                  <c:v>营业收入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[【2026年4月】经营数据.et]君康经纪!$G$39:$R$39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[【2026年4月】经营数据.et]君康经纪!$G$40:$R$40</c:f>
              <c:numCache>
                <c:formatCode>_(* #,##0.00_);_(* \(#,##0.00\);_(* "-"??_);_(@_)</c:formatCode>
                <c:ptCount val="12"/>
                <c:pt idx="0">
                  <c:v>21.123507</c:v>
                </c:pt>
                <c:pt idx="1">
                  <c:v>5.293431</c:v>
                </c:pt>
                <c:pt idx="2">
                  <c:v>8.220388</c:v>
                </c:pt>
                <c:pt idx="3">
                  <c:v>8.25769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[【2026年4月】经营数据.et]君康经纪!$F$41</c:f>
              <c:strCache>
                <c:ptCount val="1"/>
                <c:pt idx="0">
                  <c:v>扣非利润</c:v>
                </c:pt>
              </c:strCache>
            </c:strRef>
          </c:tx>
          <c:spPr>
            <a:ln w="317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2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[【2026年4月】经营数据.et]君康经纪!$G$39:$R$39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[【2026年4月】经营数据.et]君康经纪!$G$41:$R$41</c:f>
              <c:numCache>
                <c:formatCode>_(* #,##0.00_);_(* \(#,##0.00\);_(* "-"??_);_(@_)</c:formatCode>
                <c:ptCount val="12"/>
                <c:pt idx="0">
                  <c:v>-32.5747</c:v>
                </c:pt>
                <c:pt idx="1">
                  <c:v>-39.343258</c:v>
                </c:pt>
                <c:pt idx="2">
                  <c:v>-9.372579</c:v>
                </c:pt>
                <c:pt idx="3">
                  <c:v>-26.324295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[【2026年4月】经营数据.et]君康经纪!$F$42</c:f>
              <c:strCache>
                <c:ptCount val="1"/>
                <c:pt idx="0">
                  <c:v>经营活动净现金流</c:v>
                </c:pt>
              </c:strCache>
            </c:strRef>
          </c:tx>
          <c:spPr>
            <a:ln w="31750" cap="rnd" cmpd="sng" algn="ctr">
              <a:solidFill>
                <a:schemeClr val="accent3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[【2026年4月】经营数据.et]君康经纪!$G$39:$R$39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[【2026年4月】经营数据.et]君康经纪!$G$42:$R$42</c:f>
              <c:numCache>
                <c:formatCode>_(* #,##0.00_);_(* \(#,##0.00\);_(* "-"??_);_(@_)</c:formatCode>
                <c:ptCount val="12"/>
                <c:pt idx="0">
                  <c:v>-24.505483</c:v>
                </c:pt>
                <c:pt idx="1">
                  <c:v>0.032856</c:v>
                </c:pt>
                <c:pt idx="2">
                  <c:v>-56.605711</c:v>
                </c:pt>
                <c:pt idx="3">
                  <c:v>-21.829094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[【2026年4月】经营数据.et]君康经纪!$F$43</c:f>
              <c:strCache>
                <c:ptCount val="1"/>
                <c:pt idx="0">
                  <c:v>经营支出小计</c:v>
                </c:pt>
              </c:strCache>
            </c:strRef>
          </c:tx>
          <c:spPr>
            <a:ln w="317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4"/>
              </a:solidFill>
              <a:ln w="28575" cap="flat" cmpd="sng" algn="ctr">
                <a:noFill/>
                <a:prstDash val="solid"/>
                <a:round/>
              </a:ln>
            </c:spPr>
          </c:marker>
          <c:dLbls>
            <c:delete val="1"/>
          </c:dLbls>
          <c:cat>
            <c:strRef>
              <c:f>[【2026年4月】经营数据.et]君康经纪!$G$39:$R$39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[【2026年4月】经营数据.et]君康经纪!$G$43:$R$43</c:f>
              <c:numCache>
                <c:formatCode>_(* #,##0.00_);_(* \(#,##0.00\);_(* "-"??_);_(@_)</c:formatCode>
                <c:ptCount val="12"/>
                <c:pt idx="0">
                  <c:v>45.380984</c:v>
                </c:pt>
                <c:pt idx="1">
                  <c:v>36.885018</c:v>
                </c:pt>
                <c:pt idx="2">
                  <c:v>32.425914</c:v>
                </c:pt>
                <c:pt idx="3">
                  <c:v>34.207451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304994"/>
        <c:axId val="769077466"/>
      </c:lineChart>
      <c:catAx>
        <c:axId val="1333049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769077466"/>
        <c:crosses val="autoZero"/>
        <c:auto val="1"/>
        <c:lblAlgn val="ctr"/>
        <c:lblOffset val="100"/>
        <c:noMultiLvlLbl val="0"/>
      </c:catAx>
      <c:valAx>
        <c:axId val="76907746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in"/>
        <c:tickLblPos val="low"/>
        <c:spPr>
          <a:noFill/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33304994"/>
        <c:crosses val="autoZero"/>
        <c:crossBetween val="between"/>
      </c:valAx>
      <c:spPr>
        <a:noFill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+mn-lt"/>
                <a:ea typeface="+mn-lt"/>
                <a:cs typeface="+mn-lt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55238445958387"/>
          <c:y val="0.0864513130374158"/>
          <c:w val="0.988952310808323"/>
          <c:h val="0.10225424122705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2"/>
              </a:solidFill>
              <a:latin typeface="+mn-lt"/>
              <a:ea typeface="+mn-lt"/>
              <a:cs typeface="+mn-lt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7622f36-3361-47dc-aa07-e990d050bb1d}"/>
      </c:ext>
    </c:extLst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prstDash val="solid"/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 wrap="square"/>
    <a:lstStyle/>
    <a:p>
      <a:pPr>
        <a:defRPr lang="zh-CN" sz="1000" b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altLang="zh-CN" sz="1100" b="1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lt"/>
                <a:cs typeface="+mn-lt"/>
                <a:sym typeface="宋体" panose="02010600030101010101" pitchFamily="2" charset="-122"/>
              </a:defRPr>
            </a:pPr>
            <a:r>
              <a:rPr lang="en-US"/>
              <a:t>2026</a:t>
            </a:r>
            <a:r>
              <a:rPr lang="zh-CN"/>
              <a:t>年</a:t>
            </a:r>
            <a:r>
              <a:rPr lang="en-US"/>
              <a:t>4</a:t>
            </a:r>
            <a:r>
              <a:rPr lang="zh-CN"/>
              <a:t>月份工程付款审核（审核总金额</a:t>
            </a:r>
            <a:r>
              <a:rPr lang="en-US"/>
              <a:t>91.9</a:t>
            </a:r>
            <a:r>
              <a:rPr lang="zh-CN"/>
              <a:t>万元）</a:t>
            </a:r>
            <a:endParaRPr lang="zh-CN"/>
          </a:p>
        </c:rich>
      </c:tx>
      <c:layout>
        <c:manualLayout>
          <c:xMode val="edge"/>
          <c:yMode val="edge"/>
          <c:x val="0.279234803912889"/>
          <c:y val="0.050015037846849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86617020704465"/>
          <c:y val="0.185023330417031"/>
          <c:w val="0.865571741032371"/>
          <c:h val="0.6007480314960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'[计算表（2026年4月）.xlsx]付款审核、控制价审核'!$B$1</c:f>
              <c:strCache>
                <c:ptCount val="1"/>
                <c:pt idx="0">
                  <c:v>送审金额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426728869374314"/>
                  <c:y val="-0.012845288166420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74259055982437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'[计算表（2026年4月）.xlsx]付款审核、控制价审核'!$A$2:$A$7</c:f>
              <c:strCache>
                <c:ptCount val="6"/>
                <c:pt idx="0">
                  <c:v>中言</c:v>
                </c:pt>
                <c:pt idx="1">
                  <c:v>伯豪</c:v>
                </c:pt>
                <c:pt idx="2">
                  <c:v>福建钱隆</c:v>
                </c:pt>
                <c:pt idx="3">
                  <c:v>重庆瑞尔</c:v>
                </c:pt>
                <c:pt idx="4">
                  <c:v>春夏秋冬</c:v>
                </c:pt>
                <c:pt idx="5">
                  <c:v>联谊</c:v>
                </c:pt>
              </c:strCache>
            </c:strRef>
          </c:cat>
          <c:val>
            <c:numRef>
              <c:f>'[计算表（2026年4月）.xlsx]付款审核、控制价审核'!$B$2:$B$7</c:f>
              <c:numCache>
                <c:formatCode>0.0_ </c:formatCode>
                <c:ptCount val="6"/>
                <c:pt idx="0">
                  <c:v>41.8</c:v>
                </c:pt>
                <c:pt idx="1" c:formatCode="General">
                  <c:v>9.3</c:v>
                </c:pt>
                <c:pt idx="2" c:formatCode="General">
                  <c:v>15.6</c:v>
                </c:pt>
                <c:pt idx="3" c:formatCode="General">
                  <c:v>23</c:v>
                </c:pt>
                <c:pt idx="4" c:formatCode="General">
                  <c:v>1.6</c:v>
                </c:pt>
                <c:pt idx="5" c:formatCode="General">
                  <c:v>0.6</c:v>
                </c:pt>
              </c:numCache>
            </c:numRef>
          </c:val>
        </c:ser>
        <c:ser>
          <c:idx val="1"/>
          <c:order val="1"/>
          <c:tx>
            <c:strRef>
              <c:f>'[计算表（2026年4月）.xlsx]付款审核、控制价审核'!$C$1</c:f>
              <c:strCache>
                <c:ptCount val="1"/>
                <c:pt idx="0">
                  <c:v>审定付款金额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786467861934382"/>
                  <c:y val="0.0028247950048897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473319917063056"/>
                  <c:y val="-0.027777777777777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22222222222222"/>
                  <c:y val="-0.0370370370370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384193194291987"/>
                  <c:y val="-0.0115098171970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'[计算表（2026年4月）.xlsx]付款审核、控制价审核'!$A$2:$A$7</c:f>
              <c:strCache>
                <c:ptCount val="6"/>
                <c:pt idx="0">
                  <c:v>中言</c:v>
                </c:pt>
                <c:pt idx="1">
                  <c:v>伯豪</c:v>
                </c:pt>
                <c:pt idx="2">
                  <c:v>福建钱隆</c:v>
                </c:pt>
                <c:pt idx="3">
                  <c:v>重庆瑞尔</c:v>
                </c:pt>
                <c:pt idx="4">
                  <c:v>春夏秋冬</c:v>
                </c:pt>
                <c:pt idx="5">
                  <c:v>联谊</c:v>
                </c:pt>
              </c:strCache>
            </c:strRef>
          </c:cat>
          <c:val>
            <c:numRef>
              <c:f>'[计算表（2026年4月）.xlsx]付款审核、控制价审核'!$C$2:$C$7</c:f>
              <c:numCache>
                <c:formatCode>0.0_ </c:formatCode>
                <c:ptCount val="6"/>
                <c:pt idx="0">
                  <c:v>40.1</c:v>
                </c:pt>
                <c:pt idx="1" c:formatCode="General">
                  <c:v>9.3</c:v>
                </c:pt>
                <c:pt idx="2" c:formatCode="General">
                  <c:v>15.6</c:v>
                </c:pt>
                <c:pt idx="3" c:formatCode="General">
                  <c:v>23</c:v>
                </c:pt>
                <c:pt idx="4" c:formatCode="General">
                  <c:v>1.6</c:v>
                </c:pt>
                <c:pt idx="5" c:formatCode="General">
                  <c:v>0.4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498456"/>
        <c:axId val="428493056"/>
      </c:barChart>
      <c:catAx>
        <c:axId val="428498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8493056"/>
        <c:crosses val="autoZero"/>
        <c:auto val="1"/>
        <c:lblAlgn val="ctr"/>
        <c:lblOffset val="100"/>
        <c:noMultiLvlLbl val="0"/>
      </c:catAx>
      <c:valAx>
        <c:axId val="42849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);[Red]\(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8498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2235387045814"/>
          <c:y val="0.8693474140265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b9efaed-e3eb-419b-a7bf-99d21d14f13d}"/>
      </c:ext>
    </c:extLst>
  </c:chart>
  <c:spPr>
    <a:solidFill>
      <a:schemeClr val="bg1"/>
    </a:solidFill>
    <a:ln w="9525" cap="flat" cmpd="sng" algn="ctr">
      <a:solidFill>
        <a:schemeClr val="bg2"/>
      </a:solidFill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 sz="1000"/>
              <a:t>公文报送</a:t>
            </a:r>
            <a:r>
              <a:rPr altLang="en-US" sz="1000"/>
              <a:t>数量</a:t>
            </a:r>
            <a:endParaRPr altLang="en-US" sz="1000"/>
          </a:p>
        </c:rich>
      </c:tx>
      <c:layout>
        <c:manualLayout>
          <c:xMode val="edge"/>
          <c:yMode val="edge"/>
          <c:x val="0.754873999851275"/>
          <c:y val="0.0066949340752898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08567950083701"/>
          <c:y val="0.240423994218261"/>
          <c:w val="0.803500228275757"/>
          <c:h val="0.645001204529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'[非保险子公司用印台账（2026年）.xlsx]4月'!$C$224</c:f>
              <c:strCache>
                <c:ptCount val="1"/>
                <c:pt idx="0">
                  <c:v>报送量（件）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'[非保险子公司用印台账（2026年）.xlsx]4月'!$B$225:$B$228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'[非保险子公司用印台账（2026年）.xlsx]4月'!$C$225:$C$228</c:f>
              <c:numCache>
                <c:formatCode>General</c:formatCode>
                <c:ptCount val="4"/>
                <c:pt idx="0">
                  <c:v>182</c:v>
                </c:pt>
                <c:pt idx="1">
                  <c:v>87</c:v>
                </c:pt>
                <c:pt idx="2">
                  <c:v>141</c:v>
                </c:pt>
                <c:pt idx="3">
                  <c:v>128</c:v>
                </c:pt>
              </c:numCache>
            </c:numRef>
          </c:val>
        </c:ser>
        <c:ser>
          <c:idx val="1"/>
          <c:order val="1"/>
          <c:tx>
            <c:strRef>
              <c:f>'[非保险子公司用印台账（2026年）.xlsx]4月'!$D$224</c:f>
              <c:strCache>
                <c:ptCount val="1"/>
                <c:pt idx="0">
                  <c:v>正确量（件）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'[非保险子公司用印台账（2026年）.xlsx]4月'!$B$225:$B$228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'[非保险子公司用印台账（2026年）.xlsx]4月'!$D$225:$D$228</c:f>
              <c:numCache>
                <c:formatCode>General</c:formatCode>
                <c:ptCount val="4"/>
                <c:pt idx="0">
                  <c:v>139</c:v>
                </c:pt>
                <c:pt idx="1">
                  <c:v>68</c:v>
                </c:pt>
                <c:pt idx="2">
                  <c:v>112</c:v>
                </c:pt>
                <c:pt idx="3">
                  <c:v>103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703127620"/>
        <c:axId val="25289347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'[非保险子公司用印台账（2026年）.xlsx]4月'!$F$224</c15:sqref>
                        </c15:formulaRef>
                      </c:ext>
                    </c:extLst>
                    <c:strCache>
                      <c:ptCount val="1"/>
                      <c:pt idx="0">
                        <c:v>错误量（件）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zh-CN" sz="1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'[非保险子公司用印台账（2026年）.xlsx]4月'!$B$225:$B$228</c15:sqref>
                        </c15:formulaRef>
                      </c:ext>
                    </c:extLst>
                    <c:strCache>
                      <c:ptCount val="4"/>
                      <c:pt idx="0">
                        <c:v>1月</c:v>
                      </c:pt>
                      <c:pt idx="1">
                        <c:v>2月</c:v>
                      </c:pt>
                      <c:pt idx="2">
                        <c:v>3月</c:v>
                      </c:pt>
                      <c:pt idx="3">
                        <c:v>4月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{43,19,29,25}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43</c:v>
                      </c:pt>
                      <c:pt idx="1">
                        <c:v>19</c:v>
                      </c:pt>
                      <c:pt idx="2">
                        <c:v>29</c:v>
                      </c:pt>
                      <c:pt idx="3">
                        <c:v>25</c:v>
                      </c:pt>
                    </c:numCache>
                  </c:numRef>
                </c:val>
              </c15:ser>
            </c15:filteredBarSeries>
          </c:ext>
        </c:extLst>
      </c:barChart>
      <c:lineChart>
        <c:grouping val="standard"/>
        <c:varyColors val="0"/>
        <c:ser>
          <c:idx val="3"/>
          <c:order val="3"/>
          <c:tx>
            <c:strRef>
              <c:f>'[非保险子公司用印台账（2026年）.xlsx]4月'!$E$224</c:f>
              <c:strCache>
                <c:ptCount val="1"/>
                <c:pt idx="0">
                  <c:v>正确率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'[非保险子公司用印台账（2026年）.xlsx]4月'!$B$225:$B$228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'[非保险子公司用印台账（2026年）.xlsx]4月'!$E$225:$E$228</c:f>
              <c:numCache>
                <c:formatCode>0.00%</c:formatCode>
                <c:ptCount val="4"/>
                <c:pt idx="0">
                  <c:v>0.7637</c:v>
                </c:pt>
                <c:pt idx="1">
                  <c:v>0.7816</c:v>
                </c:pt>
                <c:pt idx="2">
                  <c:v>0.7943</c:v>
                </c:pt>
                <c:pt idx="3">
                  <c:v>0.8047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6091543"/>
        <c:axId val="629645974"/>
      </c:lineChart>
      <c:catAx>
        <c:axId val="7031276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52893474"/>
        <c:crosses val="autoZero"/>
        <c:auto val="1"/>
        <c:lblAlgn val="ctr"/>
        <c:lblOffset val="100"/>
        <c:noMultiLvlLbl val="0"/>
      </c:catAx>
      <c:valAx>
        <c:axId val="25289347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03127620"/>
        <c:crosses val="autoZero"/>
        <c:crossBetween val="between"/>
      </c:valAx>
      <c:catAx>
        <c:axId val="96091543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9645974"/>
        <c:crosses val="autoZero"/>
        <c:auto val="1"/>
        <c:lblAlgn val="ctr"/>
        <c:lblOffset val="100"/>
        <c:noMultiLvlLbl val="0"/>
      </c:catAx>
      <c:valAx>
        <c:axId val="629645974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091543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545532641280546"/>
          <c:y val="0.00714126301364247"/>
          <c:w val="0.403875998761364"/>
          <c:h val="0.20776612080316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86b7a1-96c0-4a8a-9123-9f2628d479a4}"/>
      </c:ext>
    </c:extLst>
  </c:chart>
  <c:spPr>
    <a:solidFill>
      <a:schemeClr val="bg1"/>
    </a:solidFill>
    <a:ln w="9525" cap="flat" cmpd="sng" algn="ctr">
      <a:solidFill>
        <a:schemeClr val="bg2"/>
      </a:solidFill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000" b="1"/>
              <a:t>风险类别构成</a:t>
            </a:r>
            <a:endParaRPr sz="1000" b="1"/>
          </a:p>
        </c:rich>
      </c:tx>
      <c:layout>
        <c:manualLayout>
          <c:xMode val="edge"/>
          <c:yMode val="edge"/>
          <c:x val="0.00545532641280546"/>
          <c:y val="0.0066949340752898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08684210526316"/>
          <c:y val="0.172916666666667"/>
          <c:w val="0.896368421052631"/>
          <c:h val="0.6836574074074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'[非保险子公司用印台账（2026年）.xlsx]4月'!$C$210</c:f>
              <c:strCache>
                <c:ptCount val="1"/>
                <c:pt idx="0">
                  <c:v>报送规范性风险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'[非保险子公司用印台账（2026年）.xlsx]4月'!$B$211:$B$214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'[非保险子公司用印台账（2026年）.xlsx]4月'!$C$211:$C$214</c:f>
              <c:numCache>
                <c:formatCode>General</c:formatCode>
                <c:ptCount val="4"/>
                <c:pt idx="0">
                  <c:v>30</c:v>
                </c:pt>
                <c:pt idx="1">
                  <c:v>7</c:v>
                </c:pt>
                <c:pt idx="2">
                  <c:v>18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'[非保险子公司用印台账（2026年）.xlsx]4月'!$D$210</c:f>
              <c:strCache>
                <c:ptCount val="1"/>
                <c:pt idx="0">
                  <c:v>合同实质风险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'[非保险子公司用印台账（2026年）.xlsx]4月'!$B$211:$B$214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'[非保险子公司用印台账（2026年）.xlsx]4月'!$D$211:$D$214</c:f>
              <c:numCache>
                <c:formatCode>General</c:formatCode>
                <c:ptCount val="4"/>
                <c:pt idx="0">
                  <c:v>7</c:v>
                </c:pt>
                <c:pt idx="1">
                  <c:v>11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strRef>
              <c:f>'[非保险子公司用印台账（2026年）.xlsx]4月'!$E$210</c:f>
              <c:strCache>
                <c:ptCount val="1"/>
                <c:pt idx="0">
                  <c:v>程序合规风险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'[非保险子公司用印台账（2026年）.xlsx]4月'!$B$211:$B$214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'[非保险子公司用印台账（2026年）.xlsx]4月'!$E$211:$E$214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699269163"/>
        <c:axId val="117983502"/>
      </c:barChart>
      <c:catAx>
        <c:axId val="6992691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7983502"/>
        <c:crosses val="autoZero"/>
        <c:auto val="1"/>
        <c:lblAlgn val="ctr"/>
        <c:lblOffset val="100"/>
        <c:noMultiLvlLbl val="0"/>
      </c:catAx>
      <c:valAx>
        <c:axId val="1179835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992691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7001712558727"/>
          <c:y val="0.0660566828761928"/>
          <c:w val="0.338412081807698"/>
          <c:h val="0.1999553643819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695f1e1-2795-49f5-8fe3-e5bd27a589a1}"/>
      </c:ext>
    </c:extLst>
  </c:chart>
  <c:spPr>
    <a:solidFill>
      <a:schemeClr val="bg1"/>
    </a:solidFill>
    <a:ln w="9525" cap="flat" cmpd="sng" algn="ctr">
      <a:solidFill>
        <a:schemeClr val="bg2"/>
      </a:solidFill>
      <a:round/>
    </a:ln>
    <a:effectLst>
      <a:outerShdw blurRad="50800" dist="38100" dir="13500000" algn="br" rotWithShape="0">
        <a:prstClr val="black">
          <a:alpha val="40000"/>
        </a:prstClr>
      </a:outerShdw>
    </a:effectLst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49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50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51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52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53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5.emf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157883" y="0"/>
            <a:ext cx="4034117" cy="6858000"/>
          </a:xfrm>
          <a:prstGeom prst="rect">
            <a:avLst/>
          </a:prstGeom>
        </p:spPr>
      </p:pic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4540" y="434975"/>
            <a:ext cx="1728000" cy="609930"/>
          </a:xfrm>
          <a:prstGeom prst="rect">
            <a:avLst/>
          </a:prstGeom>
        </p:spPr>
      </p:pic>
      <p:sp>
        <p:nvSpPr>
          <p:cNvPr id="1048584" name="文本框 1"/>
          <p:cNvSpPr txBox="1"/>
          <p:nvPr userDrawn="1"/>
        </p:nvSpPr>
        <p:spPr>
          <a:xfrm>
            <a:off x="9120336" y="6021289"/>
            <a:ext cx="12725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200" dirty="0" err="1">
                <a:solidFill>
                  <a:schemeClr val="bg1"/>
                </a:solidFill>
              </a:rPr>
              <a:t>www.fzlife.com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" name="文本占位符 0"/>
          <p:cNvSpPr>
            <a:spLocks noGrp="1"/>
          </p:cNvSpPr>
          <p:nvPr>
            <p:ph type="body" idx="10" hasCustomPrompt="1"/>
          </p:nvPr>
        </p:nvSpPr>
        <p:spPr>
          <a:xfrm>
            <a:off x="635" y="2392045"/>
            <a:ext cx="8210550" cy="175196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  <a:latin typeface="+mj-lt"/>
                <a:ea typeface="+mj-lt"/>
              </a:defRPr>
            </a:lvl1pPr>
            <a:lvl2pPr>
              <a:defRPr sz="4800" b="1">
                <a:solidFill>
                  <a:srgbClr val="000000"/>
                </a:solidFill>
              </a:defRPr>
            </a:lvl2pPr>
          </a:lstStyle>
          <a:p>
            <a:pPr lvl="0"/>
            <a:r>
              <a:rPr lang="zh-CN" altLang="en-US" dirty="0"/>
              <a:t>单击此处文本样式</a:t>
            </a:r>
            <a:endParaRPr lang="zh-CN" altLang="en-US" dirty="0"/>
          </a:p>
        </p:txBody>
      </p:sp>
      <p:sp>
        <p:nvSpPr>
          <p:cNvPr id="3" name="文本占位符 0"/>
          <p:cNvSpPr>
            <a:spLocks noGrp="1"/>
          </p:cNvSpPr>
          <p:nvPr>
            <p:ph type="body" idx="11" hasCustomPrompt="1"/>
          </p:nvPr>
        </p:nvSpPr>
        <p:spPr>
          <a:xfrm>
            <a:off x="2388870" y="5059680"/>
            <a:ext cx="3420745" cy="4768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>
            <a:noAutofit/>
          </a:bodyPr>
          <a:lstStyle>
            <a:lvl1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2160" b="1">
                <a:solidFill>
                  <a:srgbClr val="000000"/>
                </a:solidFill>
              </a:defRPr>
            </a:lvl2pPr>
          </a:lstStyle>
          <a:p>
            <a:pPr lvl="0"/>
            <a:r>
              <a:rPr lang="zh-CN" altLang="en-US" dirty="0"/>
              <a:t>单击此处文本样式</a:t>
            </a:r>
            <a:endParaRPr lang="zh-CN" altLang="en-US" dirty="0"/>
          </a:p>
        </p:txBody>
      </p:sp>
      <p:sp>
        <p:nvSpPr>
          <p:cNvPr id="4" name="文本占位符 0"/>
          <p:cNvSpPr>
            <a:spLocks noGrp="1"/>
          </p:cNvSpPr>
          <p:nvPr>
            <p:ph type="body" idx="12" hasCustomPrompt="1"/>
          </p:nvPr>
        </p:nvSpPr>
        <p:spPr>
          <a:xfrm>
            <a:off x="2395855" y="5683885"/>
            <a:ext cx="3420745" cy="47688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>
            <a:noAutofit/>
          </a:bodyPr>
          <a:lstStyle>
            <a:lvl1pPr marL="0" indent="0" algn="ctr" eaLnBrk="1" fontAlgn="auto" latinLnBrk="0" hangingPunct="1">
              <a:lnSpc>
                <a:spcPct val="125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1600" b="0">
                <a:solidFill>
                  <a:srgbClr val="000000"/>
                </a:solidFill>
              </a:defRPr>
            </a:lvl2pPr>
          </a:lstStyle>
          <a:p>
            <a:pPr lvl="0"/>
            <a:r>
              <a:rPr lang="zh-CN" altLang="en-US" dirty="0"/>
              <a:t>单击此处文本样式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空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1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048612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  <p:sp>
        <p:nvSpPr>
          <p:cNvPr id="1048611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048612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10"/>
          <p:cNvSpPr>
            <a:spLocks noGrp="1"/>
          </p:cNvSpPr>
          <p:nvPr>
            <p:ph sz="quarter" idx="12"/>
          </p:nvPr>
        </p:nvSpPr>
        <p:spPr>
          <a:xfrm>
            <a:off x="698316" y="1190320"/>
            <a:ext cx="10773593" cy="2149668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方排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  <p:sp>
        <p:nvSpPr>
          <p:cNvPr id="9" name="内容占位符 10"/>
          <p:cNvSpPr>
            <a:spLocks noGrp="1"/>
          </p:cNvSpPr>
          <p:nvPr>
            <p:ph sz="quarter" idx="14"/>
          </p:nvPr>
        </p:nvSpPr>
        <p:spPr>
          <a:xfrm>
            <a:off x="6429825" y="3600450"/>
            <a:ext cx="5042084" cy="273375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6" name="内容占位符 10"/>
          <p:cNvSpPr>
            <a:spLocks noGrp="1"/>
          </p:cNvSpPr>
          <p:nvPr>
            <p:ph sz="quarter" idx="13"/>
          </p:nvPr>
        </p:nvSpPr>
        <p:spPr>
          <a:xfrm>
            <a:off x="698316" y="3600450"/>
            <a:ext cx="5042084" cy="273375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1048611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048612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10"/>
          <p:cNvSpPr>
            <a:spLocks noGrp="1"/>
          </p:cNvSpPr>
          <p:nvPr>
            <p:ph sz="quarter" idx="12"/>
          </p:nvPr>
        </p:nvSpPr>
        <p:spPr>
          <a:xfrm>
            <a:off x="698316" y="1190320"/>
            <a:ext cx="10773593" cy="2149668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方小图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  <p:sp>
        <p:nvSpPr>
          <p:cNvPr id="4" name="内容占位符 10"/>
          <p:cNvSpPr>
            <a:spLocks noGrp="1"/>
          </p:cNvSpPr>
          <p:nvPr>
            <p:ph sz="quarter" idx="12"/>
          </p:nvPr>
        </p:nvSpPr>
        <p:spPr>
          <a:xfrm>
            <a:off x="698316" y="1190320"/>
            <a:ext cx="10773593" cy="2149668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6" name="内容占位符 10"/>
          <p:cNvSpPr>
            <a:spLocks noGrp="1"/>
          </p:cNvSpPr>
          <p:nvPr>
            <p:ph sz="quarter" idx="13"/>
          </p:nvPr>
        </p:nvSpPr>
        <p:spPr>
          <a:xfrm>
            <a:off x="698316" y="3600450"/>
            <a:ext cx="3448234" cy="273375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8" name="内容占位符 10"/>
          <p:cNvSpPr>
            <a:spLocks noGrp="1"/>
          </p:cNvSpPr>
          <p:nvPr>
            <p:ph sz="quarter" idx="14"/>
          </p:nvPr>
        </p:nvSpPr>
        <p:spPr>
          <a:xfrm>
            <a:off x="4360995" y="3600450"/>
            <a:ext cx="3448234" cy="273375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9" name="内容占位符 10"/>
          <p:cNvSpPr>
            <a:spLocks noGrp="1"/>
          </p:cNvSpPr>
          <p:nvPr>
            <p:ph sz="quarter" idx="15"/>
          </p:nvPr>
        </p:nvSpPr>
        <p:spPr>
          <a:xfrm>
            <a:off x="8023675" y="3600450"/>
            <a:ext cx="3448234" cy="273375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1048611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1048612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排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1"/>
          </p:nvPr>
        </p:nvSpPr>
        <p:spPr>
          <a:xfrm>
            <a:off x="698317" y="3600000"/>
            <a:ext cx="10773593" cy="273240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3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10"/>
          <p:cNvSpPr>
            <a:spLocks noGrp="1"/>
          </p:cNvSpPr>
          <p:nvPr>
            <p:ph sz="quarter" idx="12"/>
          </p:nvPr>
        </p:nvSpPr>
        <p:spPr>
          <a:xfrm>
            <a:off x="698316" y="1190320"/>
            <a:ext cx="10773593" cy="2149668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排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线连接符 5"/>
          <p:cNvCxnSpPr/>
          <p:nvPr userDrawn="1"/>
        </p:nvCxnSpPr>
        <p:spPr>
          <a:xfrm>
            <a:off x="911424" y="1002385"/>
            <a:ext cx="8832981" cy="0"/>
          </a:xfrm>
          <a:prstGeom prst="line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24695" y="434975"/>
            <a:ext cx="1728000" cy="60993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98317" y="378866"/>
            <a:ext cx="8636183" cy="6826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>
            <a:lvl1pPr marL="0" marR="0" lvl="0" indent="0" algn="l" defTabSz="1016635" rtl="0" eaLnBrk="1" fontAlgn="auto" latinLnBrk="0" hangingPunct="1">
              <a:lnSpc>
                <a:spcPts val="28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单击此处文本样式</a:t>
            </a:r>
            <a:endParaRPr>
              <a:sym typeface="+mn-ea"/>
            </a:endParaRPr>
          </a:p>
        </p:txBody>
      </p:sp>
      <p:sp>
        <p:nvSpPr>
          <p:cNvPr id="8" name="内容占位符 10"/>
          <p:cNvSpPr>
            <a:spLocks noGrp="1"/>
          </p:cNvSpPr>
          <p:nvPr>
            <p:ph sz="quarter" idx="12"/>
          </p:nvPr>
        </p:nvSpPr>
        <p:spPr>
          <a:xfrm>
            <a:off x="5353050" y="3978275"/>
            <a:ext cx="6125210" cy="239712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9" name="内容占位符 10"/>
          <p:cNvSpPr>
            <a:spLocks noGrp="1"/>
          </p:cNvSpPr>
          <p:nvPr>
            <p:ph sz="quarter" idx="13"/>
          </p:nvPr>
        </p:nvSpPr>
        <p:spPr>
          <a:xfrm>
            <a:off x="5353050" y="1198245"/>
            <a:ext cx="6125210" cy="239712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12" name="内容占位符 10"/>
          <p:cNvSpPr>
            <a:spLocks noGrp="1"/>
          </p:cNvSpPr>
          <p:nvPr>
            <p:ph sz="quarter" idx="14"/>
          </p:nvPr>
        </p:nvSpPr>
        <p:spPr>
          <a:xfrm>
            <a:off x="698500" y="1190625"/>
            <a:ext cx="4203700" cy="518541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bg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0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11430" y="6712585"/>
            <a:ext cx="12203430" cy="1530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3" name="矩形 4"/>
          <p:cNvSpPr/>
          <p:nvPr userDrawn="1"/>
        </p:nvSpPr>
        <p:spPr>
          <a:xfrm>
            <a:off x="-11430" y="6567170"/>
            <a:ext cx="12203430" cy="153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698500" y="1061403"/>
            <a:ext cx="10779760" cy="1841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9" name="直线连接符 2"/>
          <p:cNvCxnSpPr/>
          <p:nvPr userDrawn="1"/>
        </p:nvCxnSpPr>
        <p:spPr>
          <a:xfrm>
            <a:off x="3311691" y="0"/>
            <a:ext cx="0" cy="685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直线连接符 3"/>
          <p:cNvCxnSpPr/>
          <p:nvPr userDrawn="1"/>
        </p:nvCxnSpPr>
        <p:spPr>
          <a:xfrm>
            <a:off x="11472597" y="0"/>
            <a:ext cx="0" cy="685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952" y="5762059"/>
            <a:ext cx="1807663" cy="525782"/>
          </a:xfrm>
          <a:prstGeom prst="rect">
            <a:avLst/>
          </a:prstGeom>
        </p:spPr>
      </p:pic>
      <p:sp>
        <p:nvSpPr>
          <p:cNvPr id="1048589" name="文本占位符 2"/>
          <p:cNvSpPr txBox="1"/>
          <p:nvPr userDrawn="1"/>
        </p:nvSpPr>
        <p:spPr>
          <a:xfrm>
            <a:off x="1370965" y="1147445"/>
            <a:ext cx="1941195" cy="812165"/>
          </a:xfrm>
          <a:prstGeom prst="rect">
            <a:avLst/>
          </a:prstGeom>
        </p:spPr>
        <p:txBody>
          <a:bodyPr vert="horz" lIns="109728" tIns="54864" rIns="109728" bIns="54864" rtlCol="0">
            <a:noAutofit/>
          </a:bodyPr>
          <a:lstStyle/>
          <a:p>
            <a:pPr marL="342900" lvl="0" indent="-342900" algn="ctr" defTabSz="914400">
              <a:spcBef>
                <a:spcPct val="20000"/>
              </a:spcBef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目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097157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8253" y="1009532"/>
            <a:ext cx="2633436" cy="691277"/>
          </a:xfrm>
          <a:prstGeom prst="rect">
            <a:avLst/>
          </a:prstGeom>
        </p:spPr>
      </p:pic>
      <p:pic>
        <p:nvPicPr>
          <p:cNvPr id="2097158" name="图片 12" descr="富泽人寿标志（70x262）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64540" y="5688330"/>
            <a:ext cx="1728000" cy="609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直线连接符 2"/>
          <p:cNvCxnSpPr/>
          <p:nvPr userDrawn="1"/>
        </p:nvCxnSpPr>
        <p:spPr>
          <a:xfrm>
            <a:off x="3311691" y="0"/>
            <a:ext cx="0" cy="685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图片 1"/>
          <p:cNvPicPr>
            <a:picLocks noChangeAspect="1"/>
          </p:cNvPicPr>
          <p:nvPr userDrawn="1"/>
        </p:nvPicPr>
        <p:blipFill rotWithShape="1">
          <a:blip r:embed="rId3"/>
          <a:srcRect l="26221"/>
          <a:stretch>
            <a:fillRect/>
          </a:stretch>
        </p:blipFill>
        <p:spPr>
          <a:xfrm>
            <a:off x="0" y="0"/>
            <a:ext cx="331978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图片 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157883" y="0"/>
            <a:ext cx="4034117" cy="6858000"/>
          </a:xfrm>
          <a:prstGeom prst="rect">
            <a:avLst/>
          </a:prstGeom>
        </p:spPr>
      </p:pic>
      <p:pic>
        <p:nvPicPr>
          <p:cNvPr id="2097160" name="图片 11" descr="富泽人寿标志（70x262）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4540" y="434975"/>
            <a:ext cx="1728000" cy="60993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635" y="0"/>
            <a:ext cx="9627235" cy="6858000"/>
          </a:xfrm>
          <a:prstGeom prst="rect">
            <a:avLst/>
          </a:prstGeom>
          <a:solidFill>
            <a:srgbClr val="D0101B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富泽人寿标志（70x262）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6600" y="528955"/>
            <a:ext cx="1728000" cy="60993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27075" y="6021288"/>
            <a:ext cx="12725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200" dirty="0" err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www.fzlife.com</a:t>
            </a:r>
            <a:endParaRPr kumimoji="1" lang="en-GB" altLang="zh-CN" sz="1200" dirty="0" err="1">
              <a:solidFill>
                <a:schemeClr val="bg1"/>
              </a:solidFill>
              <a:latin typeface="Microsoft YaHei UI" panose="020B0503020204020204" charset="-122"/>
              <a:ea typeface="Microsoft YaHei UI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5" name="图片 4" descr="美好生活 有我富泽 上下(白色)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98115" y="1660525"/>
            <a:ext cx="6795770" cy="2879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37BA53F-A92C-459B-870D-08A8C53511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203AB43-FEA0-45CF-9075-D884A0832C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6" Type="http://schemas.openxmlformats.org/officeDocument/2006/relationships/slideLayout" Target="../slideLayouts/slideLayout9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36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0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45.xml"/><Relationship Id="rId2" Type="http://schemas.openxmlformats.org/officeDocument/2006/relationships/chart" Target="../charts/chart12.xml"/><Relationship Id="rId1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46.xml"/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7.xml"/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48.xml"/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49.xml"/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chart" Target="../charts/chart2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0.xml"/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chart" Target="../charts/chart2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1.xml"/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chart" Target="../charts/chart2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2.xml"/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chart" Target="../charts/chart3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53.xml"/><Relationship Id="rId3" Type="http://schemas.openxmlformats.org/officeDocument/2006/relationships/chart" Target="../charts/chart36.xml"/><Relationship Id="rId2" Type="http://schemas.openxmlformats.org/officeDocument/2006/relationships/chart" Target="../charts/chart35.xml"/><Relationship Id="rId1" Type="http://schemas.openxmlformats.org/officeDocument/2006/relationships/chart" Target="../charts/chart3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4.xml"/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chart" Target="../charts/chart3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5.xml"/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chart" Target="../charts/chart4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56.xml"/><Relationship Id="rId3" Type="http://schemas.openxmlformats.org/officeDocument/2006/relationships/chart" Target="../charts/chart45.xml"/><Relationship Id="rId2" Type="http://schemas.openxmlformats.org/officeDocument/2006/relationships/chart" Target="../charts/chart44.xml"/><Relationship Id="rId1" Type="http://schemas.openxmlformats.org/officeDocument/2006/relationships/chart" Target="../charts/chart4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7.xml"/><Relationship Id="rId1" Type="http://schemas.openxmlformats.org/officeDocument/2006/relationships/chart" Target="../charts/chart46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chart" Target="../charts/chart48.xml"/><Relationship Id="rId1" Type="http://schemas.openxmlformats.org/officeDocument/2006/relationships/chart" Target="../charts/chart4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61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8.png"/><Relationship Id="rId3" Type="http://schemas.openxmlformats.org/officeDocument/2006/relationships/tags" Target="../tags/tag71.xml"/><Relationship Id="rId2" Type="http://schemas.openxmlformats.org/officeDocument/2006/relationships/image" Target="../media/image7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D0101B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富泽人寿控股</a:t>
            </a:r>
            <a:r>
              <a:rPr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子公司</a:t>
            </a:r>
            <a:endParaRPr sz="3600" b="0" dirty="0">
              <a:solidFill>
                <a:schemeClr val="accent1"/>
              </a:solidFill>
              <a:latin typeface="+mj-lt"/>
              <a:ea typeface="+mj-lt"/>
              <a:cs typeface="+mj-lt"/>
              <a:sym typeface="+mn-ea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2026</a:t>
            </a:r>
            <a:r>
              <a:rPr lang="zh-CN" altLang="en-US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年</a:t>
            </a:r>
            <a:r>
              <a:rPr lang="en-US" altLang="zh-CN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4</a:t>
            </a:r>
            <a:r>
              <a:rPr lang="zh-CN" altLang="en-US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月</a:t>
            </a:r>
            <a:r>
              <a:rPr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经营</a:t>
            </a:r>
            <a:r>
              <a:rPr lang="zh-CN" sz="3600" b="0" dirty="0">
                <a:solidFill>
                  <a:schemeClr val="accent1"/>
                </a:solidFill>
                <a:latin typeface="+mj-lt"/>
                <a:ea typeface="+mj-lt"/>
                <a:cs typeface="+mj-lt"/>
                <a:sym typeface="+mn-ea"/>
              </a:rPr>
              <a:t>报告</a:t>
            </a:r>
            <a:endParaRPr lang="zh-CN" altLang="en-US" sz="3200" b="0" dirty="0">
              <a:solidFill>
                <a:schemeClr val="accent1"/>
              </a:solidFill>
              <a:latin typeface="+mj-lt"/>
              <a:ea typeface="+mj-lt"/>
              <a:cs typeface="+mj-lt"/>
              <a:sym typeface="+mn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zh-CN" altLang="en-US"/>
              <a:t>汇报人：行政管理部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81755" y="1404620"/>
            <a:ext cx="6334760" cy="671830"/>
            <a:chOff x="6113" y="2212"/>
            <a:chExt cx="9976" cy="1058"/>
          </a:xfrm>
        </p:grpSpPr>
        <p:sp>
          <p:nvSpPr>
            <p:cNvPr id="1048690" name="圆角矩形 14"/>
            <p:cNvSpPr/>
            <p:nvPr>
              <p:custDataLst>
                <p:tags r:id="rId1"/>
              </p:custDataLst>
            </p:nvPr>
          </p:nvSpPr>
          <p:spPr>
            <a:xfrm>
              <a:off x="6113" y="2212"/>
              <a:ext cx="9976" cy="10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algn="ctr" rotWithShape="0">
                <a:srgbClr val="C00000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 useBgFill="1">
          <p:nvSpPr>
            <p:cNvPr id="1048691" name="圆角矩形 40"/>
            <p:cNvSpPr/>
            <p:nvPr>
              <p:custDataLst>
                <p:tags r:id="rId2"/>
              </p:custDataLst>
            </p:nvPr>
          </p:nvSpPr>
          <p:spPr>
            <a:xfrm>
              <a:off x="6113" y="2212"/>
              <a:ext cx="9976" cy="1059"/>
            </a:xfrm>
            <a:prstGeom prst="roundRect">
              <a:avLst>
                <a:gd name="adj" fmla="val 50000"/>
              </a:avLst>
            </a:prstGeom>
            <a:ln w="12700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>
          <p:nvSpPr>
            <p:cNvPr id="1048692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6540" y="2298"/>
              <a:ext cx="1000" cy="887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cs typeface="+mn-cs"/>
                </a:rPr>
                <a:t>01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cs typeface="+mn-cs"/>
              </a:endParaRPr>
            </a:p>
          </p:txBody>
        </p:sp>
        <p:cxnSp>
          <p:nvCxnSpPr>
            <p:cNvPr id="1048693" name="直接连接符 1048692"/>
            <p:cNvCxnSpPr/>
            <p:nvPr>
              <p:custDataLst>
                <p:tags r:id="rId4"/>
              </p:custDataLst>
            </p:nvPr>
          </p:nvCxnSpPr>
          <p:spPr>
            <a:xfrm>
              <a:off x="7868" y="2388"/>
              <a:ext cx="0" cy="708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alpha val="3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48694" name="文本框 17"/>
            <p:cNvSpPr txBox="1"/>
            <p:nvPr>
              <p:custDataLst>
                <p:tags r:id="rId5"/>
              </p:custDataLst>
            </p:nvPr>
          </p:nvSpPr>
          <p:spPr>
            <a:xfrm>
              <a:off x="8237" y="2342"/>
              <a:ext cx="6120" cy="79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200" b="1" i="0" u="none" strike="noStrike" cap="none" spc="0" normalizeH="0" baseline="0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整体经营情况</a:t>
              </a:r>
              <a:endParaRPr kumimoji="0" lang="en-US" altLang="zh-CN" sz="2200" b="1" i="0" u="none" strike="noStrike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048695" name="燕尾形 18"/>
            <p:cNvSpPr/>
            <p:nvPr>
              <p:custDataLst>
                <p:tags r:id="rId6"/>
              </p:custDataLst>
            </p:nvPr>
          </p:nvSpPr>
          <p:spPr>
            <a:xfrm>
              <a:off x="14908" y="259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  <p:sp>
          <p:nvSpPr>
            <p:cNvPr id="1048696" name="燕尾形 19"/>
            <p:cNvSpPr/>
            <p:nvPr>
              <p:custDataLst>
                <p:tags r:id="rId7"/>
              </p:custDataLst>
            </p:nvPr>
          </p:nvSpPr>
          <p:spPr>
            <a:xfrm>
              <a:off x="15126" y="259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81755" y="2334895"/>
            <a:ext cx="6334760" cy="671830"/>
            <a:chOff x="6113" y="3677"/>
            <a:chExt cx="9976" cy="1058"/>
          </a:xfrm>
        </p:grpSpPr>
        <p:sp>
          <p:nvSpPr>
            <p:cNvPr id="1048697" name="圆角矩形 43"/>
            <p:cNvSpPr/>
            <p:nvPr>
              <p:custDataLst>
                <p:tags r:id="rId8"/>
              </p:custDataLst>
            </p:nvPr>
          </p:nvSpPr>
          <p:spPr>
            <a:xfrm>
              <a:off x="6113" y="3677"/>
              <a:ext cx="9976" cy="10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algn="ctr" rotWithShape="0">
                <a:srgbClr val="C00000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 useBgFill="1">
          <p:nvSpPr>
            <p:cNvPr id="1048698" name="圆角矩形 20"/>
            <p:cNvSpPr/>
            <p:nvPr>
              <p:custDataLst>
                <p:tags r:id="rId9"/>
              </p:custDataLst>
            </p:nvPr>
          </p:nvSpPr>
          <p:spPr>
            <a:xfrm>
              <a:off x="6113" y="3677"/>
              <a:ext cx="9976" cy="1059"/>
            </a:xfrm>
            <a:prstGeom prst="roundRect">
              <a:avLst>
                <a:gd name="adj" fmla="val 50000"/>
              </a:avLst>
            </a:prstGeom>
            <a:ln w="12700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>
          <p:nvSpPr>
            <p:cNvPr id="1048699" name="文本框 21"/>
            <p:cNvSpPr txBox="1"/>
            <p:nvPr>
              <p:custDataLst>
                <p:tags r:id="rId10"/>
              </p:custDataLst>
            </p:nvPr>
          </p:nvSpPr>
          <p:spPr>
            <a:xfrm>
              <a:off x="6540" y="3763"/>
              <a:ext cx="1000" cy="887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sym typeface="+mn-ea"/>
                </a:rPr>
                <a:t>02</a:t>
              </a:r>
              <a:endParaRPr lang="en-US" altLang="zh-CN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sym typeface="+mn-ea"/>
              </a:endParaRPr>
            </a:p>
          </p:txBody>
        </p:sp>
        <p:cxnSp>
          <p:nvCxnSpPr>
            <p:cNvPr id="1048700" name="直接连接符 1048699"/>
            <p:cNvCxnSpPr/>
            <p:nvPr>
              <p:custDataLst>
                <p:tags r:id="rId11"/>
              </p:custDataLst>
            </p:nvPr>
          </p:nvCxnSpPr>
          <p:spPr>
            <a:xfrm>
              <a:off x="7868" y="3853"/>
              <a:ext cx="0" cy="708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alpha val="3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48701" name="文本框 23"/>
            <p:cNvSpPr txBox="1"/>
            <p:nvPr>
              <p:custDataLst>
                <p:tags r:id="rId12"/>
              </p:custDataLst>
            </p:nvPr>
          </p:nvSpPr>
          <p:spPr>
            <a:xfrm>
              <a:off x="8237" y="3807"/>
              <a:ext cx="6120" cy="79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200" b="1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sym typeface="+mn-ea"/>
                </a:rPr>
                <a:t>分业态经营表现</a:t>
              </a:r>
              <a:endParaRPr lang="en-US" altLang="zh-CN" sz="22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1048702" name="燕尾形 24"/>
            <p:cNvSpPr/>
            <p:nvPr>
              <p:custDataLst>
                <p:tags r:id="rId13"/>
              </p:custDataLst>
            </p:nvPr>
          </p:nvSpPr>
          <p:spPr>
            <a:xfrm>
              <a:off x="14908" y="4058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  <p:sp>
          <p:nvSpPr>
            <p:cNvPr id="1048703" name="燕尾形 25"/>
            <p:cNvSpPr/>
            <p:nvPr>
              <p:custDataLst>
                <p:tags r:id="rId14"/>
              </p:custDataLst>
            </p:nvPr>
          </p:nvSpPr>
          <p:spPr>
            <a:xfrm>
              <a:off x="15126" y="4058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881755" y="3265170"/>
            <a:ext cx="6334760" cy="671830"/>
            <a:chOff x="6113" y="5142"/>
            <a:chExt cx="9976" cy="1058"/>
          </a:xfrm>
        </p:grpSpPr>
        <p:sp>
          <p:nvSpPr>
            <p:cNvPr id="1048704" name="圆角矩形 51"/>
            <p:cNvSpPr/>
            <p:nvPr>
              <p:custDataLst>
                <p:tags r:id="rId15"/>
              </p:custDataLst>
            </p:nvPr>
          </p:nvSpPr>
          <p:spPr>
            <a:xfrm>
              <a:off x="6113" y="5142"/>
              <a:ext cx="9976" cy="10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algn="ctr" rotWithShape="0">
                <a:srgbClr val="C00000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 useBgFill="1">
          <p:nvSpPr>
            <p:cNvPr id="1048705" name="圆角矩形 27"/>
            <p:cNvSpPr/>
            <p:nvPr>
              <p:custDataLst>
                <p:tags r:id="rId16"/>
              </p:custDataLst>
            </p:nvPr>
          </p:nvSpPr>
          <p:spPr>
            <a:xfrm>
              <a:off x="6113" y="5142"/>
              <a:ext cx="9976" cy="1059"/>
            </a:xfrm>
            <a:prstGeom prst="roundRect">
              <a:avLst>
                <a:gd name="adj" fmla="val 50000"/>
              </a:avLst>
            </a:prstGeom>
            <a:ln w="12700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>
          <p:nvSpPr>
            <p:cNvPr id="1048706" name="文本框 28"/>
            <p:cNvSpPr txBox="1"/>
            <p:nvPr>
              <p:custDataLst>
                <p:tags r:id="rId17"/>
              </p:custDataLst>
            </p:nvPr>
          </p:nvSpPr>
          <p:spPr>
            <a:xfrm>
              <a:off x="6540" y="5228"/>
              <a:ext cx="1000" cy="887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sym typeface="+mn-ea"/>
                </a:rPr>
                <a:t>03</a:t>
              </a:r>
              <a:endParaRPr lang="en-US" altLang="zh-CN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sym typeface="+mn-ea"/>
              </a:endParaRPr>
            </a:p>
          </p:txBody>
        </p:sp>
        <p:cxnSp>
          <p:nvCxnSpPr>
            <p:cNvPr id="1048707" name="直接连接符 1048706"/>
            <p:cNvCxnSpPr/>
            <p:nvPr>
              <p:custDataLst>
                <p:tags r:id="rId18"/>
              </p:custDataLst>
            </p:nvPr>
          </p:nvCxnSpPr>
          <p:spPr>
            <a:xfrm>
              <a:off x="7868" y="5318"/>
              <a:ext cx="0" cy="708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alpha val="3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48708" name="文本框 30"/>
            <p:cNvSpPr txBox="1"/>
            <p:nvPr>
              <p:custDataLst>
                <p:tags r:id="rId19"/>
              </p:custDataLst>
            </p:nvPr>
          </p:nvSpPr>
          <p:spPr>
            <a:xfrm>
              <a:off x="8237" y="5272"/>
              <a:ext cx="6120" cy="79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200" b="1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sym typeface="+mn-ea"/>
                </a:rPr>
                <a:t>子公司经营情况</a:t>
              </a:r>
              <a:endParaRPr lang="en-US" altLang="zh-CN" sz="22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1048709" name="燕尾形 31"/>
            <p:cNvSpPr/>
            <p:nvPr>
              <p:custDataLst>
                <p:tags r:id="rId20"/>
              </p:custDataLst>
            </p:nvPr>
          </p:nvSpPr>
          <p:spPr>
            <a:xfrm>
              <a:off x="14908" y="552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  <p:sp>
          <p:nvSpPr>
            <p:cNvPr id="1048710" name="燕尾形 32"/>
            <p:cNvSpPr/>
            <p:nvPr>
              <p:custDataLst>
                <p:tags r:id="rId21"/>
              </p:custDataLst>
            </p:nvPr>
          </p:nvSpPr>
          <p:spPr>
            <a:xfrm>
              <a:off x="15126" y="552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881755" y="4195445"/>
            <a:ext cx="6334760" cy="671830"/>
            <a:chOff x="6113" y="6607"/>
            <a:chExt cx="9976" cy="1058"/>
          </a:xfrm>
        </p:grpSpPr>
        <p:sp>
          <p:nvSpPr>
            <p:cNvPr id="1048711" name="圆角矩形 59"/>
            <p:cNvSpPr/>
            <p:nvPr>
              <p:custDataLst>
                <p:tags r:id="rId22"/>
              </p:custDataLst>
            </p:nvPr>
          </p:nvSpPr>
          <p:spPr>
            <a:xfrm>
              <a:off x="6113" y="6607"/>
              <a:ext cx="9976" cy="10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algn="ctr" rotWithShape="0">
                <a:srgbClr val="C00000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 useBgFill="1">
          <p:nvSpPr>
            <p:cNvPr id="1048712" name="圆角矩形 60"/>
            <p:cNvSpPr/>
            <p:nvPr>
              <p:custDataLst>
                <p:tags r:id="rId23"/>
              </p:custDataLst>
            </p:nvPr>
          </p:nvSpPr>
          <p:spPr>
            <a:xfrm>
              <a:off x="6113" y="6607"/>
              <a:ext cx="9976" cy="1059"/>
            </a:xfrm>
            <a:prstGeom prst="roundRect">
              <a:avLst>
                <a:gd name="adj" fmla="val 50000"/>
              </a:avLst>
            </a:prstGeom>
            <a:ln w="12700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>
          <p:nvSpPr>
            <p:cNvPr id="1048713" name="文本框 61"/>
            <p:cNvSpPr txBox="1"/>
            <p:nvPr>
              <p:custDataLst>
                <p:tags r:id="rId24"/>
              </p:custDataLst>
            </p:nvPr>
          </p:nvSpPr>
          <p:spPr>
            <a:xfrm>
              <a:off x="6540" y="6693"/>
              <a:ext cx="1000" cy="887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sym typeface="+mn-ea"/>
                </a:rPr>
                <a:t>04</a:t>
              </a:r>
              <a:endParaRPr lang="en-US" altLang="zh-CN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sym typeface="+mn-ea"/>
              </a:endParaRPr>
            </a:p>
          </p:txBody>
        </p:sp>
        <p:cxnSp>
          <p:nvCxnSpPr>
            <p:cNvPr id="1048714" name="直接连接符 1048713"/>
            <p:cNvCxnSpPr/>
            <p:nvPr>
              <p:custDataLst>
                <p:tags r:id="rId25"/>
              </p:custDataLst>
            </p:nvPr>
          </p:nvCxnSpPr>
          <p:spPr>
            <a:xfrm>
              <a:off x="7868" y="6783"/>
              <a:ext cx="0" cy="708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alpha val="3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048715" name="文本框 63"/>
            <p:cNvSpPr txBox="1"/>
            <p:nvPr>
              <p:custDataLst>
                <p:tags r:id="rId26"/>
              </p:custDataLst>
            </p:nvPr>
          </p:nvSpPr>
          <p:spPr>
            <a:xfrm>
              <a:off x="8237" y="6737"/>
              <a:ext cx="6120" cy="79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200" b="1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sym typeface="+mn-ea"/>
                </a:rPr>
                <a:t>子公司管理工作</a:t>
              </a:r>
              <a:endParaRPr lang="en-US" altLang="zh-CN" sz="22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1048716" name="燕尾形 64"/>
            <p:cNvSpPr/>
            <p:nvPr>
              <p:custDataLst>
                <p:tags r:id="rId27"/>
              </p:custDataLst>
            </p:nvPr>
          </p:nvSpPr>
          <p:spPr>
            <a:xfrm>
              <a:off x="14908" y="6988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  <p:sp>
          <p:nvSpPr>
            <p:cNvPr id="1048717" name="燕尾形 65"/>
            <p:cNvSpPr/>
            <p:nvPr>
              <p:custDataLst>
                <p:tags r:id="rId28"/>
              </p:custDataLst>
            </p:nvPr>
          </p:nvSpPr>
          <p:spPr>
            <a:xfrm>
              <a:off x="15126" y="6988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881755" y="5125720"/>
            <a:ext cx="6334760" cy="671830"/>
            <a:chOff x="6113" y="8072"/>
            <a:chExt cx="9976" cy="1058"/>
          </a:xfrm>
        </p:grpSpPr>
        <p:sp>
          <p:nvSpPr>
            <p:cNvPr id="2" name="圆角矩形 59"/>
            <p:cNvSpPr/>
            <p:nvPr>
              <p:custDataLst>
                <p:tags r:id="rId29"/>
              </p:custDataLst>
            </p:nvPr>
          </p:nvSpPr>
          <p:spPr>
            <a:xfrm>
              <a:off x="6113" y="8072"/>
              <a:ext cx="9976" cy="105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32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algn="ctr" rotWithShape="0">
                <a:srgbClr val="C00000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 useBgFill="1">
          <p:nvSpPr>
            <p:cNvPr id="3" name="圆角矩形 60"/>
            <p:cNvSpPr/>
            <p:nvPr>
              <p:custDataLst>
                <p:tags r:id="rId30"/>
              </p:custDataLst>
            </p:nvPr>
          </p:nvSpPr>
          <p:spPr>
            <a:xfrm>
              <a:off x="6113" y="8072"/>
              <a:ext cx="9976" cy="1059"/>
            </a:xfrm>
            <a:prstGeom prst="roundRect">
              <a:avLst>
                <a:gd name="adj" fmla="val 50000"/>
              </a:avLst>
            </a:prstGeom>
            <a:ln w="12700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sym typeface="+mn-ea"/>
              </a:endParaRPr>
            </a:p>
          </p:txBody>
        </p:sp>
        <p:sp>
          <p:nvSpPr>
            <p:cNvPr id="4" name="文本框 61"/>
            <p:cNvSpPr txBox="1"/>
            <p:nvPr>
              <p:custDataLst>
                <p:tags r:id="rId31"/>
              </p:custDataLst>
            </p:nvPr>
          </p:nvSpPr>
          <p:spPr>
            <a:xfrm>
              <a:off x="6540" y="8158"/>
              <a:ext cx="1000" cy="887"/>
            </a:xfrm>
            <a:prstGeom prst="rect">
              <a:avLst/>
            </a:prstGeom>
            <a:noFill/>
          </p:spPr>
          <p:txBody>
            <a:bodyPr wrap="none" rtlCol="0" anchor="ctr" anchorCtr="0">
              <a:norm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j-lt"/>
                  <a:sym typeface="+mn-ea"/>
                </a:rPr>
                <a:t>05</a:t>
              </a:r>
              <a:endParaRPr lang="en-US" altLang="zh-CN" sz="24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lt"/>
                <a:sym typeface="+mn-ea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32"/>
              </p:custDataLst>
            </p:nvPr>
          </p:nvCxnSpPr>
          <p:spPr>
            <a:xfrm>
              <a:off x="7868" y="8248"/>
              <a:ext cx="0" cy="708"/>
            </a:xfrm>
            <a:prstGeom prst="line">
              <a:avLst/>
            </a:prstGeom>
            <a:noFill/>
            <a:ln w="25400" cap="flat" cmpd="sng" algn="ctr">
              <a:solidFill>
                <a:schemeClr val="tx2">
                  <a:alpha val="30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6" name="文本框 63"/>
            <p:cNvSpPr txBox="1"/>
            <p:nvPr>
              <p:custDataLst>
                <p:tags r:id="rId33"/>
              </p:custDataLst>
            </p:nvPr>
          </p:nvSpPr>
          <p:spPr>
            <a:xfrm>
              <a:off x="8237" y="8202"/>
              <a:ext cx="6120" cy="79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200" b="1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sym typeface="+mn-ea"/>
                </a:rPr>
                <a:t>管理建议与风险提示</a:t>
              </a:r>
              <a:endParaRPr lang="en-US" altLang="zh-CN" sz="2200" b="1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sym typeface="+mn-ea"/>
              </a:endParaRPr>
            </a:p>
          </p:txBody>
        </p:sp>
        <p:sp>
          <p:nvSpPr>
            <p:cNvPr id="7" name="燕尾形 64"/>
            <p:cNvSpPr/>
            <p:nvPr>
              <p:custDataLst>
                <p:tags r:id="rId34"/>
              </p:custDataLst>
            </p:nvPr>
          </p:nvSpPr>
          <p:spPr>
            <a:xfrm>
              <a:off x="14908" y="845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  <p:sp>
          <p:nvSpPr>
            <p:cNvPr id="8" name="燕尾形 65"/>
            <p:cNvSpPr/>
            <p:nvPr>
              <p:custDataLst>
                <p:tags r:id="rId35"/>
              </p:custDataLst>
            </p:nvPr>
          </p:nvSpPr>
          <p:spPr>
            <a:xfrm>
              <a:off x="15126" y="8453"/>
              <a:ext cx="239" cy="297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l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98120" y="3282315"/>
            <a:ext cx="2825750" cy="1512570"/>
            <a:chOff x="312" y="5169"/>
            <a:chExt cx="4450" cy="2382"/>
          </a:xfrm>
        </p:grpSpPr>
        <p:sp>
          <p:nvSpPr>
            <p:cNvPr id="38" name="文本框 37"/>
            <p:cNvSpPr txBox="1"/>
            <p:nvPr/>
          </p:nvSpPr>
          <p:spPr>
            <a:xfrm>
              <a:off x="312" y="5169"/>
              <a:ext cx="2830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政府要求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12" y="5676"/>
              <a:ext cx="4450" cy="1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完成航空障碍灯改造招标，现已完成灯具安装。（待政府验收）</a:t>
              </a:r>
              <a:endParaRPr lang="zh-CN" altLang="en-US" sz="1100" dirty="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</a:endParaRPr>
            </a:p>
            <a:p>
              <a:pPr marL="171450" indent="-171450" algn="just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开展消防疏散演练、人防演习。</a:t>
              </a:r>
              <a:endParaRPr lang="zh-CN" altLang="en-US" sz="1100" dirty="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</a:endParaRPr>
            </a:p>
            <a:p>
              <a:pPr marL="171450" indent="-171450" algn="just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100" dirty="0">
                  <a:solidFill>
                    <a:schemeClr val="bg1"/>
                  </a:solidFill>
                  <a:latin typeface="思源黑体 Medium" panose="020B0600000000000000" charset="-122"/>
                  <a:ea typeface="思源黑体 Medium" panose="020B0600000000000000" charset="-122"/>
                </a:rPr>
                <a:t>配合消防部门及省住建专家专项安全检查，现已完成所有消防隐患销项。</a:t>
              </a:r>
              <a:endParaRPr lang="zh-CN" altLang="en-US" sz="1100" dirty="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框 1"/>
          <p:cNvSpPr txBox="1"/>
          <p:nvPr/>
        </p:nvSpPr>
        <p:spPr>
          <a:xfrm>
            <a:off x="3411855" y="1365250"/>
            <a:ext cx="2117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800" dirty="0">
                <a:solidFill>
                  <a:schemeClr val="tx1"/>
                </a:solidFill>
                <a:uFillTx/>
                <a:latin typeface="+mn-ea"/>
                <a:cs typeface="Arial" panose="020B0604020202020204" pitchFamily="34" charset="0"/>
              </a:rPr>
              <a:t>PART 01</a:t>
            </a:r>
            <a:endParaRPr kumimoji="1" lang="en-US" altLang="zh-CN" sz="2800" dirty="0">
              <a:solidFill>
                <a:schemeClr val="tx1"/>
              </a:solidFill>
              <a:uFillTx/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3411855" y="1969135"/>
            <a:ext cx="8512810" cy="1132205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/>
          <a:p>
            <a:pPr marL="342900" lvl="0" indent="-342900" algn="l">
              <a:spcBef>
                <a:spcPct val="20000"/>
              </a:spcBef>
              <a:buClrTx/>
              <a:buSzTx/>
              <a:buFontTx/>
            </a:pPr>
            <a:r>
              <a:rPr lang="zh-CN" altLang="en-US" sz="4000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  <a:sym typeface="+mn-ea"/>
              </a:rPr>
              <a:t>整体经营情况</a:t>
            </a:r>
            <a:endParaRPr lang="zh-CN" altLang="en-US" sz="4000" dirty="0">
              <a:solidFill>
                <a:schemeClr val="accent1"/>
              </a:solidFill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0">
                <a:solidFill>
                  <a:schemeClr val="accent1"/>
                </a:solidFill>
                <a:latin typeface="+mj-ea"/>
                <a:ea typeface="+mj-ea"/>
              </a:rPr>
              <a:t>整体经营概览</a:t>
            </a:r>
            <a:endParaRPr b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2" name="文本框 41"/>
          <p:cNvSpPr txBox="1"/>
          <p:nvPr>
            <p:custDataLst>
              <p:tags r:id="rId2"/>
            </p:custDataLst>
          </p:nvPr>
        </p:nvSpPr>
        <p:spPr>
          <a:xfrm>
            <a:off x="442560" y="6506845"/>
            <a:ext cx="112947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备注：</a:t>
            </a:r>
            <a:r>
              <a:rPr lang="zh-CN" altLang="en-US" sz="1000" dirty="0">
                <a:solidFill>
                  <a:schemeClr val="tx2"/>
                </a:solidFill>
                <a:latin typeface="Calibri" panose="020F0502020204030204" charset="0"/>
                <a:ea typeface="+mn-ea"/>
                <a:cs typeface="+mn-ea"/>
              </a:rPr>
              <a:t>①</a:t>
            </a:r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本报告中各子公司</a:t>
            </a:r>
            <a:r>
              <a:rPr lang="en-US" altLang="zh-CN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2026</a:t>
            </a:r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年经营计划和预算尚未经批准；</a:t>
            </a:r>
            <a:r>
              <a:rPr lang="zh-CN" altLang="en-US" sz="1000" dirty="0">
                <a:solidFill>
                  <a:schemeClr val="tx2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②</a:t>
            </a:r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如无特殊说明，本报告单位均为</a:t>
            </a:r>
            <a:r>
              <a:rPr lang="en-US" altLang="zh-CN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“</a:t>
            </a:r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万元</a:t>
            </a:r>
            <a:r>
              <a:rPr lang="en-US" altLang="zh-CN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、</a:t>
            </a:r>
            <a:r>
              <a:rPr lang="en-US" altLang="zh-CN" sz="1000" dirty="0">
                <a:solidFill>
                  <a:schemeClr val="tx2"/>
                </a:solidFill>
                <a:latin typeface="+mn-ea"/>
                <a:ea typeface="+mn-ea"/>
                <a:cs typeface="+mn-ea"/>
              </a:rPr>
              <a:t>“%”</a:t>
            </a:r>
            <a:endParaRPr lang="en-US" altLang="zh-CN" sz="1000" dirty="0">
              <a:solidFill>
                <a:schemeClr val="tx2"/>
              </a:solidFill>
              <a:latin typeface="+mn-ea"/>
              <a:ea typeface="+mn-ea"/>
              <a:cs typeface="+mn-ea"/>
            </a:endParaRPr>
          </a:p>
        </p:txBody>
      </p:sp>
      <p:sp useBgFill="1">
        <p:nvSpPr>
          <p:cNvPr id="16" name="内容占位符 2"/>
          <p:cNvSpPr>
            <a:spLocks noGrp="1"/>
          </p:cNvSpPr>
          <p:nvPr/>
        </p:nvSpPr>
        <p:spPr>
          <a:xfrm>
            <a:off x="442595" y="2744470"/>
            <a:ext cx="5505450" cy="3647440"/>
          </a:xfrm>
          <a:prstGeom prst="roundRect">
            <a:avLst>
              <a:gd name="adj" fmla="val 4886"/>
            </a:avLst>
          </a:prstGeom>
          <a:ln w="9525">
            <a:solidFill>
              <a:schemeClr val="tx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40000"/>
              </a:lnSpc>
              <a:spcAft>
                <a:spcPts val="0"/>
              </a:spcAft>
              <a:buClrTx/>
              <a:buSzTx/>
              <a:buFont typeface="Wingdings" panose="05000000000000000000" charset="0"/>
              <a:defRPr/>
            </a:pPr>
            <a:r>
              <a:rPr sz="1600" b="0" dirty="0">
                <a:solidFill>
                  <a:schemeClr val="tx1"/>
                </a:solidFill>
                <a:cs typeface="+mn-ea"/>
                <a:sym typeface="+mn-ea"/>
              </a:rPr>
              <a:t>202</a:t>
            </a:r>
            <a:r>
              <a:rPr lang="en-US" altLang="zh-CN" sz="1600" b="0" dirty="0">
                <a:solidFill>
                  <a:schemeClr val="tx1"/>
                </a:solidFill>
                <a:cs typeface="+mn-ea"/>
                <a:sym typeface="+mn-ea"/>
              </a:rPr>
              <a:t>6</a:t>
            </a:r>
            <a:r>
              <a:rPr sz="1600" b="0" dirty="0">
                <a:solidFill>
                  <a:schemeClr val="tx1"/>
                </a:solidFill>
                <a:cs typeface="+mn-ea"/>
                <a:sym typeface="+mn-ea"/>
              </a:rPr>
              <a:t>年子公司经营指标达成情况：</a:t>
            </a:r>
            <a:endParaRPr lang="en-US" altLang="zh-CN" sz="1600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358775" indent="-358775" defTabSz="914400" fontAlgn="auto">
              <a:lnSpc>
                <a:spcPct val="140000"/>
              </a:lnSpc>
              <a:spcAft>
                <a:spcPts val="0"/>
              </a:spcAft>
              <a:buClr>
                <a:srgbClr val="D2161A"/>
              </a:buClr>
              <a:buFont typeface="Wingdings" panose="05000000000000000000" charset="0"/>
              <a:buChar char="Ø"/>
              <a:tabLst>
                <a:tab pos="360045" algn="l"/>
              </a:tabLst>
            </a:pPr>
            <a:r>
              <a:rPr lang="en-US" altLang="zh-CN" sz="1600" b="0">
                <a:cs typeface="+mn-ea"/>
                <a:sym typeface="+mn-ea"/>
              </a:rPr>
              <a:t>营业收入</a:t>
            </a:r>
            <a:r>
              <a:rPr lang="en-US" altLang="zh-CN" sz="1600" b="0" dirty="0">
                <a:solidFill>
                  <a:schemeClr val="tx1"/>
                </a:solidFill>
                <a:cs typeface="+mn-ea"/>
                <a:sym typeface="+mn-ea"/>
              </a:rPr>
              <a:t>实现8931万元，年度任务达成32.11%，</a:t>
            </a:r>
            <a:r>
              <a:rPr sz="1600" b="0" dirty="0">
                <a:solidFill>
                  <a:schemeClr val="tx1"/>
                </a:solidFill>
                <a:cs typeface="+mn-ea"/>
                <a:sym typeface="+mn-ea"/>
              </a:rPr>
              <a:t>同比下降</a:t>
            </a:r>
            <a:r>
              <a:rPr lang="en-US" altLang="zh-CN" sz="1600" b="0" dirty="0">
                <a:solidFill>
                  <a:schemeClr val="tx1"/>
                </a:solidFill>
                <a:cs typeface="+mn-ea"/>
                <a:sym typeface="+mn-ea"/>
              </a:rPr>
              <a:t>2.91%</a:t>
            </a:r>
            <a:r>
              <a:rPr sz="1600" b="0" dirty="0">
                <a:solidFill>
                  <a:schemeClr val="tx1"/>
                </a:solidFill>
                <a:cs typeface="+mn-ea"/>
                <a:sym typeface="+mn-ea"/>
              </a:rPr>
              <a:t>。</a:t>
            </a:r>
            <a:endParaRPr lang="en-US" altLang="zh-CN" sz="1600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358775" indent="-358775" fontAlgn="auto">
              <a:lnSpc>
                <a:spcPct val="140000"/>
              </a:lnSpc>
              <a:buClr>
                <a:srgbClr val="D2161A"/>
              </a:buClr>
              <a:buFont typeface="Wingdings" panose="05000000000000000000" charset="0"/>
              <a:buChar char="Ø"/>
              <a:tabLst>
                <a:tab pos="360045" algn="l"/>
              </a:tabLst>
            </a:pPr>
            <a:r>
              <a:rPr lang="en-US" altLang="zh-CN" sz="1600" b="0" dirty="0">
                <a:cs typeface="+mn-ea"/>
              </a:rPr>
              <a:t>EBITDA实现4548万元，达成率36.5%，同比</a:t>
            </a:r>
            <a:r>
              <a:rPr sz="1600" b="0" dirty="0">
                <a:cs typeface="+mn-ea"/>
              </a:rPr>
              <a:t>下降</a:t>
            </a:r>
            <a:r>
              <a:rPr lang="en-US" altLang="zh-CN" sz="1600" b="0" dirty="0">
                <a:cs typeface="+mn-ea"/>
              </a:rPr>
              <a:t>1.55%。</a:t>
            </a:r>
            <a:endParaRPr lang="en-US" altLang="zh-CN" sz="1600" b="0" dirty="0">
              <a:cs typeface="+mn-ea"/>
            </a:endParaRPr>
          </a:p>
          <a:p>
            <a:pPr marL="358775" indent="-358775" fontAlgn="auto">
              <a:lnSpc>
                <a:spcPct val="140000"/>
              </a:lnSpc>
              <a:buClr>
                <a:srgbClr val="D2161A"/>
              </a:buClr>
              <a:buFont typeface="Wingdings" panose="05000000000000000000" charset="0"/>
              <a:buChar char="Ø"/>
              <a:tabLst>
                <a:tab pos="360045" algn="l"/>
              </a:tabLst>
            </a:pPr>
            <a:r>
              <a:rPr lang="en-US" altLang="zh-CN" sz="1600" b="0" dirty="0">
                <a:cs typeface="+mn-ea"/>
              </a:rPr>
              <a:t>经营活动现金净流入4864万元，达成率62%，同比</a:t>
            </a:r>
            <a:r>
              <a:rPr sz="1600" b="0" dirty="0">
                <a:cs typeface="+mn-ea"/>
              </a:rPr>
              <a:t>增长</a:t>
            </a:r>
            <a:r>
              <a:rPr lang="en-US" altLang="zh-CN" sz="1600" b="0" dirty="0">
                <a:cs typeface="+mn-ea"/>
              </a:rPr>
              <a:t>52.12%。</a:t>
            </a:r>
            <a:endParaRPr lang="en-US" altLang="zh-CN" sz="1600" b="0" dirty="0">
              <a:cs typeface="+mn-ea"/>
            </a:endParaRPr>
          </a:p>
          <a:p>
            <a:pPr marL="358775" indent="-358775" fontAlgn="auto">
              <a:lnSpc>
                <a:spcPct val="140000"/>
              </a:lnSpc>
              <a:buClr>
                <a:srgbClr val="D2161A"/>
              </a:buClr>
              <a:buFont typeface="Wingdings" panose="05000000000000000000" charset="0"/>
              <a:buChar char="Ø"/>
              <a:tabLst>
                <a:tab pos="360045" algn="l"/>
              </a:tabLst>
            </a:pPr>
            <a:r>
              <a:rPr lang="en-US" altLang="zh-CN" sz="1600" b="0" dirty="0">
                <a:cs typeface="+mn-ea"/>
              </a:rPr>
              <a:t>费用支出2866万元，预算执行率24%，</a:t>
            </a:r>
            <a:r>
              <a:rPr lang="en-US" altLang="zh-CN" sz="1600" b="0" dirty="0" err="1">
                <a:cs typeface="+mn-ea"/>
              </a:rPr>
              <a:t>同比</a:t>
            </a:r>
            <a:r>
              <a:rPr lang="zh-CN" altLang="en-US" sz="1600" b="0" dirty="0">
                <a:cs typeface="+mn-ea"/>
              </a:rPr>
              <a:t>下降</a:t>
            </a:r>
            <a:r>
              <a:rPr lang="en-US" altLang="zh-CN" sz="1600" b="0" dirty="0">
                <a:cs typeface="+mn-ea"/>
              </a:rPr>
              <a:t>4.13%。</a:t>
            </a:r>
            <a:endParaRPr lang="en-US" altLang="zh-CN" sz="1600" b="0" dirty="0">
              <a:cs typeface="+mn-ea"/>
            </a:endParaRPr>
          </a:p>
          <a:p>
            <a:pPr marL="358775" indent="-358775" fontAlgn="auto">
              <a:lnSpc>
                <a:spcPct val="140000"/>
              </a:lnSpc>
              <a:buClr>
                <a:srgbClr val="D2161A"/>
              </a:buClr>
              <a:buFont typeface="Wingdings" panose="05000000000000000000" charset="0"/>
              <a:buChar char="Ø"/>
              <a:tabLst>
                <a:tab pos="360045" algn="l"/>
              </a:tabLst>
            </a:pPr>
            <a:r>
              <a:rPr lang="en-US" altLang="zh-CN" sz="1600" b="0" dirty="0">
                <a:cs typeface="+mn-ea"/>
              </a:rPr>
              <a:t>资本性支出10.14万元，执行率0.61%。</a:t>
            </a:r>
            <a:endParaRPr lang="en-US" altLang="zh-CN" sz="1600" b="0" dirty="0">
              <a:cs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42595" y="1250315"/>
            <a:ext cx="2663825" cy="1315720"/>
          </a:xfrm>
          <a:prstGeom prst="roundRect">
            <a:avLst/>
          </a:prstGeom>
          <a:gradFill rotWithShape="1">
            <a:gsLst>
              <a:gs pos="0">
                <a:schemeClr val="bg1"/>
              </a:gs>
              <a:gs pos="38000">
                <a:schemeClr val="accent1">
                  <a:alpha val="0"/>
                </a:schemeClr>
              </a:gs>
              <a:gs pos="55000">
                <a:schemeClr val="accent1">
                  <a:alpha val="0"/>
                </a:schemeClr>
              </a:gs>
              <a:gs pos="100000">
                <a:schemeClr val="bg1">
                  <a:alpha val="81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bg1"/>
                </a:gs>
                <a:gs pos="38000">
                  <a:schemeClr val="accent1">
                    <a:alpha val="58000"/>
                  </a:schemeClr>
                </a:gs>
                <a:gs pos="55000">
                  <a:schemeClr val="accent1">
                    <a:alpha val="0"/>
                  </a:schemeClr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406400" dist="38100" dir="2700000" algn="b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ct val="125000"/>
              </a:lnSpc>
            </a:pPr>
            <a:r>
              <a:rPr lang="zh-CN" altLang="en-US" dirty="0">
                <a:solidFill>
                  <a:schemeClr val="accent1">
                    <a:lumMod val="50000"/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营业收入</a:t>
            </a:r>
            <a:endParaRPr lang="zh-CN" altLang="en-US" dirty="0">
              <a:solidFill>
                <a:schemeClr val="accent1">
                  <a:lumMod val="50000"/>
                  <a:alpha val="90000"/>
                </a:scheme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</a:endParaRPr>
          </a:p>
          <a:p>
            <a:pPr indent="0" algn="ctr" fontAlgn="auto">
              <a:lnSpc>
                <a:spcPct val="125000"/>
              </a:lnSpc>
            </a:pP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8931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万元</a:t>
            </a:r>
            <a:endParaRPr lang="zh-CN" altLang="en-US" sz="2000" dirty="0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</a:endParaRPr>
          </a:p>
          <a:p>
            <a:pPr indent="0" algn="ctr" fontAlgn="auto">
              <a:lnSpc>
                <a:spcPct val="125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同比下降</a:t>
            </a:r>
            <a:r>
              <a:rPr lang="en-US" altLang="zh-CN" sz="1600" dirty="0">
                <a:solidFill>
                  <a:schemeClr val="tx1"/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2.91%</a:t>
            </a:r>
            <a:endParaRPr lang="en-US" altLang="zh-CN" sz="1600" dirty="0">
              <a:solidFill>
                <a:schemeClr val="tx1"/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364865" y="1250315"/>
            <a:ext cx="2663825" cy="1315720"/>
          </a:xfrm>
          <a:prstGeom prst="roundRect">
            <a:avLst/>
          </a:prstGeom>
          <a:gradFill rotWithShape="1">
            <a:gsLst>
              <a:gs pos="0">
                <a:schemeClr val="bg1"/>
              </a:gs>
              <a:gs pos="38000">
                <a:schemeClr val="accent6">
                  <a:alpha val="0"/>
                </a:schemeClr>
              </a:gs>
              <a:gs pos="55000">
                <a:schemeClr val="accent6">
                  <a:alpha val="0"/>
                </a:schemeClr>
              </a:gs>
              <a:gs pos="100000">
                <a:schemeClr val="bg1">
                  <a:alpha val="81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bg1"/>
                </a:gs>
                <a:gs pos="43000">
                  <a:schemeClr val="accent6">
                    <a:alpha val="58000"/>
                  </a:schemeClr>
                </a:gs>
                <a:gs pos="60000">
                  <a:schemeClr val="accent6">
                    <a:alpha val="0"/>
                  </a:schemeClr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406400" dist="38100" dir="2700000" algn="b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en-US" altLang="zh-CN" dirty="0">
                <a:solidFill>
                  <a:schemeClr val="accent6">
                    <a:lumMod val="50000"/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EBITDA</a:t>
            </a:r>
            <a:endParaRPr lang="zh-CN" altLang="en-US" dirty="0">
              <a:solidFill>
                <a:srgbClr val="FF0000">
                  <a:alpha val="90000"/>
                </a:srgb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4548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万元</a:t>
            </a:r>
            <a:endParaRPr lang="zh-CN" altLang="en-US" sz="2000" dirty="0">
              <a:solidFill>
                <a:srgbClr val="FF0000">
                  <a:alpha val="90000"/>
                </a:srgb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同比下降</a:t>
            </a:r>
            <a:r>
              <a:rPr lang="en-US" altLang="zh-CN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1.55</a:t>
            </a: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%</a:t>
            </a:r>
            <a:endParaRPr lang="zh-CN" altLang="en-US" sz="1600" dirty="0">
              <a:solidFill>
                <a:schemeClr val="tx1">
                  <a:alpha val="90000"/>
                </a:scheme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287135" y="1250315"/>
            <a:ext cx="2663825" cy="1315720"/>
          </a:xfrm>
          <a:prstGeom prst="roundRect">
            <a:avLst/>
          </a:prstGeom>
          <a:gradFill>
            <a:gsLst>
              <a:gs pos="0">
                <a:schemeClr val="bg1"/>
              </a:gs>
              <a:gs pos="38000">
                <a:schemeClr val="accent3">
                  <a:alpha val="0"/>
                </a:schemeClr>
              </a:gs>
              <a:gs pos="55000">
                <a:schemeClr val="accent3">
                  <a:alpha val="0"/>
                </a:schemeClr>
              </a:gs>
              <a:gs pos="100000">
                <a:schemeClr val="bg1">
                  <a:alpha val="81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bg1"/>
                </a:gs>
                <a:gs pos="43000">
                  <a:schemeClr val="accent3">
                    <a:alpha val="58000"/>
                  </a:schemeClr>
                </a:gs>
                <a:gs pos="60000">
                  <a:schemeClr val="accent3">
                    <a:alpha val="0"/>
                  </a:schemeClr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406400" dist="38100" dir="27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dirty="0">
                <a:solidFill>
                  <a:schemeClr val="accent3">
                    <a:lumMod val="50000"/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净现金流</a:t>
            </a:r>
            <a:endParaRPr lang="zh-CN" altLang="en-US" dirty="0">
              <a:solidFill>
                <a:srgbClr val="FF0000">
                  <a:alpha val="90000"/>
                </a:srgb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algn="ctr" fontAlgn="auto">
              <a:lnSpc>
                <a:spcPct val="125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4864万元</a:t>
            </a:r>
            <a:endParaRPr lang="en-US" altLang="zh-CN" sz="2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同比增长</a:t>
            </a:r>
            <a:r>
              <a:rPr lang="en-US" altLang="zh-CN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52.12</a:t>
            </a: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%</a:t>
            </a:r>
            <a:endParaRPr lang="zh-CN" altLang="en-US" sz="1600" dirty="0">
              <a:solidFill>
                <a:schemeClr val="tx1">
                  <a:alpha val="90000"/>
                </a:scheme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9209405" y="1250315"/>
            <a:ext cx="2663825" cy="1315720"/>
          </a:xfrm>
          <a:prstGeom prst="roundRect">
            <a:avLst/>
          </a:prstGeom>
          <a:gradFill>
            <a:gsLst>
              <a:gs pos="0">
                <a:schemeClr val="bg1"/>
              </a:gs>
              <a:gs pos="38000">
                <a:schemeClr val="accent4">
                  <a:alpha val="0"/>
                </a:schemeClr>
              </a:gs>
              <a:gs pos="55000">
                <a:schemeClr val="accent4">
                  <a:alpha val="0"/>
                </a:schemeClr>
              </a:gs>
              <a:gs pos="100000">
                <a:schemeClr val="bg1">
                  <a:alpha val="81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bg1"/>
                </a:gs>
                <a:gs pos="43000">
                  <a:schemeClr val="accent4">
                    <a:alpha val="58000"/>
                  </a:schemeClr>
                </a:gs>
                <a:gs pos="60000">
                  <a:schemeClr val="accent4">
                    <a:alpha val="0"/>
                  </a:schemeClr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406400" dist="38100" dir="27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dirty="0">
                <a:solidFill>
                  <a:schemeClr val="accent4">
                    <a:lumMod val="50000"/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经营支出</a:t>
            </a:r>
            <a:endParaRPr lang="zh-CN" altLang="en-US" dirty="0">
              <a:solidFill>
                <a:srgbClr val="FF0000">
                  <a:alpha val="90000"/>
                </a:srgb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algn="ctr" fontAlgn="auto">
              <a:lnSpc>
                <a:spcPct val="125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2866万元</a:t>
            </a:r>
            <a:endParaRPr lang="en-US" altLang="zh-CN" sz="2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  <a:p>
            <a:pPr lvl="0"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同比下降</a:t>
            </a:r>
            <a:r>
              <a:rPr lang="en-US" altLang="zh-CN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4.13</a:t>
            </a:r>
            <a:r>
              <a:rPr lang="zh-CN" altLang="en-US" sz="1600" dirty="0">
                <a:solidFill>
                  <a:schemeClr val="tx1">
                    <a:alpha val="90000"/>
                  </a:schemeClr>
                </a:solidFill>
                <a:latin typeface="思源黑体 Heavy" panose="020B0A00000000000000" charset="-122"/>
                <a:ea typeface="思源黑体 Heavy" panose="020B0A00000000000000" charset="-122"/>
                <a:cs typeface="+mn-ea"/>
                <a:sym typeface="+mn-ea"/>
              </a:rPr>
              <a:t>%</a:t>
            </a:r>
            <a:endParaRPr lang="zh-CN" altLang="en-US" sz="1600" dirty="0">
              <a:solidFill>
                <a:schemeClr val="tx1">
                  <a:alpha val="90000"/>
                </a:schemeClr>
              </a:solidFill>
              <a:latin typeface="思源黑体 Heavy" panose="020B0A00000000000000" charset="-122"/>
              <a:ea typeface="思源黑体 Heavy" panose="020B0A00000000000000" charset="-122"/>
              <a:cs typeface="+mn-ea"/>
              <a:sym typeface="+mn-ea"/>
            </a:endParaRPr>
          </a:p>
        </p:txBody>
      </p:sp>
      <p:graphicFrame>
        <p:nvGraphicFramePr>
          <p:cNvPr id="112884" name="图表 1"/>
          <p:cNvGraphicFramePr/>
          <p:nvPr/>
        </p:nvGraphicFramePr>
        <p:xfrm>
          <a:off x="6176010" y="2744470"/>
          <a:ext cx="5706110" cy="3646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子公司营业收入进度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quarter" idx="12"/>
            <p:custDataLst>
              <p:tags r:id="rId7"/>
            </p:custDataLst>
          </p:nvPr>
        </p:nvSpPr>
        <p:spPr>
          <a:xfrm>
            <a:off x="698500" y="1190625"/>
            <a:ext cx="10773410" cy="982345"/>
          </a:xfrm>
          <a:solidFill>
            <a:schemeClr val="bg1"/>
          </a:solidFill>
        </p:spPr>
        <p:txBody>
          <a:bodyPr anchor="ctr" anchorCtr="0">
            <a:noAutofit/>
          </a:bodyPr>
          <a:lstStyle/>
          <a:p>
            <a:pPr lvl="0" defTabSz="914400">
              <a:lnSpc>
                <a:spcPct val="130000"/>
              </a:lnSpc>
              <a:spcBef>
                <a:spcPts val="130"/>
              </a:spcBef>
              <a:spcAft>
                <a:spcPts val="0"/>
              </a:spcAft>
              <a:buClr>
                <a:srgbClr val="D0101B"/>
              </a:buClr>
              <a:buFont typeface="Wingdings" panose="05000000000000000000" charset="0"/>
              <a:tabLst>
                <a:tab pos="4118610" algn="l"/>
              </a:tabLst>
            </a:pPr>
            <a:r>
              <a:rPr altLang="en-US" sz="1400" b="0">
                <a:solidFill>
                  <a:schemeClr val="tx1"/>
                </a:solidFill>
                <a:effectLst/>
                <a:cs typeface="+mn-ea"/>
              </a:rPr>
              <a:t>子公司月度营业收入达成率</a:t>
            </a:r>
            <a:r>
              <a:rPr altLang="zh-CN" sz="1400" b="0">
                <a:solidFill>
                  <a:schemeClr val="tx1"/>
                </a:solidFill>
                <a:effectLst/>
                <a:cs typeface="+mn-ea"/>
              </a:rPr>
              <a:t>122.</a:t>
            </a:r>
            <a:r>
              <a:rPr lang="en-US" altLang="zh-CN" sz="1400" b="0">
                <a:solidFill>
                  <a:schemeClr val="tx1"/>
                </a:solidFill>
                <a:effectLst/>
                <a:cs typeface="+mn-ea"/>
              </a:rPr>
              <a:t>57</a:t>
            </a:r>
            <a:r>
              <a:rPr altLang="zh-CN" sz="1400" b="0">
                <a:solidFill>
                  <a:schemeClr val="tx1"/>
                </a:solidFill>
                <a:effectLst/>
                <a:cs typeface="+mn-ea"/>
              </a:rPr>
              <a:t>%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，年度目标达成率</a:t>
            </a:r>
            <a:r>
              <a:rPr lang="en-US" altLang="zh-CN" sz="1400" b="0">
                <a:solidFill>
                  <a:schemeClr val="tx1"/>
                </a:solidFill>
                <a:effectLst/>
                <a:cs typeface="+mn-ea"/>
              </a:rPr>
              <a:t>32.11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%，基本追平序时进度。</a:t>
            </a:r>
            <a:endParaRPr sz="1400" b="0">
              <a:solidFill>
                <a:schemeClr val="tx1"/>
              </a:solidFill>
              <a:effectLst/>
              <a:cs typeface="+mn-ea"/>
            </a:endParaRPr>
          </a:p>
          <a:p>
            <a:pPr marL="342900" lvl="0" indent="-342900">
              <a:lnSpc>
                <a:spcPct val="130000"/>
              </a:lnSpc>
              <a:spcBef>
                <a:spcPts val="130"/>
              </a:spcBef>
              <a:spcAft>
                <a:spcPts val="0"/>
              </a:spcAft>
              <a:buClr>
                <a:srgbClr val="D0101B"/>
              </a:buClr>
              <a:buFont typeface="Wingdings" panose="05000000000000000000" charset="0"/>
              <a:buChar char="p"/>
            </a:pPr>
            <a:r>
              <a:rPr sz="1400" b="0">
                <a:solidFill>
                  <a:schemeClr val="tx1"/>
                </a:solidFill>
                <a:effectLst/>
                <a:cs typeface="+mn-ea"/>
              </a:rPr>
              <a:t>月度计划：</a:t>
            </a:r>
            <a:r>
              <a:rPr sz="1400">
                <a:effectLst/>
                <a:cs typeface="+mn-ea"/>
                <a:sym typeface="+mn-ea"/>
              </a:rPr>
              <a:t>福建钱隆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、大连凯丹</a:t>
            </a:r>
            <a:r>
              <a:rPr sz="1400">
                <a:effectLst/>
                <a:cs typeface="+mn-ea"/>
                <a:sym typeface="+mn-ea"/>
              </a:rPr>
              <a:t>、北京中言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达成率超</a:t>
            </a:r>
            <a:r>
              <a:rPr altLang="zh-CN" sz="1400" b="0">
                <a:solidFill>
                  <a:schemeClr val="tx1"/>
                </a:solidFill>
                <a:effectLst/>
                <a:cs typeface="+mn-ea"/>
              </a:rPr>
              <a:t>100%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。</a:t>
            </a:r>
            <a:endParaRPr sz="1400" b="0">
              <a:solidFill>
                <a:schemeClr val="tx1"/>
              </a:solidFill>
              <a:effectLst/>
              <a:cs typeface="+mn-ea"/>
            </a:endParaRPr>
          </a:p>
          <a:p>
            <a:pPr marL="342900" lvl="0" indent="-342900">
              <a:lnSpc>
                <a:spcPct val="130000"/>
              </a:lnSpc>
              <a:spcBef>
                <a:spcPts val="130"/>
              </a:spcBef>
              <a:spcAft>
                <a:spcPts val="0"/>
              </a:spcAft>
              <a:buClr>
                <a:srgbClr val="D0101B"/>
              </a:buClr>
              <a:buFont typeface="Wingdings" panose="05000000000000000000" charset="0"/>
              <a:buChar char="p"/>
            </a:pPr>
            <a:r>
              <a:rPr sz="1400" b="0">
                <a:solidFill>
                  <a:schemeClr val="tx1"/>
                </a:solidFill>
                <a:effectLst/>
                <a:cs typeface="+mn-ea"/>
              </a:rPr>
              <a:t>年度任务：</a:t>
            </a:r>
            <a:r>
              <a:rPr sz="1400">
                <a:effectLst/>
                <a:cs typeface="+mn-ea"/>
                <a:sym typeface="+mn-ea"/>
              </a:rPr>
              <a:t>福建钱隆（</a:t>
            </a:r>
            <a:r>
              <a:rPr lang="en-US" altLang="zh-CN" sz="1400">
                <a:effectLst/>
                <a:cs typeface="+mn-ea"/>
                <a:sym typeface="+mn-ea"/>
              </a:rPr>
              <a:t>39.03</a:t>
            </a:r>
            <a:r>
              <a:rPr sz="1400">
                <a:effectLst/>
                <a:cs typeface="+mn-ea"/>
                <a:sym typeface="+mn-ea"/>
              </a:rPr>
              <a:t>%）、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北京中言（</a:t>
            </a:r>
            <a:r>
              <a:rPr lang="en-US" altLang="zh-CN" sz="1400" b="0">
                <a:solidFill>
                  <a:schemeClr val="tx1"/>
                </a:solidFill>
                <a:effectLst/>
                <a:cs typeface="+mn-ea"/>
              </a:rPr>
              <a:t>37.88</a:t>
            </a:r>
            <a:r>
              <a:rPr altLang="zh-CN" sz="1400" b="0">
                <a:solidFill>
                  <a:schemeClr val="tx1"/>
                </a:solidFill>
                <a:effectLst/>
                <a:cs typeface="+mn-ea"/>
              </a:rPr>
              <a:t>%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）、大连凯丹（</a:t>
            </a:r>
            <a:r>
              <a:rPr lang="en-US" altLang="zh-CN" sz="1400" b="0">
                <a:solidFill>
                  <a:schemeClr val="tx1"/>
                </a:solidFill>
                <a:effectLst/>
                <a:cs typeface="+mn-ea"/>
              </a:rPr>
              <a:t>35.69</a:t>
            </a:r>
            <a:r>
              <a:rPr sz="1400" b="0">
                <a:solidFill>
                  <a:schemeClr val="tx1"/>
                </a:solidFill>
                <a:effectLst/>
                <a:cs typeface="+mn-ea"/>
              </a:rPr>
              <a:t>%）进度领先。</a:t>
            </a:r>
            <a:endParaRPr sz="1400" b="0">
              <a:solidFill>
                <a:schemeClr val="tx1"/>
              </a:solidFill>
              <a:effectLst/>
              <a:cs typeface="+mn-ea"/>
            </a:endParaRPr>
          </a:p>
        </p:txBody>
      </p:sp>
      <p:sp>
        <p:nvSpPr>
          <p:cNvPr id="52" name="五边形 51"/>
          <p:cNvSpPr/>
          <p:nvPr userDrawn="1">
            <p:custDataLst>
              <p:tags r:id="rId8"/>
            </p:custDataLst>
          </p:nvPr>
        </p:nvSpPr>
        <p:spPr>
          <a:xfrm>
            <a:off x="768985" y="2716840"/>
            <a:ext cx="1318260" cy="447675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latin typeface="思源黑体 Medium" panose="020B0600000000000000" charset="-122"/>
                <a:ea typeface="思源黑体 Medium" panose="020B0600000000000000" charset="-122"/>
              </a:rPr>
              <a:t>月度达成</a:t>
            </a:r>
            <a:endParaRPr lang="zh-CN" altLang="en-US" sz="1200" b="1">
              <a:latin typeface="思源黑体 Medium" panose="020B0600000000000000" charset="-122"/>
              <a:ea typeface="思源黑体 Medium" panose="020B0600000000000000" charset="-122"/>
            </a:endParaRPr>
          </a:p>
        </p:txBody>
      </p:sp>
      <p:sp>
        <p:nvSpPr>
          <p:cNvPr id="53" name="五边形 52"/>
          <p:cNvSpPr/>
          <p:nvPr userDrawn="1">
            <p:custDataLst>
              <p:tags r:id="rId9"/>
            </p:custDataLst>
          </p:nvPr>
        </p:nvSpPr>
        <p:spPr>
          <a:xfrm>
            <a:off x="768985" y="4204147"/>
            <a:ext cx="1318260" cy="447675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分解计划达成</a:t>
            </a:r>
            <a:endParaRPr lang="zh-CN" altLang="en-US" sz="1200" b="1"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54" name="五边形 53"/>
          <p:cNvSpPr/>
          <p:nvPr userDrawn="1">
            <p:custDataLst>
              <p:tags r:id="rId10"/>
            </p:custDataLst>
          </p:nvPr>
        </p:nvSpPr>
        <p:spPr>
          <a:xfrm>
            <a:off x="768985" y="5691317"/>
            <a:ext cx="1318260" cy="447675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年度达成</a:t>
            </a:r>
            <a:endParaRPr lang="zh-CN" altLang="en-US" sz="1200" b="1"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graphicFrame>
        <p:nvGraphicFramePr>
          <p:cNvPr id="117002" name="图表 3"/>
          <p:cNvGraphicFramePr/>
          <p:nvPr/>
        </p:nvGraphicFramePr>
        <p:xfrm>
          <a:off x="3899535" y="5195064"/>
          <a:ext cx="7572375" cy="144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7003" name="内容占位符 18"/>
          <p:cNvGraphicFramePr>
            <a:graphicFrameLocks noGrp="1"/>
          </p:cNvGraphicFramePr>
          <p:nvPr/>
        </p:nvGraphicFramePr>
        <p:xfrm>
          <a:off x="3899535" y="2220587"/>
          <a:ext cx="7572375" cy="144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7004" name="内容占位符 16"/>
          <p:cNvGraphicFramePr>
            <a:graphicFrameLocks noGrp="1"/>
          </p:cNvGraphicFramePr>
          <p:nvPr/>
        </p:nvGraphicFramePr>
        <p:xfrm>
          <a:off x="3899535" y="3707895"/>
          <a:ext cx="7572375" cy="144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7008" name="图表 6" descr="7b0a202020202263686172745265734964223a20223230323931393734220a7d0a"/>
          <p:cNvGraphicFramePr/>
          <p:nvPr/>
        </p:nvGraphicFramePr>
        <p:xfrm>
          <a:off x="1997311" y="5195155"/>
          <a:ext cx="1909609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7009" name="图表 12" descr="7b0a202020202263686172745265734964223a20223230323931393734220a7d0a"/>
          <p:cNvGraphicFramePr/>
          <p:nvPr/>
        </p:nvGraphicFramePr>
        <p:xfrm>
          <a:off x="1997311" y="3707985"/>
          <a:ext cx="1909609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7010" name="图表 15" descr="7b0a202020202263686172745265734964223a20223230323931393734220a7d0a"/>
          <p:cNvGraphicFramePr/>
          <p:nvPr/>
        </p:nvGraphicFramePr>
        <p:xfrm>
          <a:off x="1997311" y="2220677"/>
          <a:ext cx="1909609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631190" y="3666491"/>
          <a:ext cx="10885805" cy="28460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8820"/>
                <a:gridCol w="3338195"/>
                <a:gridCol w="3584575"/>
                <a:gridCol w="3244215"/>
              </a:tblGrid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  <a:alpha val="13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90000"/>
                        <a:alpha val="13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50000"/>
                        </a:lnSpc>
                        <a:buNone/>
                      </a:pPr>
                      <a:endParaRPr lang="zh-CN" altLang="en-US" sz="1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013" name="图表 10"/>
          <p:cNvGraphicFramePr/>
          <p:nvPr/>
        </p:nvGraphicFramePr>
        <p:xfrm>
          <a:off x="8295640" y="3680461"/>
          <a:ext cx="3220720" cy="283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7012" name="图表 8"/>
          <p:cNvGraphicFramePr/>
          <p:nvPr/>
        </p:nvGraphicFramePr>
        <p:xfrm>
          <a:off x="4675966" y="3680460"/>
          <a:ext cx="3618706" cy="281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7011" name="图表 5"/>
          <p:cNvGraphicFramePr/>
          <p:nvPr/>
        </p:nvGraphicFramePr>
        <p:xfrm>
          <a:off x="631192" y="3680461"/>
          <a:ext cx="4026500" cy="2816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子公司营业收入动态比较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11568430" y="4963795"/>
            <a:ext cx="420370" cy="15240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107950" tIns="71755" rIns="107950" bIns="71755" anchor="ctr">
            <a:noAutofit/>
          </a:bodyPr>
          <a:lstStyle/>
          <a:p>
            <a:pPr lvl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zh-CN" altLang="en-US" sz="1200" b="1">
                <a:solidFill>
                  <a:schemeClr val="bg1"/>
                </a:solidFill>
              </a:rPr>
              <a:t>商写租赁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11568430" y="4321810"/>
            <a:ext cx="420370" cy="611505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107950" tIns="71755" rIns="107950" bIns="71755" anchor="ctr">
            <a:noAutofit/>
          </a:bodyPr>
          <a:lstStyle/>
          <a:p>
            <a:pPr lvl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zh-CN" altLang="en-US" sz="1200" b="1">
                <a:solidFill>
                  <a:schemeClr val="bg1"/>
                </a:solidFill>
              </a:rPr>
              <a:t>酒店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11568430" y="3679825"/>
            <a:ext cx="420370" cy="61150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107950" tIns="71755" rIns="107950" bIns="71755" anchor="ctr">
            <a:noAutofit/>
          </a:bodyPr>
          <a:lstStyle/>
          <a:p>
            <a:pPr lvl="0" algn="l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zh-CN" altLang="en-US" sz="1200" b="1">
                <a:solidFill>
                  <a:schemeClr val="bg1"/>
                </a:solidFill>
              </a:rPr>
              <a:t>保险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6" name="内容占位符 1"/>
          <p:cNvSpPr>
            <a:spLocks noGrp="1"/>
          </p:cNvSpPr>
          <p:nvPr/>
        </p:nvSpPr>
        <p:spPr>
          <a:xfrm>
            <a:off x="698500" y="1190625"/>
            <a:ext cx="10773410" cy="233934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tx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Autofit/>
          </a:bodyPr>
          <a:lstStyle>
            <a:lvl1pPr marL="0" marR="0" lvl="0" indent="0" algn="just" defTabSz="914400" rtl="0" eaLnBrk="1" fontAlgn="base" latinLnBrk="1" hangingPunct="1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+mn-cs"/>
                <a:sym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</a:pPr>
            <a:r>
              <a:rPr lang="zh-CN" altLang="en-US" b="0" dirty="0">
                <a:cs typeface="+mn-ea"/>
              </a:rPr>
              <a:t>与上年同期对比，各业务板块营收多数下滑，仅北京中言和福建钱隆增长；商写租赁分化明显，酒店及保险中介延续回落态势。</a:t>
            </a:r>
            <a:endParaRPr lang="en-US" altLang="zh-CN" b="0" dirty="0">
              <a:cs typeface="+mn-ea"/>
            </a:endParaRPr>
          </a:p>
          <a:p>
            <a:pPr marL="285750" lvl="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0" dirty="0">
                <a:cs typeface="+mn-ea"/>
              </a:rPr>
              <a:t>商写租赁方面：北京中言增长232.91万元，增幅8.22%，逆势上升；福建钱隆增长203.63万元，增幅8.89%，表现稳健；春夏秋冬、大连凯丹同比微降；重庆宜新下降81.17万元，降幅33.34%，下滑显著。</a:t>
            </a:r>
            <a:endParaRPr lang="en-US" altLang="zh-CN" b="0" dirty="0">
              <a:cs typeface="+mn-ea"/>
            </a:endParaRPr>
          </a:p>
          <a:p>
            <a:pPr marL="285750" lvl="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0" dirty="0">
                <a:cs typeface="+mn-ea"/>
              </a:rPr>
              <a:t>酒店子公司同比回落：伯豪瑞廷下降261.22万元，降幅11.05%；重庆瑞尔下降83.51万元，降幅20.68%。</a:t>
            </a:r>
            <a:endParaRPr lang="en-US" altLang="zh-CN" b="0" dirty="0">
              <a:cs typeface="+mn-ea"/>
            </a:endParaRPr>
          </a:p>
          <a:p>
            <a:pPr marL="285750" lvl="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0" dirty="0">
                <a:cs typeface="+mn-ea"/>
              </a:rPr>
              <a:t>保险子公司下滑明显：保险中介持续疲软，盛唐融信降148.91万元，降幅58.09%；君康经纪降44.54万元，降幅50.94%。</a:t>
            </a:r>
            <a:endParaRPr lang="zh-CN" altLang="en-US" b="0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框 1"/>
          <p:cNvSpPr txBox="1"/>
          <p:nvPr/>
        </p:nvSpPr>
        <p:spPr>
          <a:xfrm>
            <a:off x="3411855" y="1365250"/>
            <a:ext cx="2117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zh-CN" sz="2800" dirty="0">
                <a:uFillTx/>
                <a:latin typeface="+mn-ea"/>
                <a:cs typeface="Arial" panose="020B0604020202020204" pitchFamily="34" charset="0"/>
                <a:sym typeface="+mn-ea"/>
              </a:rPr>
              <a:t>PART 02</a:t>
            </a:r>
            <a:endParaRPr kumimoji="1" lang="en-US" altLang="zh-CN" sz="2800" dirty="0">
              <a:uFillTx/>
              <a:latin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609" name="文本占位符 2"/>
          <p:cNvSpPr txBox="1"/>
          <p:nvPr/>
        </p:nvSpPr>
        <p:spPr>
          <a:xfrm>
            <a:off x="3411855" y="1969135"/>
            <a:ext cx="8512810" cy="1132205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/>
          <a:p>
            <a:pPr marL="342900" lvl="0" indent="-342900" algn="l">
              <a:spcBef>
                <a:spcPct val="20000"/>
              </a:spcBef>
              <a:buClrTx/>
              <a:buSzTx/>
              <a:buFontTx/>
            </a:pPr>
            <a:r>
              <a:rPr lang="zh-CN" altLang="en-US" sz="40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  <a:sym typeface="+mn-ea"/>
              </a:rPr>
              <a:t>分业态经营表现</a:t>
            </a:r>
            <a:endParaRPr lang="zh-CN" altLang="en-US" sz="4000" b="1" dirty="0">
              <a:solidFill>
                <a:schemeClr val="accent1"/>
              </a:solidFill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商写类子公司经营表现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698316" y="1190320"/>
            <a:ext cx="10773593" cy="2149668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tx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Autofit/>
          </a:bodyPr>
          <a:lstStyle/>
          <a:p>
            <a:pPr marL="0" lvl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新增签约面积分化明显，北京中言领先，重庆宜新最低；退租面积北京中言最大。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整体情况：北京中言新增签约面积4588.16㎡最高，退租面积3738.07㎡也最大；重庆宜新新增仅302.1㎡最低。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合作渠道：北京中言渠道带客61组最多，但转化率仅3.28%；春夏秋冬转化率25%最高，重庆宜新渠道成交为0。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自有招商：重庆宜新自营转化率66.67%最高，签约面积302.1㎡；福建钱隆自营成交为0。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续租情况：福建钱隆到期面积7733.49㎡最大，续签7249.51㎡覆盖率高。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graphicFrame>
        <p:nvGraphicFramePr>
          <p:cNvPr id="94914" name="图表 6"/>
          <p:cNvGraphicFramePr/>
          <p:nvPr/>
        </p:nvGraphicFramePr>
        <p:xfrm>
          <a:off x="6429825" y="3600450"/>
          <a:ext cx="504208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4915" name="图表 7"/>
          <p:cNvGraphicFramePr/>
          <p:nvPr/>
        </p:nvGraphicFramePr>
        <p:xfrm>
          <a:off x="698316" y="3600450"/>
          <a:ext cx="504208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酒店类子公司经营表现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</a:pPr>
            <a:r>
              <a:rPr>
                <a:latin typeface="+mn-lt"/>
                <a:ea typeface="+mn-lt"/>
                <a:cs typeface="+mn-lt"/>
                <a:sym typeface="+mn-ea"/>
              </a:rPr>
              <a:t>伯豪瑞廷营销转化率显著高于重庆瑞尔，且月均入住率连续上升；重庆瑞尔受众触达量大但成交极少，</a:t>
            </a:r>
            <a:r>
              <a:rPr lang="en-US" altLang="zh-CN">
                <a:latin typeface="+mn-lt"/>
                <a:ea typeface="+mn-lt"/>
                <a:cs typeface="+mn-lt"/>
                <a:sym typeface="+mn-ea"/>
              </a:rPr>
              <a:t>OTA</a:t>
            </a:r>
            <a:r>
              <a:rPr>
                <a:latin typeface="+mn-lt"/>
                <a:ea typeface="+mn-lt"/>
                <a:cs typeface="+mn-lt"/>
                <a:sym typeface="+mn-ea"/>
              </a:rPr>
              <a:t>评分保持稳定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。</a:t>
            </a:r>
            <a:endParaRPr lang="zh-CN" altLang="en-US" b="0">
              <a:solidFill>
                <a:schemeClr val="tx1"/>
              </a:solidFill>
              <a:latin typeface="+mn-lt"/>
              <a:ea typeface="+mn-lt"/>
              <a:cs typeface="+mn-lt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营销活动：伯豪瑞廷投放4883次，转化率23.7%；重庆瑞尔投放2804次，转化率0.003%。</a:t>
            </a:r>
            <a:endParaRPr lang="zh-CN" altLang="en-US" b="0">
              <a:solidFill>
                <a:schemeClr val="tx1"/>
              </a:solidFill>
              <a:latin typeface="+mn-lt"/>
              <a:ea typeface="+mn-lt"/>
              <a:cs typeface="+mn-lt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OTA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评分：伯豪瑞廷1-4月评分在4.67-4.69间小幅波动，环比基本持平；重庆瑞尔1-4月评分稳定在4.7，环比持平。</a:t>
            </a:r>
            <a:endParaRPr lang="zh-CN" altLang="en-US" b="0">
              <a:solidFill>
                <a:schemeClr val="tx1"/>
              </a:solidFill>
              <a:latin typeface="+mn-lt"/>
              <a:ea typeface="+mn-lt"/>
              <a:cs typeface="+mn-lt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月均入住率：伯豪瑞廷入住率从</a:t>
            </a:r>
            <a:r>
              <a:rPr lang="en-US" altLang="zh-CN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55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%升至87.70%，上升</a:t>
            </a:r>
            <a:r>
              <a:rPr lang="en-US" altLang="zh-CN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33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个百分点；重庆瑞尔从</a:t>
            </a:r>
            <a:r>
              <a:rPr lang="en-US" altLang="zh-CN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32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%升至74.51%，上升</a:t>
            </a:r>
            <a:r>
              <a:rPr lang="en-US" altLang="zh-CN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43</a:t>
            </a:r>
            <a:r>
              <a:rPr lang="zh-CN" altLang="en-US" b="0">
                <a:solidFill>
                  <a:schemeClr val="tx1"/>
                </a:solidFill>
                <a:latin typeface="+mn-lt"/>
                <a:ea typeface="+mn-lt"/>
                <a:cs typeface="+mn-lt"/>
                <a:sym typeface="+mn-ea"/>
              </a:rPr>
              <a:t>个百分点，升幅更大。</a:t>
            </a:r>
            <a:endParaRPr lang="zh-CN" altLang="en-US" b="0">
              <a:solidFill>
                <a:schemeClr val="tx1"/>
              </a:solidFill>
              <a:latin typeface="+mn-lt"/>
              <a:ea typeface="+mn-lt"/>
              <a:cs typeface="+mn-lt"/>
              <a:sym typeface="+mn-ea"/>
            </a:endParaRPr>
          </a:p>
        </p:txBody>
      </p:sp>
      <p:graphicFrame>
        <p:nvGraphicFramePr>
          <p:cNvPr id="128236" name="图表 7" descr="7b0a202020202263686172745265734964223a20223530303731323938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8237" name="图表 8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8238" name="图表 9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保险类子公司经营表现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</a:pPr>
            <a:r>
              <a:rPr lang="zh-CN" altLang="en-US" b="0">
                <a:solidFill>
                  <a:schemeClr val="tx1"/>
                </a:solidFill>
                <a:cs typeface="+mn-ea"/>
                <a:sym typeface="+mn-ea"/>
              </a:rPr>
              <a:t>君康经纪在规模保费、人均产能及业务活动度上均显著高于盛唐融信。</a:t>
            </a:r>
            <a:endParaRPr lang="zh-CN" altLang="en-US" b="0">
              <a:solidFill>
                <a:schemeClr val="tx1"/>
              </a:solidFill>
              <a:cs typeface="+mn-ea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0">
                <a:solidFill>
                  <a:schemeClr val="tx1"/>
                </a:solidFill>
                <a:cs typeface="+mn-ea"/>
                <a:sym typeface="+mn-ea"/>
              </a:rPr>
              <a:t>人力与活动：盛唐融信月末人力97人，开单仅2人，活动率2%；君康经纪人力35人，开单6人，活动率17%。</a:t>
            </a:r>
            <a:endParaRPr lang="zh-CN" altLang="en-US" b="0">
              <a:solidFill>
                <a:schemeClr val="tx1"/>
              </a:solidFill>
              <a:cs typeface="+mn-ea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0">
                <a:solidFill>
                  <a:schemeClr val="tx1"/>
                </a:solidFill>
                <a:cs typeface="+mn-ea"/>
                <a:sym typeface="+mn-ea"/>
              </a:rPr>
              <a:t>承保新单及效率：君康经纪承保规模保费102.05万元、件均2.32万元、人均2.92万元，均显著高于盛唐融信，效率更优。</a:t>
            </a:r>
            <a:endParaRPr lang="zh-CN" altLang="en-US" b="0">
              <a:solidFill>
                <a:schemeClr val="tx1"/>
              </a:solidFill>
              <a:cs typeface="+mn-ea"/>
              <a:sym typeface="+mn-ea"/>
            </a:endParaRPr>
          </a:p>
          <a:p>
            <a:pPr marL="285750" indent="-285750">
              <a:lnSpc>
                <a:spcPct val="170000"/>
              </a:lnSpc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b="0">
                <a:solidFill>
                  <a:schemeClr val="tx1"/>
                </a:solidFill>
                <a:cs typeface="+mn-ea"/>
                <a:sym typeface="+mn-ea"/>
              </a:rPr>
              <a:t>月度规模保费：盛唐融信1月7.11万元，3月0.21万元，4月0元，呈下降趋势；君康经纪1月100万元，2月0.51万元，3月1.34万元，4月0.2万元，波动较大但整体高于盛唐。</a:t>
            </a:r>
            <a:endParaRPr lang="zh-CN" altLang="en-US" b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129260" name="图表 4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29261" name="内容占位符 6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9262" name="图表 1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框 1"/>
          <p:cNvSpPr txBox="1"/>
          <p:nvPr/>
        </p:nvSpPr>
        <p:spPr>
          <a:xfrm>
            <a:off x="3411855" y="1365250"/>
            <a:ext cx="2117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zh-CN" sz="2800" dirty="0">
                <a:uFillTx/>
                <a:latin typeface="+mn-ea"/>
                <a:cs typeface="Arial" panose="020B0604020202020204" pitchFamily="34" charset="0"/>
                <a:sym typeface="+mn-ea"/>
              </a:rPr>
              <a:t>PART 03</a:t>
            </a:r>
            <a:endParaRPr kumimoji="1" lang="en-US" altLang="zh-CN" sz="2800" dirty="0">
              <a:uFillTx/>
              <a:latin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609" name="文本占位符 2"/>
          <p:cNvSpPr txBox="1"/>
          <p:nvPr/>
        </p:nvSpPr>
        <p:spPr>
          <a:xfrm>
            <a:off x="3411855" y="1969135"/>
            <a:ext cx="8512810" cy="1132205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/>
          <a:p>
            <a:pPr marL="342900" lvl="0" indent="-342900" algn="l">
              <a:spcBef>
                <a:spcPct val="20000"/>
              </a:spcBef>
              <a:buClrTx/>
              <a:buSzTx/>
              <a:buFontTx/>
            </a:pPr>
            <a:r>
              <a:rPr lang="zh-CN" altLang="en-US" sz="40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  <a:sym typeface="+mn-ea"/>
              </a:rPr>
              <a:t>子公司经营情况</a:t>
            </a:r>
            <a:endParaRPr lang="zh-CN" altLang="en-US" sz="4000" b="1" dirty="0">
              <a:solidFill>
                <a:schemeClr val="accent1"/>
              </a:solidFill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北京中言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北京中言现金流大幅领先序时进度，与收入利润背离显著。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3065.64 万元，年度达成率 37.88%，领先序时进度 4.5 个百分点，环比下降，波动平稳。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累计 1984.39 万元，年度达成率 64.93%，领先序时进度 31.6 个百分点，环比下降，波动平稳。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2602.25 万元，年度达成率 2306.23%，远超年度任务，环比上升，波动大。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197.35 万元，年度达成率 8.72%，环比扩大，波动平稳，成本管控有效。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130668" name="图表 1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0669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0670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大连凯丹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大连凯丹现金流达成率远超序时进度，但收入与利润表现分化明显。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221.56 万元，年度达成率 35.69%，领先序时进度 2.4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累计 121.03 万元，年度达成率 46.55%，领先序时进度 13.2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262.52 万元，年度达成率 88.55%，领先序时进度 55.2 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42.89 万元，年度达成率 22.79%，环比扩大，波动平稳，成本管控有效。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福建钱隆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福建钱隆经营净现金流达成率显著领先序时进度，与收入、利润表现形成反差。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2495.00 万元，年度达成率 39.03%，领先序时进度 5.7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累计 1738.21 万元，年度达成率 36.30%，领先序时进度 3.0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2089.36 万元，年度达成率 49.36%，领先序时进度 16.0 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398.08 万元，年度达成率 48.34%，环比扩大，波动大，成本管控有效。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春夏秋冬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春夏秋冬收入与现金流达成率均落后序时进度，且现金流波动极大。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413.23 万元，年度达成率 27.64%，落后序时进度 5.7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累计 208.58 万元，年度达成率 23.08%，落后序时进度 10.3 个百分点，环比下降，波动平稳。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89.09 万元，年度达成率 13.42%，落后序时进度 19.9 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105.40 万元，年度达成率 12.62%，环比扩大，波动平稳，成本管控有效。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重庆宜新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重庆宜新收入与利润严重背离，</a:t>
            </a: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和现金流均大幅亏损。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162.25 万元，年度达成率 22.87%，落后序时进度 10.5 个百分点，环比下降，波动平稳。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EBITDA：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实际累计亏损 44.05 万元，较年度目标（盈利 190.72 万元）超支 234.77 万元，环比增亏，波动大。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-8.79 万元，年度达成率 0%，落后序时进度 33.3 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62.62 万元，年度达成率 23.31%，环比缩减，波动大，成本管控有效。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伯豪瑞廷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伯豪瑞廷收入与现金流严重背离，现金流大幅落后序时进度。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2102.35 万元，年度达成率 27.51%，落后序时进度 5.8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GOP：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累计 745.94 万元，年度达成率 23.25%，落后序时进度 10.1 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63.96 万元，年度达成率 2.99%，落后序时进度 30.3 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1367.66 万元，年度达成率 28.79%，环比扩大，波动平稳，刚性成本较高。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" name="图表 6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重庆瑞尔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重庆瑞尔收入达成率大幅落后序时进度，且</a:t>
            </a: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GOP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亏损持续扩大，现金流压力显著。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营业收入：累计320.32万元，年度达成率22.01%，落后序时进度11.3个百分点，环比上升，波动平稳。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en-US" altLang="zh-CN" b="0" dirty="0">
                <a:solidFill>
                  <a:schemeClr val="tx1"/>
                </a:solidFill>
                <a:cs typeface="+mn-ea"/>
                <a:sym typeface="+mn-ea"/>
              </a:rPr>
              <a:t>GOP：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实际累计亏损106.75万元，较年度目标（亏损55.52万元）超支51.23万元，环比增亏，波动大。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经营活动净现金流：累计-214.44万元，年度达成率79.90%，落后序时进度46.6个百分点，环比下降，波动大。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经营支出：累计427.08万元，年度达成率28.13%，环比扩大，波动平稳，刚性成本较高。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盛唐融信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>
                <a:cs typeface="+mn-ea"/>
                <a:sym typeface="+mn-ea"/>
              </a:rPr>
              <a:t>2026</a:t>
            </a:r>
            <a:r>
              <a:rPr>
                <a:cs typeface="+mn-ea"/>
                <a:sym typeface="+mn-ea"/>
              </a:rPr>
              <a:t>年前</a:t>
            </a:r>
            <a:r>
              <a:rPr lang="en-US" altLang="zh-CN">
                <a:cs typeface="+mn-ea"/>
                <a:sym typeface="+mn-ea"/>
              </a:rPr>
              <a:t>4</a:t>
            </a:r>
            <a:r>
              <a:rPr>
                <a:cs typeface="+mn-ea"/>
                <a:sym typeface="+mn-ea"/>
              </a:rPr>
              <a:t>个月，</a:t>
            </a: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盛唐融信现金流达成率远超序时进度，但收入与利润严重滞后，呈现显著背离。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营业收入：累计107.43万元，年度达成率14.22%，落后序时进度19.1个百分点，环比下降，波动平稳。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扣非利润：实际累计8.75万元，较年度目标（12.78万元）减亏4.03万元，环比下降，波动大。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经营活动净现金流：累计82.62万元，年度达成率90.64%，领先序时进度57.3个百分点，环比下降，波动大。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经营支出：累计116.24万元，年度达成率17.80%，环比缩减，波动平稳，刚性成本较高。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君康经纪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lvl="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 b="0">
                <a:solidFill>
                  <a:schemeClr val="tx1"/>
                </a:solidFill>
                <a:cs typeface="+mn-ea"/>
                <a:sym typeface="+mn-ea"/>
              </a:rPr>
              <a:t>2026</a:t>
            </a:r>
            <a:r>
              <a:rPr b="0">
                <a:solidFill>
                  <a:schemeClr val="tx1"/>
                </a:solidFill>
                <a:cs typeface="+mn-ea"/>
                <a:sym typeface="+mn-ea"/>
              </a:rPr>
              <a:t>年前</a:t>
            </a:r>
            <a:r>
              <a:rPr lang="en-US" altLang="zh-CN" b="0">
                <a:solidFill>
                  <a:schemeClr val="tx1"/>
                </a:solidFill>
                <a:cs typeface="+mn-ea"/>
                <a:sym typeface="+mn-ea"/>
              </a:rPr>
              <a:t>4</a:t>
            </a:r>
            <a:r>
              <a:rPr b="0">
                <a:solidFill>
                  <a:schemeClr val="tx1"/>
                </a:solidFill>
                <a:cs typeface="+mn-ea"/>
                <a:sym typeface="+mn-ea"/>
              </a:rPr>
              <a:t>个月</a:t>
            </a:r>
            <a:r>
              <a:rPr lang="zh-CN" altLang="en-US" b="0">
                <a:solidFill>
                  <a:schemeClr val="tx1"/>
                </a:solidFill>
                <a:cs typeface="+mn-ea"/>
                <a:sym typeface="+mn-ea"/>
              </a:rPr>
              <a:t>，君康经纪收入与利润严重背离，收入达成率极低而亏损远超预算</a:t>
            </a:r>
            <a:r>
              <a:rPr b="0">
                <a:solidFill>
                  <a:schemeClr val="tx1"/>
                </a:solidFill>
                <a:cs typeface="+mn-ea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营业收入：累计 42.90 万元，年度达成率 6.61%，落后序时进度 26.7 个百分点，环比上升，波动大。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扣非利润：实际累计亏损 107.61 万元，较年度目标（亏损 19.04 万元）超支 88.57 万元，环比增亏，波动大。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经营活动净现金流：累计 -102.91 万元，年度达成率 0%，落后序时进度 33.3 个百分点，环比减亏，波动大。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  <a:p>
            <a:pPr marL="285750" lvl="0" indent="-285750" algn="just">
              <a:lnSpc>
                <a:spcPct val="165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b="0" dirty="0">
                <a:solidFill>
                  <a:schemeClr val="tx1"/>
                </a:solidFill>
                <a:cs typeface="+mn-ea"/>
                <a:sym typeface="+mn-ea"/>
              </a:rPr>
              <a:t>经营支出：累计 148.90 万元，年度达成率 25.19%，环比扩大，波动平稳，成本管控有效。</a:t>
            </a:r>
            <a:endParaRPr lang="zh-CN" altLang="en-US" b="0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graphicFrame>
        <p:nvGraphicFramePr>
          <p:cNvPr id="137839" name="图表 1"/>
          <p:cNvGraphicFramePr/>
          <p:nvPr/>
        </p:nvGraphicFramePr>
        <p:xfrm>
          <a:off x="698316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7840" name="图表 4"/>
          <p:cNvGraphicFramePr/>
          <p:nvPr/>
        </p:nvGraphicFramePr>
        <p:xfrm>
          <a:off x="436099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7841" name="图表 2" descr="7b0a202020202263686172745265734964223a202234363435353532220a7d0a"/>
          <p:cNvGraphicFramePr/>
          <p:nvPr/>
        </p:nvGraphicFramePr>
        <p:xfrm>
          <a:off x="8023675" y="3600450"/>
          <a:ext cx="3448234" cy="2733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框 1"/>
          <p:cNvSpPr txBox="1"/>
          <p:nvPr/>
        </p:nvSpPr>
        <p:spPr>
          <a:xfrm>
            <a:off x="3411855" y="1365250"/>
            <a:ext cx="2117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zh-CN" sz="2800" dirty="0">
                <a:uFillTx/>
                <a:latin typeface="+mn-ea"/>
                <a:cs typeface="Arial" panose="020B0604020202020204" pitchFamily="34" charset="0"/>
                <a:sym typeface="+mn-ea"/>
              </a:rPr>
              <a:t>PART 04</a:t>
            </a:r>
            <a:endParaRPr kumimoji="1" lang="en-US" altLang="zh-CN" sz="2800" dirty="0">
              <a:uFillTx/>
              <a:latin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609" name="文本占位符 2"/>
          <p:cNvSpPr txBox="1"/>
          <p:nvPr/>
        </p:nvSpPr>
        <p:spPr>
          <a:xfrm>
            <a:off x="3411855" y="1969135"/>
            <a:ext cx="8512810" cy="1132205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/>
          <a:p>
            <a:pPr marL="342900" lvl="0" indent="-342900" algn="l">
              <a:spcBef>
                <a:spcPct val="20000"/>
              </a:spcBef>
              <a:buClrTx/>
              <a:buSzTx/>
              <a:buFontTx/>
            </a:pPr>
            <a:r>
              <a:rPr lang="zh-CN" altLang="en-US" sz="40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  <a:sym typeface="+mn-ea"/>
              </a:rPr>
              <a:t>子公司管理工作</a:t>
            </a:r>
            <a:endParaRPr lang="zh-CN" altLang="en-US" sz="4000" b="1" dirty="0">
              <a:solidFill>
                <a:schemeClr val="accent1"/>
              </a:solidFill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付款审核及招标控制价审核</a:t>
            </a:r>
            <a:endParaRPr b="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698500" y="1190625"/>
            <a:ext cx="10773410" cy="161925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tx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rmAutofit lnSpcReduction="10000"/>
          </a:bodyPr>
          <a:lstStyle/>
          <a:p>
            <a:pPr marL="0" lvl="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2026年4月份付款审核及招标控制价审核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工程付款审核总金额91.9万元，共涉及中言、伯豪、福建钱隆、重庆瑞尔、春夏秋冬、联谊，六家子公司，合计审减金额1.9万元，审减率为2.07%。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本月未发生招标控制价审核。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1685290" y="3051175"/>
          <a:ext cx="8822055" cy="3509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合同及</a:t>
            </a:r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公文审核工作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698500" y="1190625"/>
            <a:ext cx="10773410" cy="188341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9525">
            <a:solidFill>
              <a:schemeClr val="tx2">
                <a:alpha val="38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lIns="107950" tIns="71755" rIns="107950" bIns="71755" rtlCol="0">
            <a:noAutofit/>
          </a:bodyPr>
          <a:lstStyle/>
          <a:p>
            <a:pPr marL="0" lvl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累计报送538条，月均135条，首审通过率78.44%，持续改进中。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风险管控：精准识别并拦截风险114项，其中报送规范性风险70件；合同实质风险32件，纠正金额错误3.2万元；程序合规风险12件，成功纠正5笔超10万重大采购；驳回程序不合规申请6项，有效防范合规风险。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57150" lvl="0" indent="-28575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</a:pPr>
            <a:r>
              <a:rPr lang="zh-CN" altLang="en-US" sz="15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管理提升：制定《租赁合同》统一模板，实现一般性条款标准化、商务条款集中列示、个性化修改路径规范化，审核效率明显提升。本月已完成培训宣贯并正式施行，管理机制持续完善。</a:t>
            </a:r>
            <a:endParaRPr lang="zh-CN" altLang="en-US" sz="150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4"/>
            </p:custDataLst>
          </p:nvPr>
        </p:nvSpPr>
        <p:spPr>
          <a:xfrm>
            <a:off x="442560" y="6180455"/>
            <a:ext cx="1129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  <a:cs typeface="+mn-ea"/>
              </a:rPr>
              <a:t>备注：</a:t>
            </a:r>
            <a:r>
              <a:rPr lang="zh-CN" altLang="en-US" sz="1000" dirty="0">
                <a:solidFill>
                  <a:schemeClr val="accent6">
                    <a:lumMod val="75000"/>
                  </a:schemeClr>
                </a:solidFill>
                <a:latin typeface="Calibri" panose="020F0502020204030204" charset="0"/>
                <a:ea typeface="+mn-ea"/>
                <a:cs typeface="+mn-ea"/>
              </a:rPr>
              <a:t>返工率指在提报审核流程中，因内容、条款或格式不符合要求而被退回修改的数量占总提交量的比例。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alibri" panose="020F0502020204030204" charset="0"/>
              <a:ea typeface="+mn-ea"/>
              <a:cs typeface="+mn-ea"/>
            </a:endParaRPr>
          </a:p>
          <a:p>
            <a:pPr algn="r"/>
            <a:r>
              <a:rPr lang="zh-CN" altLang="en-US" sz="1000" dirty="0">
                <a:solidFill>
                  <a:schemeClr val="accent6">
                    <a:lumMod val="75000"/>
                  </a:schemeClr>
                </a:solidFill>
                <a:latin typeface="Calibri" panose="020F0502020204030204" charset="0"/>
                <a:ea typeface="+mn-ea"/>
                <a:cs typeface="+mn-ea"/>
              </a:rPr>
              <a:t>首审通过率指提报事项首次提交至母公司审核环节，无需重大修改即获批准的数量占总提交量的比例。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alibri" panose="020F0502020204030204" charset="0"/>
              <a:ea typeface="+mn-ea"/>
              <a:cs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4324680" y="3288030"/>
          <a:ext cx="3492000" cy="2845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98500" y="3288030"/>
          <a:ext cx="3492000" cy="2845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5"/>
            </p:custDataLst>
          </p:nvPr>
        </p:nvGraphicFramePr>
        <p:xfrm>
          <a:off x="7903845" y="3287395"/>
          <a:ext cx="3567430" cy="2846070"/>
        </p:xfrm>
        <a:graphic>
          <a:graphicData uri="http://schemas.openxmlformats.org/drawingml/2006/table">
            <a:tbl>
              <a:tblPr firstRow="1">
                <a:tableStyleId>{22BA94A2-B4D1-4139-AB1E-B5F043BDEF27}</a:tableStyleId>
              </a:tblPr>
              <a:tblGrid>
                <a:gridCol w="860425"/>
                <a:gridCol w="494665"/>
                <a:gridCol w="475615"/>
                <a:gridCol w="1736725"/>
              </a:tblGrid>
              <a:tr h="354965"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000"/>
                        <a:t>风险类别</a:t>
                      </a:r>
                      <a:endParaRPr lang="zh-CN" sz="10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000"/>
                        <a:t>件数</a:t>
                      </a:r>
                      <a:endParaRPr lang="zh-CN" sz="10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000"/>
                        <a:t>占比</a:t>
                      </a:r>
                      <a:endParaRPr lang="zh-CN" sz="10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000"/>
                        <a:t>风险本质</a:t>
                      </a:r>
                      <a:endParaRPr lang="zh-CN" sz="1000"/>
                    </a:p>
                  </a:txBody>
                  <a:tcPr marL="6350" marR="6350" marT="0" marB="0" anchor="ctr" anchorCtr="0"/>
                </a:tc>
              </a:tr>
              <a:tr h="914400"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报送规范性风险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70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61.4%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材料不全、说明不清，导致审核人员无法判断公文合理性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</a:tr>
              <a:tr h="868045"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合同实质风险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32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28.1%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合同格式</a:t>
                      </a:r>
                      <a:r>
                        <a:rPr lang="en-US" altLang="zh-CN" sz="1200"/>
                        <a:t>/</a:t>
                      </a:r>
                      <a:r>
                        <a:rPr lang="zh-CN" sz="1200"/>
                        <a:t>条款问题、无律师意见、合同金额问题</a:t>
                      </a:r>
                      <a:r>
                        <a:rPr lang="zh-CN" sz="1200"/>
                        <a:t>，可能导致公司权益受损或法律责任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</a:tr>
              <a:tr h="708660"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程序合规风险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12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10.5%</a:t>
                      </a:r>
                      <a:endParaRPr lang="en-US" altLang="zh-CN" sz="1200"/>
                    </a:p>
                  </a:txBody>
                  <a:tcPr marL="6350" marR="6350" marT="0" marB="0" anchor="ctr" anchorCtr="0"/>
                </a:tc>
                <a:tc>
                  <a:txBody>
                    <a:bodyPr/>
                    <a:p>
                      <a:pPr marL="62230" indent="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招标程序问题、未申报关联交易。</a:t>
                      </a:r>
                      <a:r>
                        <a:rPr lang="zh-CN" sz="1200"/>
                        <a:t>绕过必要的治理程序，存在合规底线风险</a:t>
                      </a:r>
                      <a:endParaRPr lang="zh-CN" sz="1200"/>
                    </a:p>
                  </a:txBody>
                  <a:tcPr marL="6350" marR="6350" marT="0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文本框 1"/>
          <p:cNvSpPr txBox="1"/>
          <p:nvPr/>
        </p:nvSpPr>
        <p:spPr>
          <a:xfrm>
            <a:off x="3411855" y="1365250"/>
            <a:ext cx="2117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kumimoji="1" lang="en-US" altLang="zh-CN" sz="2800" dirty="0">
                <a:uFillTx/>
                <a:latin typeface="+mn-ea"/>
                <a:cs typeface="Arial" panose="020B0604020202020204" pitchFamily="34" charset="0"/>
                <a:sym typeface="+mn-ea"/>
              </a:rPr>
              <a:t>PART 05</a:t>
            </a:r>
            <a:endParaRPr kumimoji="1" lang="en-US" altLang="zh-CN" sz="2800" dirty="0">
              <a:uFillTx/>
              <a:latin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609" name="文本占位符 2"/>
          <p:cNvSpPr txBox="1"/>
          <p:nvPr/>
        </p:nvSpPr>
        <p:spPr>
          <a:xfrm>
            <a:off x="3411855" y="1969135"/>
            <a:ext cx="8512810" cy="1132205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Autofit/>
          </a:bodyPr>
          <a:lstStyle/>
          <a:p>
            <a:pPr marL="342900" lvl="0" indent="-342900" algn="l">
              <a:spcBef>
                <a:spcPct val="20000"/>
              </a:spcBef>
              <a:buClrTx/>
              <a:buSzTx/>
              <a:buFontTx/>
            </a:pPr>
            <a:r>
              <a:rPr lang="zh-CN" altLang="en-US" sz="40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  <a:sym typeface="+mn-ea"/>
              </a:rPr>
              <a:t>管理建议与风险提示</a:t>
            </a:r>
            <a:endParaRPr lang="zh-CN" altLang="en-US" sz="4000" b="1" dirty="0">
              <a:solidFill>
                <a:schemeClr val="accent1"/>
              </a:solidFill>
              <a:latin typeface="+mj-lt"/>
              <a:ea typeface="+mj-lt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/>
            <a:r>
              <a:rPr b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管理建议与风险提示</a:t>
            </a:r>
            <a:endParaRPr b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圆角矩形 3"/>
          <p:cNvSpPr/>
          <p:nvPr>
            <p:custDataLst>
              <p:tags r:id="rId1"/>
            </p:custDataLst>
          </p:nvPr>
        </p:nvSpPr>
        <p:spPr>
          <a:xfrm>
            <a:off x="825500" y="1832610"/>
            <a:ext cx="3326765" cy="4353560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2"/>
            </p:custDataLst>
          </p:nvPr>
        </p:nvSpPr>
        <p:spPr>
          <a:xfrm>
            <a:off x="695960" y="1634490"/>
            <a:ext cx="3354070" cy="4456430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indent="0" algn="l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Medium" panose="020B0600000000000000" charset="-122"/>
                <a:ea typeface="思源黑体 Medium" panose="020B0600000000000000" charset="-122"/>
                <a:sym typeface="Arial" panose="020B0604020202020204" pitchFamily="34" charset="0"/>
              </a:rPr>
              <a:t>安全生产</a:t>
            </a:r>
            <a:endParaRPr lang="zh-CN" altLang="en-US" sz="2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Medium" panose="020B0600000000000000" charset="-122"/>
              <a:ea typeface="思源黑体 Medium" panose="020B0600000000000000" charset="-122"/>
              <a:sym typeface="Arial" panose="020B0604020202020204" pitchFamily="34" charset="0"/>
            </a:endParaRPr>
          </a:p>
          <a:p>
            <a:pPr marL="285750" lvl="0" indent="-285750" algn="just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  <a:cs typeface="+mn-ea"/>
                <a:sym typeface="+mn-ea"/>
              </a:rPr>
              <a:t>联谊在建项目的现场办公屋面存在漏水现象，雨天滴水会对办公室电路产生影响，需要尽快修补屋面防水，已现场进行督导。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思源黑体 Medium" panose="020B0600000000000000" charset="-122"/>
              <a:ea typeface="思源黑体 Medium" panose="020B0600000000000000" charset="-122"/>
              <a:cs typeface="+mn-ea"/>
              <a:sym typeface="+mn-ea"/>
            </a:endParaRPr>
          </a:p>
          <a:p>
            <a:pPr marL="285750" lvl="0" indent="-285750" algn="just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  <a:cs typeface="+mn-ea"/>
                <a:sym typeface="+mn-ea"/>
              </a:rPr>
              <a:t>中言在大厦内存在多处零星装修施工，如21层、25层局部改造，需严格按照施工人员进场流程进行管控。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思源黑体 Medium" panose="020B0600000000000000" charset="-122"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4" name="圆角矩形 16"/>
          <p:cNvSpPr/>
          <p:nvPr>
            <p:custDataLst>
              <p:tags r:id="rId3"/>
            </p:custDataLst>
          </p:nvPr>
        </p:nvSpPr>
        <p:spPr>
          <a:xfrm>
            <a:off x="909955" y="5410835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0" name="圆角矩形 16"/>
          <p:cNvSpPr/>
          <p:nvPr>
            <p:custDataLst>
              <p:tags r:id="rId4"/>
            </p:custDataLst>
          </p:nvPr>
        </p:nvSpPr>
        <p:spPr>
          <a:xfrm>
            <a:off x="4572635" y="5410835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圆角矩形 3"/>
          <p:cNvSpPr/>
          <p:nvPr>
            <p:custDataLst>
              <p:tags r:id="rId5"/>
            </p:custDataLst>
          </p:nvPr>
        </p:nvSpPr>
        <p:spPr>
          <a:xfrm>
            <a:off x="8168005" y="1832610"/>
            <a:ext cx="3326765" cy="4353560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圆角矩形 3"/>
          <p:cNvSpPr/>
          <p:nvPr>
            <p:custDataLst>
              <p:tags r:id="rId6"/>
            </p:custDataLst>
          </p:nvPr>
        </p:nvSpPr>
        <p:spPr>
          <a:xfrm>
            <a:off x="8038465" y="1634490"/>
            <a:ext cx="3354070" cy="4456430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indent="0" algn="l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Medium" panose="020B0600000000000000" charset="-122"/>
                <a:ea typeface="思源黑体 Medium" panose="020B0600000000000000" charset="-122"/>
                <a:sym typeface="Arial" panose="020B0604020202020204" pitchFamily="34" charset="0"/>
              </a:rPr>
              <a:t>过程管理</a:t>
            </a:r>
            <a:endParaRPr lang="zh-CN" altLang="en-US" sz="2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Medium" panose="020B0600000000000000" charset="-122"/>
              <a:ea typeface="思源黑体 Medium" panose="020B0600000000000000" charset="-122"/>
              <a:sym typeface="Arial" panose="020B0604020202020204" pitchFamily="34" charset="0"/>
            </a:endParaRPr>
          </a:p>
          <a:p>
            <a:pPr marL="285750" lvl="0" indent="-285750" algn="just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工程施工过程中，对施工人员进场、材料进场、施工机具管控不全面，在付款及结算阶段提供资料不详细，特别在施工前后的差异比对工作有所不足，资料归档不够系统，不够严谨。付款资料、结算资料整理不及时，个别项目付款进度严重滞后。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54" name="圆角矩形 16"/>
          <p:cNvSpPr/>
          <p:nvPr>
            <p:custDataLst>
              <p:tags r:id="rId7"/>
            </p:custDataLst>
          </p:nvPr>
        </p:nvSpPr>
        <p:spPr>
          <a:xfrm>
            <a:off x="8252460" y="5410835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3"/>
          <p:cNvSpPr/>
          <p:nvPr>
            <p:custDataLst>
              <p:tags r:id="rId8"/>
            </p:custDataLst>
          </p:nvPr>
        </p:nvSpPr>
        <p:spPr>
          <a:xfrm>
            <a:off x="4488180" y="1832610"/>
            <a:ext cx="3326765" cy="4353560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9" name="圆角矩形 3"/>
          <p:cNvSpPr/>
          <p:nvPr>
            <p:custDataLst>
              <p:tags r:id="rId9"/>
            </p:custDataLst>
          </p:nvPr>
        </p:nvSpPr>
        <p:spPr>
          <a:xfrm>
            <a:off x="4358640" y="1634490"/>
            <a:ext cx="3354070" cy="4456430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indent="0" algn="l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/>
                </a:solidFill>
                <a:effectLst/>
                <a:latin typeface="思源黑体 Medium" panose="020B0600000000000000" charset="-122"/>
                <a:ea typeface="思源黑体 Medium" panose="020B0600000000000000" charset="-122"/>
                <a:sym typeface="Arial" panose="020B0604020202020204" pitchFamily="34" charset="0"/>
              </a:rPr>
              <a:t>工程成本</a:t>
            </a:r>
            <a:endParaRPr lang="zh-CN" altLang="en-US" sz="2000" dirty="0"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Medium" panose="020B0600000000000000" charset="-122"/>
              <a:ea typeface="思源黑体 Medium" panose="020B0600000000000000" charset="-122"/>
              <a:sym typeface="Arial" panose="020B0604020202020204" pitchFamily="34" charset="0"/>
            </a:endParaRPr>
          </a:p>
          <a:p>
            <a:pPr marL="285750" lvl="0" indent="-285750" algn="just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  <a:cs typeface="+mn-ea"/>
                <a:sym typeface="+mn-ea"/>
              </a:rPr>
              <a:t>工程立项阶段，个别经办人成本控制意识淡薄，无严格的管控措施，工程量计算误差过大，对于简单项目的工程量统计十分不严谨，且屡教不改，已对相关人员进行督导。</a:t>
            </a:r>
            <a:endParaRPr lang="zh-CN" altLang="en-US" sz="1500" dirty="0">
              <a:solidFill>
                <a:schemeClr val="tx1">
                  <a:lumMod val="85000"/>
                  <a:lumOff val="15000"/>
                </a:schemeClr>
              </a:solidFill>
              <a:latin typeface="思源黑体 Medium" panose="020B0600000000000000" charset="-122"/>
              <a:ea typeface="思源黑体 Medium" panose="020B0600000000000000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635" y="0"/>
            <a:ext cx="9627235" cy="6858000"/>
          </a:xfrm>
          <a:prstGeom prst="rect">
            <a:avLst/>
          </a:prstGeom>
          <a:solidFill>
            <a:srgbClr val="D0101B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0" name="图片 9" descr="富泽人寿标志（70x262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28955"/>
            <a:ext cx="1728000" cy="60993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27075" y="6021288"/>
            <a:ext cx="126746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200" dirty="0" err="1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www.fzlife.com</a:t>
            </a:r>
            <a:endParaRPr kumimoji="1" lang="en-GB" altLang="zh-CN" sz="1200" dirty="0" err="1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4" name="图片 3" descr="美好生活 有我富泽 上下(白色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115" y="1660525"/>
            <a:ext cx="6795770" cy="2879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4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1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1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8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5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15"/>
  <p:tag name="KSO_WM_UNIT_TEXT_FILL_TYPE" val="1"/>
</p:tagLst>
</file>

<file path=ppt/tags/tag37.xml><?xml version="1.0" encoding="utf-8"?>
<p:tagLst xmlns:p="http://schemas.openxmlformats.org/presentationml/2006/main">
  <p:tag name="WPP_GENERATETEXT" val="1"/>
</p:tagLst>
</file>

<file path=ppt/tags/tag38.xml><?xml version="1.0" encoding="utf-8"?>
<p:tagLst xmlns:p="http://schemas.openxmlformats.org/presentationml/2006/main">
  <p:tag name="KSO_WM_DIAGRAM_VIRTUALLY_FRAME" val="{&quot;height&quot;:546.2858267716535,&quot;left&quot;:-64.27496337890625,&quot;top&quot;:-23.851259842519674,&quot;width&quot;:516.0230614080954}"/>
</p:tagLst>
</file>

<file path=ppt/tags/tag39.xml><?xml version="1.0" encoding="utf-8"?>
<p:tagLst xmlns:p="http://schemas.openxmlformats.org/presentationml/2006/main">
  <p:tag name="KSO_WM_DIAGRAM_VIRTUALLY_FRAME" val="{&quot;height&quot;:546.2858267716535,&quot;left&quot;:-64.27496337890625,&quot;top&quot;:-23.851259842519674,&quot;width&quot;:516.0230614080954}"/>
</p:tagLst>
</file>

<file path=ppt/tags/tag40.xml><?xml version="1.0" encoding="utf-8"?>
<p:tagLst xmlns:p="http://schemas.openxmlformats.org/presentationml/2006/main">
  <p:tag name="KSO_WM_DIAGRAM_VIRTUALLY_FRAME" val="{&quot;height&quot;:546.2858267716535,&quot;left&quot;:-64.27496337890625,&quot;top&quot;:-23.851259842519674,&quot;width&quot;:516.0230614080954}"/>
</p:tagLst>
</file>

<file path=ppt/tags/tag41.xml><?xml version="1.0" encoding="utf-8"?>
<p:tagLst xmlns:p="http://schemas.openxmlformats.org/presentationml/2006/main">
  <p:tag name="TABLE_ENDDRAG_ORIGIN_RECT" val="857*223"/>
  <p:tag name="TABLE_ENDDRAG_RECT" val="49*66*857*223"/>
</p:tagLst>
</file>

<file path=ppt/tags/tag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2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LINE_FORE_SCHEMECOLOR_INDEX_BRIGHTNESS" val="0"/>
  <p:tag name="KSO_WM_UNIT_LINE_FORE_SCHEMECOLOR_INDEX" val="2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2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46.xml><?xml version="1.0" encoding="utf-8"?>
<p:tagLst xmlns:p="http://schemas.openxmlformats.org/presentationml/2006/main">
  <p:tag name="WPP_GENERATETEXT" val="1"/>
  <p:tag name="KSO_WM_UNIT_FILL_FORE_SCHEMECOLOR_INDEX_BRIGHTNESS" val="0"/>
  <p:tag name="KSO_WM_UNIT_FILL_FORE_SCHEMECOLOR_INDEX" val="14"/>
  <p:tag name="KSO_WM_UNIT_FILL_TYPE" val="1"/>
</p:tagLst>
</file>

<file path=ppt/tags/tag4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  <p:tag name="WPP_GENERATETEXT" val="1"/>
</p:tagLst>
</file>

<file path=ppt/tags/tag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4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9.xml><?xml version="1.0" encoding="utf-8"?>
<p:tagLst xmlns:p="http://schemas.openxmlformats.org/presentationml/2006/main">
  <p:tag name="KSO_WM_UNIT_TEXT_FILL_FORE_SCHEMECOLOR_INDEX_BRIGHTNESS" val="-0.25"/>
  <p:tag name="KSO_WM_UNIT_TEXT_FILL_FORE_SCHEMECOLOR_INDEX" val="10"/>
  <p:tag name="KSO_WM_UNIT_TEXT_FILL_TYPE" val="1"/>
</p:tagLst>
</file>

<file path=ppt/tags/tag60.xml><?xml version="1.0" encoding="utf-8"?>
<p:tagLst xmlns:p="http://schemas.openxmlformats.org/presentationml/2006/main">
  <p:tag name="TABLE_ENDDRAG_ORIGIN_RECT" val="280*224"/>
  <p:tag name="TABLE_ENDDRAG_RECT" val="622*258*280*224"/>
</p:tagLst>
</file>

<file path=ppt/tags/tag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2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  <p:tag name="WPP_GENERATETEXT" val="1"/>
</p:tagLst>
</file>

<file path=ppt/tags/tag63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4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6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307_2*l_h_i*1_3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width&quot;:854.45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69.xml><?xml version="1.0" encoding="utf-8"?>
<p:tagLst xmlns:p="http://schemas.openxmlformats.org/presentationml/2006/main">
  <p:tag name="KSO_WM_DIAGRAM_VIRTUALLY_FRAME" val="{&quot;height&quot;:343.45001220703125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.xml><?xml version="1.0" encoding="utf-8"?>
<p:tagLst xmlns:p="http://schemas.openxmlformats.org/presentationml/2006/main">
  <p:tag name="COMMONDATA" val="eyJoZGlkIjoiMTY3ZGJmZjBiZTQ3NjBjZDlkYzIyMTFiY2U0ODJjYWEifQ=="/>
  <p:tag name="RESOURCE_RECORD_KEY" val="{&quot;10&quot;:[4520451,20280983,3476680],&quot;29&quot;:[50000047]}"/>
  <p:tag name="resource_record_key" val="{&quot;10&quot;:[4520451,20280983,3476680],&quot;29&quot;:[50000047,50053044]}"/>
</p:tagLst>
</file>

<file path=ppt/theme/theme1.xml><?xml version="1.0" encoding="utf-8"?>
<a:theme xmlns:a="http://schemas.openxmlformats.org/drawingml/2006/main" name="Office 主题​​">
  <a:themeElements>
    <a:clrScheme name="富泽">
      <a:dk1>
        <a:srgbClr val="3E3E3E"/>
      </a:dk1>
      <a:lt1>
        <a:srgbClr val="FEFDFB"/>
      </a:lt1>
      <a:dk2>
        <a:srgbClr val="7A7A7A"/>
      </a:dk2>
      <a:lt2>
        <a:srgbClr val="F0ECE8"/>
      </a:lt2>
      <a:accent1>
        <a:srgbClr val="D2161A"/>
      </a:accent1>
      <a:accent2>
        <a:srgbClr val="F5B28C"/>
      </a:accent2>
      <a:accent3>
        <a:srgbClr val="7FA3C4"/>
      </a:accent3>
      <a:accent4>
        <a:srgbClr val="B3D4C6"/>
      </a:accent4>
      <a:accent5>
        <a:srgbClr val="FDDEC2"/>
      </a:accent5>
      <a:accent6>
        <a:srgbClr val="C2ADC8"/>
      </a:accent6>
      <a:hlink>
        <a:srgbClr val="B7B8A3"/>
      </a:hlink>
      <a:folHlink>
        <a:srgbClr val="F0E6D5"/>
      </a:folHlink>
    </a:clrScheme>
    <a:fontScheme name="思源黑体">
      <a:majorFont>
        <a:latin typeface="思源黑体 Heavy"/>
        <a:ea typeface="思源黑体 Heavy"/>
        <a:cs typeface=""/>
      </a:majorFont>
      <a:minorFont>
        <a:latin typeface="思源黑体 Medium"/>
        <a:ea typeface="思源黑体 Medium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noFill/>
        <a:noFill/>
        <a:no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5005</Words>
  <Application>WPS 演示</Application>
  <PresentationFormat>宽屏</PresentationFormat>
  <Paragraphs>266</Paragraphs>
  <Slides>26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 Light</vt:lpstr>
      <vt:lpstr>Wingdings</vt:lpstr>
      <vt:lpstr>Microsoft YaHei UI</vt:lpstr>
      <vt:lpstr>思源黑体 Medium</vt:lpstr>
      <vt:lpstr>Calibri</vt:lpstr>
      <vt:lpstr>思源黑体 Heavy</vt:lpstr>
      <vt:lpstr>Arial Unicode MS</vt:lpstr>
      <vt:lpstr>OPPO Sans 4.0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lxj</cp:lastModifiedBy>
  <cp:revision>941</cp:revision>
  <dcterms:created xsi:type="dcterms:W3CDTF">2025-10-15T15:33:00Z</dcterms:created>
  <dcterms:modified xsi:type="dcterms:W3CDTF">2026-05-21T08:44:29Z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56546C55B36C4FADB922441EE383DA13_13</vt:lpwstr>
  </property>
  <property fmtid="{D5CDD505-2E9C-101B-9397-08002B2CF9AE}" pid="3" name="KSOProductBuildVer">
    <vt:lpwstr>2052-12.1.0.26373</vt:lpwstr>
  </property>
</Properties>
</file>